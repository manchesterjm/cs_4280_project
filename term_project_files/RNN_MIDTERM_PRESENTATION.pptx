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33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Related Work - Three NEW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/>
            </a:pPr>
            <a:r>
              <a:t>Speiser, A., Müller, L. R., Matti, U., Obholzer, N. D., Legant, W. R., Kreshuk, A., ... &amp; Hufnagel, L. (2020). Machine learning for cluster analysis of localization microscopy data. Nature Communications, 11(1), 1493. (H5 index: 399)</a:t>
            </a:r>
          </a:p>
          <a:p>
            <a:pPr>
              <a:defRPr sz="1200"/>
            </a:pPr>
            <a:r>
              <a:t>Vu, M. T., Vo, N. D., Ngo, T. D., Pham, T. D., Huynh, T. T. M., Nguyen, N. T., ... &amp; Ly, H. B. (2024). Harnessing LSTM and XGBoost algorithms for storm prediction. Scientific Reports, 14(1), 11516. (H5 index: 234)</a:t>
            </a:r>
          </a:p>
          <a:p>
            <a:pPr>
              <a:defRPr sz="1200"/>
            </a:pPr>
            <a:r>
              <a:t>Ding, Y., Ji, K., Xiao, M., Zheng, X., Chen, Y., Liang, J., ... &amp; Qi, Y. (2024). Photometric redshift estimation for CSST survey with LSTM neural networks. Monthly Notices of the Royal Astronomical Society, 535(2), 1844-1858. (H5 index: 151)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BiLSTM + Clustering?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/>
            </a:pPr>
            <a:r>
              <a:t>From the Papers:</a:t>
            </a:r>
          </a:p>
          <a:p>
            <a:pPr>
              <a:defRPr sz="2000"/>
            </a:pPr>
            <a:r>
              <a:t>• Clustering improves ML on large datasets (Speiser 2020)</a:t>
            </a:r>
          </a:p>
          <a:p>
            <a:pPr>
              <a:defRPr sz="2000"/>
            </a:pPr>
            <a:r>
              <a:t>• LSTM captures long-term dependencies (Vu 2024)</a:t>
            </a:r>
          </a:p>
          <a:p>
            <a:pPr>
              <a:defRPr sz="2000"/>
            </a:pPr>
            <a:r>
              <a:t>• LSTM reduces outliers in astronomy (Ding 2024)</a:t>
            </a:r>
          </a:p>
          <a:p>
            <a:pPr>
              <a:defRPr sz="2000"/>
            </a:pPr>
            <a:r>
              <a:t>My Approach:</a:t>
            </a:r>
          </a:p>
          <a:p>
            <a:pPr>
              <a:defRPr sz="2000"/>
            </a:pPr>
            <a:r>
              <a:t>BiLSTM + K-means clustering on BLS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/>
            </a:pPr>
            <a:r>
              <a:t>Data: 655 windows (150 planets, 505 non-planets)</a:t>
            </a:r>
          </a:p>
          <a:p>
            <a:pPr>
              <a:defRPr sz="1600"/>
            </a:pPr>
            <a:r>
              <a:t>Features: Period, depth, duration, BLS power</a:t>
            </a:r>
          </a:p>
          <a:p>
            <a:pPr>
              <a:defRPr sz="1600"/>
            </a:pPr>
            <a:r>
              <a:t>Architecture:</a:t>
            </a:r>
          </a:p>
          <a:p>
            <a:pPr>
              <a:defRPr sz="1600"/>
            </a:pPr>
            <a:r>
              <a:t>• K-means (5 clusters)</a:t>
            </a:r>
          </a:p>
          <a:p>
            <a:pPr>
              <a:defRPr sz="1600"/>
            </a:pPr>
            <a:r>
              <a:t>• 4-layer BiLSTM (256 hidden, bidirectional)</a:t>
            </a:r>
          </a:p>
          <a:p>
            <a:pPr>
              <a:defRPr sz="1600"/>
            </a:pPr>
            <a:r>
              <a:t>• Cluster embeddings (32-dim)</a:t>
            </a:r>
          </a:p>
        </p:txBody>
      </p:sp>
      <p:pic>
        <p:nvPicPr>
          <p:cNvPr id="5" name="Picture 4" descr="preprocess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8229600" cy="2281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BiLSTM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/>
            </a:pPr>
            <a:r>
              <a:t>Input (2048) → BiLSTM Layers → Cluster Embedding → FC Layers → Output</a:t>
            </a:r>
          </a:p>
          <a:p>
            <a:pPr>
              <a:defRPr sz="1600"/>
            </a:pPr>
            <a:r>
              <a:t>~2.1M parameters</a:t>
            </a:r>
          </a:p>
        </p:txBody>
      </p:sp>
      <p:pic>
        <p:nvPicPr>
          <p:cNvPr id="5" name="Picture 4" descr="bilst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4856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/>
            </a:pPr>
            <a:r>
              <a:t>AUC: 75.72%</a:t>
            </a:r>
          </a:p>
          <a:p>
            <a:pPr>
              <a:defRPr sz="1600"/>
            </a:pPr>
            <a:r>
              <a:t>Recall: 88.67% | Precision: 38.27%</a:t>
            </a:r>
          </a:p>
          <a:p>
            <a:pPr>
              <a:defRPr sz="1600"/>
            </a:pPr>
            <a:r>
              <a:t>Tested on 100 confirmed exoplanet systems</a:t>
            </a:r>
          </a:p>
        </p:txBody>
      </p:sp>
      <p:pic>
        <p:nvPicPr>
          <p:cNvPr id="5" name="Picture 4" descr="metrics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4114800" cy="2448098"/>
          </a:xfrm>
          <a:prstGeom prst="rect">
            <a:avLst/>
          </a:prstGeom>
        </p:spPr>
      </p:pic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86000"/>
            <a:ext cx="4114800" cy="3266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from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100 Planets Only:</a:t>
            </a:r>
          </a:p>
          <a:p>
            <a:pPr>
              <a:defRPr sz="1600"/>
            </a:pPr>
            <a:r>
              <a:rPr dirty="0"/>
              <a:t>❌ Predicted everything as planet</a:t>
            </a:r>
          </a:p>
          <a:p>
            <a:pPr>
              <a:defRPr sz="1600"/>
            </a:pPr>
            <a:r>
              <a:rPr dirty="0"/>
              <a:t>❌ 100% false positives</a:t>
            </a:r>
          </a:p>
          <a:p>
            <a:pPr>
              <a:defRPr sz="1600"/>
            </a:pPr>
            <a:r>
              <a:rPr dirty="0"/>
              <a:t>Solution: Add Non-Planets</a:t>
            </a:r>
          </a:p>
          <a:p>
            <a:pPr>
              <a:defRPr sz="1600"/>
            </a:pPr>
            <a:r>
              <a:rPr dirty="0"/>
              <a:t>✓ 100 planets + 300 non-planets → AUC: 0.69</a:t>
            </a:r>
          </a:p>
          <a:p>
            <a:pPr>
              <a:defRPr sz="1600"/>
            </a:pPr>
            <a:r>
              <a:rPr dirty="0"/>
              <a:t>✓ Real TESS: Identified TIC 307210830 (prob: 0.5959)</a:t>
            </a:r>
          </a:p>
          <a:p>
            <a:pPr>
              <a:defRPr sz="1600"/>
            </a:pPr>
            <a:r>
              <a:rPr dirty="0"/>
              <a:t>But: Imbalanced Data Problem</a:t>
            </a:r>
          </a:p>
          <a:p>
            <a:pPr>
              <a:defRPr sz="1600"/>
            </a:pPr>
            <a:r>
              <a:rPr dirty="0"/>
              <a:t>❌ 150 planets vs 505 non-planets (23% positive)</a:t>
            </a:r>
          </a:p>
          <a:p>
            <a:pPr>
              <a:defRPr sz="1600"/>
            </a:pPr>
            <a:r>
              <a:rPr dirty="0"/>
              <a:t>❌ High recall (88.67%) but low precision (38.27%)</a:t>
            </a:r>
          </a:p>
          <a:p>
            <a:pPr>
              <a:defRPr sz="1600"/>
            </a:pPr>
            <a:r>
              <a:rPr dirty="0"/>
              <a:t>❌ Too many false positives → Model biased toward negatives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Optuna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600"/>
            </a:pPr>
            <a:r>
              <a:t>Parameter changes:</a:t>
            </a:r>
          </a:p>
          <a:p>
            <a:pPr>
              <a:defRPr sz="1600"/>
            </a:pPr>
            <a:r>
              <a:t>• Layers: 3 → 4</a:t>
            </a:r>
          </a:p>
          <a:p>
            <a:pPr>
              <a:defRPr sz="1600"/>
            </a:pPr>
            <a:r>
              <a:t>• Batch size: 64 → 128</a:t>
            </a:r>
          </a:p>
          <a:p>
            <a:pPr>
              <a:defRPr sz="1600"/>
            </a:pPr>
            <a:r>
              <a:t>• Learning rate: 1e-4 → 2.25e-4</a:t>
            </a:r>
          </a:p>
          <a:p>
            <a:pPr>
              <a:defRPr sz="1600"/>
            </a:pPr>
            <a:r>
              <a:t>Result: AUC 0.69 → 0.76 (+9%)</a:t>
            </a:r>
          </a:p>
        </p:txBody>
      </p:sp>
      <p:pic>
        <p:nvPicPr>
          <p:cNvPr id="5" name="Picture 4" descr="model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442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/>
            </a:pPr>
            <a:r>
              <a:t>Model identifying TIC 307210830</a:t>
            </a:r>
          </a:p>
          <a:p>
            <a:pPr>
              <a:defRPr sz="2000"/>
            </a:pPr>
            <a:r>
              <a:t>(L 98-59 multi-planet system)</a:t>
            </a:r>
          </a:p>
          <a:p>
            <a:pPr>
              <a:defRPr sz="2000"/>
            </a:pPr>
            <a:r>
              <a:t>[Demo video shown during presentation]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What's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Balanced Data Attempt Failed</a:t>
            </a:r>
          </a:p>
          <a:p>
            <a:pPr>
              <a:defRPr sz="1600"/>
            </a:pPr>
            <a:r>
              <a:rPr dirty="0"/>
              <a:t>• Tried 50/50 balanced synthetic data (200 planets + 200 non-planets)</a:t>
            </a:r>
          </a:p>
          <a:p>
            <a:pPr>
              <a:defRPr sz="1600"/>
            </a:pPr>
            <a:r>
              <a:rPr dirty="0"/>
              <a:t>• AUC dropped to 0.45 on real TESS data (domain shift)</a:t>
            </a:r>
          </a:p>
          <a:p>
            <a:pPr>
              <a:defRPr sz="1600"/>
            </a:pPr>
            <a:r>
              <a:rPr dirty="0"/>
              <a:t>Solution: Hybrid Training</a:t>
            </a:r>
          </a:p>
          <a:p>
            <a:pPr>
              <a:defRPr sz="1600"/>
            </a:pPr>
            <a:r>
              <a:rPr dirty="0"/>
              <a:t>• Mix real TESS + synthetic (90/10 ratio)</a:t>
            </a:r>
          </a:p>
          <a:p>
            <a:pPr>
              <a:defRPr sz="1600"/>
            </a:pPr>
            <a:r>
              <a:rPr dirty="0"/>
              <a:t>• Better balance than 23% but maintains domain fidelity</a:t>
            </a:r>
          </a:p>
          <a:p>
            <a:pPr>
              <a:defRPr sz="1600"/>
            </a:pPr>
            <a:r>
              <a:rPr dirty="0"/>
              <a:t>Cross-Mission Testing</a:t>
            </a:r>
          </a:p>
          <a:p>
            <a:pPr>
              <a:defRPr sz="1600"/>
            </a:pPr>
            <a:r>
              <a:rPr dirty="0"/>
              <a:t>Train on TESS → Test on Kepler to verify generalization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537</Words>
  <Application>Microsoft Office PowerPoint</Application>
  <PresentationFormat>On-screen Show (4:3)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 Manchester</cp:lastModifiedBy>
  <cp:revision>2</cp:revision>
  <dcterms:created xsi:type="dcterms:W3CDTF">2013-01-27T09:14:16Z</dcterms:created>
  <dcterms:modified xsi:type="dcterms:W3CDTF">2025-11-13T01:18:33Z</dcterms:modified>
  <cp:category/>
</cp:coreProperties>
</file>