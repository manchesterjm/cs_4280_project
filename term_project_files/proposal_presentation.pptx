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92" r:id="rId5"/>
    <p:sldId id="283" r:id="rId6"/>
    <p:sldId id="302" r:id="rId7"/>
    <p:sldId id="284" r:id="rId8"/>
    <p:sldId id="286" r:id="rId9"/>
    <p:sldId id="301" r:id="rId10"/>
    <p:sldId id="281" r:id="rId11"/>
    <p:sldId id="271" r:id="rId12"/>
    <p:sldId id="270" r:id="rId13"/>
    <p:sldId id="287" r:id="rId14"/>
    <p:sldId id="289" r:id="rId15"/>
    <p:sldId id="294" r:id="rId16"/>
    <p:sldId id="295" r:id="rId17"/>
    <p:sldId id="293" r:id="rId18"/>
    <p:sldId id="288" r:id="rId19"/>
    <p:sldId id="290" r:id="rId20"/>
    <p:sldId id="298" r:id="rId21"/>
    <p:sldId id="296" r:id="rId22"/>
    <p:sldId id="299" r:id="rId23"/>
    <p:sldId id="297" r:id="rId24"/>
    <p:sldId id="300" r:id="rId25"/>
    <p:sldId id="291" r:id="rId26"/>
    <p:sldId id="274" r:id="rId27"/>
    <p:sldId id="269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879"/>
    <a:srgbClr val="D3B979"/>
    <a:srgbClr val="D2C121"/>
    <a:srgbClr val="D2BF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9AE30-7CCB-E15A-51B4-97478411BB15}" v="63" dt="2025-09-29T18:30:29.547"/>
    <p1510:client id="{402332BA-4777-316A-40F7-9B5220EF56D5}" v="1226" dt="2025-09-29T00:49:35.522"/>
    <p1510:client id="{55475761-A7DC-DBE2-E18F-6408AF2EF36B}" v="77" dt="2025-09-30T17:22:29.863"/>
    <p1510:client id="{B59AC27D-918C-BC26-2771-35592CC113C2}" v="2217" dt="2025-09-29T01:01:36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79A019-ECE6-4D32-8BE0-26AF325884E8}" type="datetimeFigureOut"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C874F-9D19-4842-BA97-DF3D70FEB20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94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8C874F-9D19-4842-BA97-DF3D70FEB200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77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"Attention is all you need" Nature ranks it as 7th most-cited paper in 21st century, presents the Transformer architecture, brings parallelization to ML, allows faster training with GPUs</a:t>
            </a:r>
            <a:br>
              <a:rPr lang="en-US">
                <a:ea typeface="Calibri"/>
                <a:cs typeface="+mn-lt"/>
              </a:rPr>
            </a:br>
            <a:r>
              <a:rPr lang="en-US">
                <a:ea typeface="Calibri"/>
                <a:cs typeface="Calibri"/>
              </a:rPr>
              <a:t>GPT – Generative Pre-trained Transformer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8C874F-9D19-4842-BA97-DF3D70FEB200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65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CCS Signature - Revers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2438400"/>
            <a:ext cx="7391400" cy="1023257"/>
          </a:xfrm>
          <a:prstGeom prst="rect">
            <a:avLst/>
          </a:prstGeom>
        </p:spPr>
      </p:pic>
      <p:pic>
        <p:nvPicPr>
          <p:cNvPr id="5" name="Picture 4" descr="UCwCampusesRev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91000"/>
            <a:ext cx="5029200" cy="96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7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9ADDE-98E8-4149-84E6-9A28F99CE161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CCS Signature - Reverse.pn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51379"/>
            <a:ext cx="2581774" cy="354221"/>
          </a:xfrm>
          <a:prstGeom prst="rect">
            <a:avLst/>
          </a:prstGeom>
        </p:spPr>
      </p:pic>
      <p:pic>
        <p:nvPicPr>
          <p:cNvPr id="12" name="Picture 11" descr="UCwCampusesRev.png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6283472"/>
            <a:ext cx="2209801" cy="4221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 Black"/>
          <a:ea typeface="+mn-ea"/>
          <a:cs typeface="Arial Black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E6DB-69E8-9236-8075-ECC3FFB57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19" y="1409115"/>
            <a:ext cx="9148438" cy="247985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>
                <a:ea typeface="+mj-lt"/>
                <a:cs typeface="+mj-lt"/>
              </a:rPr>
              <a:t>Machine Learning for Exoplanet Detection: Identifying Exoplanets in Light Curves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21B1C-EF29-5C6E-7DCB-F55AAE6E03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alibri"/>
                <a:ea typeface="Calibri"/>
              </a:rPr>
              <a:t>Tristan Moffett</a:t>
            </a:r>
          </a:p>
          <a:p>
            <a:r>
              <a:rPr lang="en-US">
                <a:latin typeface="Calibri"/>
                <a:ea typeface="Calibri"/>
              </a:rPr>
              <a:t>Josh Manchester</a:t>
            </a:r>
          </a:p>
          <a:p>
            <a:r>
              <a:rPr lang="en-US">
                <a:latin typeface="Calibri"/>
                <a:ea typeface="Calibri"/>
              </a:rPr>
              <a:t>Brianne Leatherman </a:t>
            </a:r>
          </a:p>
        </p:txBody>
      </p:sp>
    </p:spTree>
    <p:extLst>
      <p:ext uri="{BB962C8B-B14F-4D97-AF65-F5344CB8AC3E}">
        <p14:creationId xmlns:p14="http://schemas.microsoft.com/office/powerpoint/2010/main" val="993868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F690-8CF4-A30B-9A64-778F41609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547643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cs typeface="Arial"/>
              </a:rPr>
              <a:t>General background of Exoplanet discovery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96975-2E5F-284F-4AD1-B952D34CE8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016034" cy="45259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>
                <a:latin typeface="Calibri"/>
                <a:ea typeface="Calibri"/>
              </a:rPr>
              <a:t>Kepler/K2 mission</a:t>
            </a:r>
            <a:endParaRPr lang="en-US"/>
          </a:p>
          <a:p>
            <a:pPr>
              <a:buChar char="•"/>
            </a:pPr>
            <a:r>
              <a:rPr lang="en-US" sz="2200">
                <a:latin typeface="Calibri"/>
                <a:ea typeface="Calibri"/>
              </a:rPr>
              <a:t>2009-2018</a:t>
            </a:r>
            <a:endParaRPr lang="en-US" sz="2200">
              <a:latin typeface="Arial Black"/>
            </a:endParaRPr>
          </a:p>
          <a:p>
            <a:pPr>
              <a:buChar char="•"/>
            </a:pPr>
            <a:r>
              <a:rPr lang="en-US" sz="2200">
                <a:latin typeface="Calibri"/>
                <a:ea typeface="Calibri"/>
                <a:cs typeface="Calibri"/>
              </a:rPr>
              <a:t>Continuously monitored one section of sky for 4 years</a:t>
            </a:r>
          </a:p>
          <a:p>
            <a:pPr>
              <a:buChar char="•"/>
            </a:pPr>
            <a:r>
              <a:rPr lang="en-US" sz="2200">
                <a:latin typeface="Calibri"/>
                <a:ea typeface="Calibri"/>
                <a:cs typeface="Calibri"/>
              </a:rPr>
              <a:t>More than 4000 potential planets, and 2700 are confirmed</a:t>
            </a:r>
          </a:p>
          <a:p>
            <a:pPr marL="0" indent="0">
              <a:buNone/>
            </a:pPr>
            <a:r>
              <a:rPr lang="en-US">
                <a:latin typeface="Calibri"/>
                <a:ea typeface="Calibri"/>
              </a:rPr>
              <a:t>TESS (Transiting Exoplanet Survey Satellite) mission</a:t>
            </a:r>
          </a:p>
          <a:p>
            <a:pPr>
              <a:buFont typeface="Arial" pitchFamily="34" charset="0"/>
              <a:buChar char="•"/>
            </a:pPr>
            <a:r>
              <a:rPr lang="en-US" sz="2200">
                <a:latin typeface="Calibri"/>
                <a:ea typeface="Calibri"/>
              </a:rPr>
              <a:t>2018-present</a:t>
            </a:r>
            <a:endParaRPr lang="en-US" sz="2200">
              <a:latin typeface="Calibri"/>
              <a:ea typeface="Calibri"/>
              <a:cs typeface="Calibri"/>
            </a:endParaRPr>
          </a:p>
          <a:p>
            <a:pPr>
              <a:buFont typeface="Arial" pitchFamily="34" charset="0"/>
              <a:buChar char="•"/>
            </a:pPr>
            <a:r>
              <a:rPr lang="en-US" sz="2200">
                <a:latin typeface="Calibri"/>
                <a:ea typeface="Calibri"/>
                <a:cs typeface="Calibri"/>
              </a:rPr>
              <a:t>Monitors a different segment of sky every 27 days</a:t>
            </a:r>
          </a:p>
          <a:p>
            <a:pPr>
              <a:buFont typeface="Arial" pitchFamily="34" charset="0"/>
              <a:buChar char="•"/>
            </a:pPr>
            <a:r>
              <a:rPr lang="en-US" sz="2200">
                <a:latin typeface="Calibri"/>
                <a:ea typeface="Calibri"/>
                <a:cs typeface="Calibri"/>
              </a:rPr>
              <a:t>Over 7000 potential planets, and almost 700 confirmed</a:t>
            </a:r>
          </a:p>
          <a:p>
            <a:pPr marL="0" indent="0">
              <a:buNone/>
            </a:pPr>
            <a:r>
              <a:rPr lang="en-US">
                <a:latin typeface="Calibri"/>
                <a:ea typeface="Calibri"/>
                <a:cs typeface="Calibri"/>
              </a:rPr>
              <a:t>Exoplanets often found by analyzing light curve data</a:t>
            </a:r>
          </a:p>
          <a:p>
            <a:pPr>
              <a:buFont typeface="Arial" pitchFamily="34" charset="0"/>
              <a:buChar char="•"/>
            </a:pPr>
            <a:r>
              <a:rPr lang="en-US" sz="2200">
                <a:latin typeface="Calibri"/>
                <a:ea typeface="Calibri"/>
                <a:cs typeface="Calibri"/>
              </a:rPr>
              <a:t>Looking for periodic threshold crossing events, or dips in intensity of the light coming from the star</a:t>
            </a:r>
          </a:p>
          <a:p>
            <a:pPr lvl="1">
              <a:buFont typeface="Arial" pitchFamily="34" charset="0"/>
              <a:buChar char="•"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496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1E794-9E24-D8B5-3731-DB0B2B046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cs typeface="Arial"/>
              </a:rPr>
              <a:t>What are Threshold Crossing Events?</a:t>
            </a:r>
            <a:endParaRPr lang="en-US"/>
          </a:p>
        </p:txBody>
      </p:sp>
      <p:pic>
        <p:nvPicPr>
          <p:cNvPr id="4" name="Content Placeholder 3" descr="A diagram of a solar system&#10;&#10;AI-generated content may be incorrect.">
            <a:extLst>
              <a:ext uri="{FF2B5EF4-FFF2-40B4-BE49-F238E27FC236}">
                <a16:creationId xmlns:a16="http://schemas.microsoft.com/office/drawing/2014/main" id="{60BB3A29-F4AB-E391-3F86-768D8126B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9837" r="36"/>
          <a:stretch>
            <a:fillRect/>
          </a:stretch>
        </p:blipFill>
        <p:spPr>
          <a:xfrm>
            <a:off x="541134" y="2099790"/>
            <a:ext cx="8054966" cy="30035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C8BC2F-C265-A994-99B7-AFE30EF12855}"/>
              </a:ext>
            </a:extLst>
          </p:cNvPr>
          <p:cNvSpPr txBox="1"/>
          <p:nvPr/>
        </p:nvSpPr>
        <p:spPr>
          <a:xfrm>
            <a:off x="545047" y="5636138"/>
            <a:ext cx="64467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latin typeface="Calibri"/>
                <a:ea typeface="Calibri"/>
                <a:cs typeface="Calibri"/>
              </a:rPr>
              <a:t>NASA. (2010, January 4). Light curves of Kepler’s first 5 discoveries [Image]. NASA. https://www.nasa.gov/image-article/light-curves-of-keplers-first-5-discoveries/ </a:t>
            </a:r>
          </a:p>
        </p:txBody>
      </p:sp>
    </p:spTree>
    <p:extLst>
      <p:ext uri="{BB962C8B-B14F-4D97-AF65-F5344CB8AC3E}">
        <p14:creationId xmlns:p14="http://schemas.microsoft.com/office/powerpoint/2010/main" val="3577182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0F644-AA98-3E58-39E8-725408E9A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cs typeface="Arial"/>
              </a:rPr>
              <a:t>Problem Statement and Method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031BA-9F83-A5B7-5D35-D74EF36931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077939" cy="45259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>
                <a:latin typeface="Calibri"/>
                <a:ea typeface="Calibri"/>
              </a:rPr>
              <a:t>There is currently way more data than can be analyzed by hand, and Machine Learning (ML) is the logical solution. </a:t>
            </a:r>
          </a:p>
          <a:p>
            <a:pPr marL="0" indent="0">
              <a:buNone/>
            </a:pPr>
            <a:endParaRPr lang="en-US" sz="2400"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en-US" sz="2400">
                <a:latin typeface="Calibri"/>
                <a:ea typeface="Calibri"/>
              </a:rPr>
              <a:t>We will c</a:t>
            </a:r>
            <a:r>
              <a:rPr lang="en-US" sz="2400">
                <a:latin typeface="Calibri"/>
                <a:ea typeface="Calibri"/>
                <a:cs typeface="Calibri"/>
              </a:rPr>
              <a:t>ompare the performance of the following ML methods after training and testing on the same sets of data:</a:t>
            </a:r>
            <a:endParaRPr lang="en-US" sz="2400">
              <a:latin typeface="Calibri"/>
              <a:ea typeface="Calibri"/>
            </a:endParaRPr>
          </a:p>
          <a:p>
            <a:pPr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</a:rPr>
              <a:t>Convolutional Neural Network (CNN)</a:t>
            </a:r>
          </a:p>
          <a:p>
            <a:pPr>
              <a:buFont typeface="Arial,Sans-Serif"/>
              <a:buChar char="•"/>
            </a:pPr>
            <a:r>
              <a:rPr lang="en-US" sz="2200">
                <a:latin typeface="Calibri"/>
                <a:ea typeface="Calibri"/>
                <a:cs typeface="Calibri"/>
              </a:rPr>
              <a:t>Transformers</a:t>
            </a:r>
          </a:p>
          <a:p>
            <a:pPr>
              <a:buFont typeface="Arial,Sans-Serif"/>
              <a:buChar char="•"/>
            </a:pPr>
            <a:r>
              <a:rPr lang="en-US" sz="2200">
                <a:latin typeface="Calibri"/>
                <a:ea typeface="Calibri"/>
                <a:cs typeface="Calibri"/>
              </a:rPr>
              <a:t>Recursive Neural Network (RNN)</a:t>
            </a:r>
            <a:endParaRPr lang="en-US"/>
          </a:p>
          <a:p>
            <a:pPr>
              <a:buFont typeface="Arial,Sans-Serif"/>
              <a:buChar char="•"/>
            </a:pPr>
            <a:endParaRPr lang="en-US" sz="2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>
                <a:latin typeface="Calibri"/>
                <a:ea typeface="Calibri"/>
              </a:rPr>
              <a:t>We will use these deep learning methods to analyze light curve data for threshold crossing events (TCEs) which may indicate the transit of an exoplanet</a:t>
            </a:r>
            <a:endParaRPr lang="en-US" sz="2400"/>
          </a:p>
          <a:p>
            <a:endParaRPr lang="en-US" sz="2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7779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00C3-BDBB-D1EF-F869-22934F75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cs typeface="Arial"/>
              </a:rPr>
              <a:t>Data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4BEE9-477C-4234-2760-DBDA465C7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444143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Calibri"/>
                <a:ea typeface="Calibri"/>
                <a:cs typeface="Calibri"/>
              </a:rPr>
              <a:t>Simulated K2 data</a:t>
            </a:r>
            <a:r>
              <a:rPr lang="en-US">
                <a:latin typeface="Calibri"/>
                <a:ea typeface="Calibri"/>
                <a:cs typeface="Calibri"/>
              </a:rPr>
              <a:t> (free data sets available from NASA Exoplanet Archive)</a:t>
            </a:r>
            <a:endParaRPr lang="en-US" sz="2400">
              <a:latin typeface="Calibri"/>
              <a:ea typeface="Calibri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Labeled TESS light curves</a:t>
            </a:r>
            <a:r>
              <a:rPr lang="en-US">
                <a:latin typeface="Calibri"/>
                <a:ea typeface="Calibri"/>
                <a:cs typeface="Calibri"/>
              </a:rPr>
              <a:t> (list of confirmed planets and false positives from NASA Exoplanet Archive, light curves available from MAST)</a:t>
            </a:r>
          </a:p>
          <a:p>
            <a:pPr marL="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Reserve 20% of each data set for testing 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If models are accurate, compare results when looking at unlabeled Kepler/K2/TESS data </a:t>
            </a:r>
          </a:p>
        </p:txBody>
      </p:sp>
    </p:spTree>
    <p:extLst>
      <p:ext uri="{BB962C8B-B14F-4D97-AF65-F5344CB8AC3E}">
        <p14:creationId xmlns:p14="http://schemas.microsoft.com/office/powerpoint/2010/main" val="43152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7BC08-5ADC-9507-21CE-1D6592D2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C1ABD-57F2-1C1B-5759-A3D9A1847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3649"/>
          </a:xfrm>
        </p:spPr>
        <p:txBody>
          <a:bodyPr>
            <a:normAutofit/>
          </a:bodyPr>
          <a:lstStyle/>
          <a:p>
            <a:pPr algn="ctr"/>
            <a:r>
              <a:rPr lang="en-US">
                <a:cs typeface="Arial"/>
              </a:rPr>
              <a:t>CNN Research Papers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BC49A69-E5E4-9339-BE0E-848D9AA83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172339"/>
            <a:ext cx="7994736" cy="45259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err="1">
                <a:latin typeface="Calibri"/>
                <a:ea typeface="Calibri"/>
              </a:rPr>
              <a:t>Shallue</a:t>
            </a:r>
            <a:r>
              <a:rPr lang="en-US" sz="1800">
                <a:latin typeface="Calibri"/>
                <a:ea typeface="Calibri"/>
              </a:rPr>
              <a:t>, C. J., &amp; Vanderburg, A. (2018). Identifying exoplanets with deep learning: A five-planet resonant chain around Kepler-80 and an eighth planet around Kepler-90. The Astronomical Journal, 155(2), 94. https://doi.org/10.3847/1538-3881/aa9e09</a:t>
            </a:r>
            <a:endParaRPr lang="en-US" sz="1800"/>
          </a:p>
          <a:p>
            <a:pPr marL="0" indent="0">
              <a:buNone/>
            </a:pPr>
            <a:endParaRPr lang="en-US" sz="1800"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en-US" sz="1800">
                <a:latin typeface="Calibri"/>
                <a:ea typeface="Calibri"/>
              </a:rPr>
              <a:t>Dattilo, A., Vanderburg, A., </a:t>
            </a:r>
            <a:r>
              <a:rPr lang="en-US" sz="1800" err="1">
                <a:latin typeface="Calibri"/>
                <a:ea typeface="Calibri"/>
              </a:rPr>
              <a:t>Shallue</a:t>
            </a:r>
            <a:r>
              <a:rPr lang="en-US" sz="1800">
                <a:latin typeface="Calibri"/>
                <a:ea typeface="Calibri"/>
              </a:rPr>
              <a:t>, C. J., Mayo, A. W., Berlind, P., </a:t>
            </a:r>
            <a:r>
              <a:rPr lang="en-US" sz="1800" err="1">
                <a:latin typeface="Calibri"/>
                <a:ea typeface="Calibri"/>
              </a:rPr>
              <a:t>Bieryla</a:t>
            </a:r>
            <a:r>
              <a:rPr lang="en-US" sz="1800">
                <a:latin typeface="Calibri"/>
                <a:ea typeface="Calibri"/>
              </a:rPr>
              <a:t>, A., Calkins, M. L., </a:t>
            </a:r>
            <a:r>
              <a:rPr lang="en-US" sz="1800" err="1">
                <a:latin typeface="Calibri"/>
                <a:ea typeface="Calibri"/>
              </a:rPr>
              <a:t>Esquerdo</a:t>
            </a:r>
            <a:r>
              <a:rPr lang="en-US" sz="1800">
                <a:latin typeface="Calibri"/>
                <a:ea typeface="Calibri"/>
              </a:rPr>
              <a:t>, G. A., Everett, M. E., Howell, S. B., Latham, D. W., Scott, N. J., &amp; Yu, L. (2019). Identifying exoplanets with deep learning II: Two new super-Earths uncovered by a neural network in K2 data. The Astronomical Journal, 157(5), 169. https://doi.org/10.3847/1538-3881/ab0e12</a:t>
            </a:r>
          </a:p>
          <a:p>
            <a:pPr marL="0" indent="0">
              <a:buNone/>
            </a:pPr>
            <a:endParaRPr lang="en-US" sz="1800"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en-US" sz="1800">
                <a:latin typeface="Calibri"/>
                <a:ea typeface="Calibri"/>
              </a:rPr>
              <a:t>Osborn, H. P., Ansdell, M., Ioannou, Y., </a:t>
            </a:r>
            <a:r>
              <a:rPr lang="en-US" sz="1800" err="1">
                <a:latin typeface="Calibri"/>
                <a:ea typeface="Calibri"/>
              </a:rPr>
              <a:t>Sasdelli</a:t>
            </a:r>
            <a:r>
              <a:rPr lang="en-US" sz="1800">
                <a:latin typeface="Calibri"/>
                <a:ea typeface="Calibri"/>
              </a:rPr>
              <a:t>, M., </a:t>
            </a:r>
            <a:r>
              <a:rPr lang="en-US" sz="1800" err="1">
                <a:latin typeface="Calibri"/>
                <a:ea typeface="Calibri"/>
              </a:rPr>
              <a:t>Angerhausen</a:t>
            </a:r>
            <a:r>
              <a:rPr lang="en-US" sz="1800">
                <a:latin typeface="Calibri"/>
                <a:ea typeface="Calibri"/>
              </a:rPr>
              <a:t>, D., Caldwell, D., Jenkins, J. M., </a:t>
            </a:r>
            <a:r>
              <a:rPr lang="en-US" sz="1800" err="1">
                <a:latin typeface="Calibri"/>
                <a:ea typeface="Calibri"/>
              </a:rPr>
              <a:t>Räissi</a:t>
            </a:r>
            <a:r>
              <a:rPr lang="en-US" sz="1800">
                <a:latin typeface="Calibri"/>
                <a:ea typeface="Calibri"/>
              </a:rPr>
              <a:t>, C., &amp; Smith, J. C. (2020). Rapid classification of TESS planet candidates with convolutional neural networks. Astronomy &amp; Astrophysics, 633, A53. https://doi.org/10.1051/0004-6361/201935345 </a:t>
            </a:r>
          </a:p>
          <a:p>
            <a:pPr marL="0" indent="0">
              <a:buNone/>
            </a:pPr>
            <a:endParaRPr lang="en-US" sz="1800">
              <a:latin typeface="Calibri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4171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97567-ED21-FB45-DE67-8A6452D2A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27C713-5CFA-4438-1212-A13F95CEE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910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2500">
                <a:ea typeface="+mj-lt"/>
                <a:cs typeface="+mj-lt"/>
              </a:rPr>
              <a:t>Identifying Exoplanets with Deep Learning (</a:t>
            </a:r>
            <a:r>
              <a:rPr lang="en-US" sz="2300">
                <a:ea typeface="+mj-lt"/>
                <a:cs typeface="+mj-lt"/>
              </a:rPr>
              <a:t>The Astronomical Journal</a:t>
            </a:r>
            <a:r>
              <a:rPr lang="en-US" sz="2500">
                <a:ea typeface="+mj-lt"/>
                <a:cs typeface="+mj-lt"/>
              </a:rPr>
              <a:t>, 2018)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25CB4-A87B-965B-70B8-C29CC5F1E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539" y="1104939"/>
            <a:ext cx="4994468" cy="499994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latin typeface="Calibri"/>
                <a:ea typeface="Calibri"/>
              </a:rPr>
              <a:t>Goal: </a:t>
            </a:r>
            <a:r>
              <a:rPr lang="en-US" sz="1400" dirty="0">
                <a:latin typeface="Calibri"/>
                <a:ea typeface="Calibri"/>
              </a:rPr>
              <a:t>Find and build a classifier for Kepler data</a:t>
            </a:r>
            <a:endParaRPr lang="en-US" sz="1400">
              <a:latin typeface="Calibri"/>
              <a:ea typeface="Calibri"/>
            </a:endParaRPr>
          </a:p>
          <a:p>
            <a:pPr marL="0" indent="0">
              <a:buNone/>
            </a:pPr>
            <a:endParaRPr lang="en-US" sz="1400"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en-US" sz="1400" b="1" dirty="0">
                <a:latin typeface="Calibri"/>
                <a:ea typeface="Calibri"/>
                <a:cs typeface="Calibri"/>
              </a:rPr>
              <a:t>Approach: </a:t>
            </a:r>
            <a:r>
              <a:rPr lang="en-US" sz="1400" dirty="0">
                <a:latin typeface="Calibri"/>
                <a:ea typeface="Calibri"/>
                <a:cs typeface="Calibri"/>
              </a:rPr>
              <a:t>Compared linear, fully connected, and 1-D CNN models using Kepler and DR24 data. Best results from CNN using global and local views of light cure sequences.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 b="1" dirty="0">
                <a:latin typeface="Calibri"/>
                <a:ea typeface="Calibri"/>
                <a:cs typeface="Calibri"/>
              </a:rPr>
              <a:t>Techniques</a:t>
            </a:r>
            <a:r>
              <a:rPr lang="en-US" sz="1400" dirty="0">
                <a:latin typeface="Calibri"/>
                <a:ea typeface="Calibri"/>
                <a:cs typeface="Calibri"/>
              </a:rPr>
              <a:t>: Phase-folding, spline detrending, augmentation, dropout, ensemble learning.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 b="1" dirty="0">
                <a:latin typeface="Calibri"/>
                <a:ea typeface="Calibri"/>
                <a:cs typeface="Calibri"/>
              </a:rPr>
              <a:t>Model (</a:t>
            </a:r>
            <a:r>
              <a:rPr lang="en-US" sz="1400" b="1" err="1">
                <a:latin typeface="Calibri"/>
                <a:ea typeface="Calibri"/>
                <a:cs typeface="Calibri"/>
              </a:rPr>
              <a:t>AstroNet</a:t>
            </a:r>
            <a:r>
              <a:rPr lang="en-US" sz="1400" b="1" dirty="0">
                <a:latin typeface="Calibri"/>
                <a:ea typeface="Calibri"/>
                <a:cs typeface="Calibri"/>
              </a:rPr>
              <a:t>): </a:t>
            </a:r>
            <a:r>
              <a:rPr lang="en-US" sz="1400" dirty="0">
                <a:latin typeface="Calibri"/>
                <a:ea typeface="Calibri"/>
                <a:cs typeface="Calibri"/>
              </a:rPr>
              <a:t>1-D CNN with 4/10 Convolutional layers, Max Pooling, Dense FC-512 layer with a sigmoid probability output.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 b="1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 b="1" dirty="0">
                <a:latin typeface="Calibri"/>
                <a:ea typeface="Calibri"/>
                <a:cs typeface="Calibri"/>
              </a:rPr>
              <a:t>Results Observational: </a:t>
            </a:r>
            <a:r>
              <a:rPr lang="en-US" sz="1400" dirty="0">
                <a:latin typeface="Calibri"/>
                <a:ea typeface="Calibri"/>
                <a:cs typeface="Calibri"/>
              </a:rPr>
              <a:t>96% Accuracy, 98.8% AUC, 96% precision, 95% recall.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 b="1" dirty="0">
                <a:latin typeface="Calibri"/>
                <a:ea typeface="Calibri"/>
                <a:cs typeface="Calibri"/>
              </a:rPr>
              <a:t>Results Simulated</a:t>
            </a:r>
            <a:r>
              <a:rPr lang="en-US" sz="1400" dirty="0">
                <a:latin typeface="Calibri"/>
                <a:ea typeface="Calibri"/>
                <a:cs typeface="Calibri"/>
              </a:rPr>
              <a:t>: 81% recovery of true planets, misclassified 90% background planets, and misclassified 65% of eclipsing binaries.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 b="1" dirty="0">
                <a:latin typeface="Calibri"/>
                <a:ea typeface="Calibri"/>
                <a:cs typeface="Calibri"/>
              </a:rPr>
              <a:t>Findings: </a:t>
            </a:r>
            <a:r>
              <a:rPr lang="en-US" sz="1400" dirty="0">
                <a:latin typeface="Calibri"/>
                <a:ea typeface="Calibri"/>
                <a:cs typeface="Calibri"/>
              </a:rPr>
              <a:t>Kepler-80g and Kepler-90i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 b="1" dirty="0">
                <a:latin typeface="Calibri"/>
                <a:ea typeface="Calibri"/>
                <a:cs typeface="Calibri"/>
              </a:rPr>
              <a:t>Takeaways: </a:t>
            </a:r>
            <a:r>
              <a:rPr lang="en-US" sz="1400" dirty="0">
                <a:latin typeface="Calibri"/>
                <a:ea typeface="Calibri"/>
                <a:cs typeface="Calibri"/>
              </a:rPr>
              <a:t>Models limited by generalization. Extend to simulated data and centroid features.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6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2B3F4-7B16-A5A9-F637-6D9C1B550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115" y="1103243"/>
            <a:ext cx="4014341" cy="500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42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E3AD1-E942-08E9-1481-4C7E5DBB7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D0BB50D-F640-8029-4F91-BFBDD818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1745" cy="65910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2500">
                <a:ea typeface="+mj-lt"/>
                <a:cs typeface="+mj-lt"/>
              </a:rPr>
              <a:t>Identifying Exoplanets with Deep Learning II (The Astronomical Journal, 2019)</a:t>
            </a:r>
            <a:endParaRPr lang="en-US" sz="2500"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3E8AC-0DE8-2C7D-9EBA-393E9461AA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936114"/>
            <a:ext cx="8220693" cy="512576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700" b="1" dirty="0">
                <a:latin typeface="Calibri"/>
                <a:ea typeface="Calibri"/>
                <a:cs typeface="Calibri"/>
              </a:rPr>
              <a:t>Goal: </a:t>
            </a:r>
            <a:r>
              <a:rPr lang="en-US" sz="1700" dirty="0">
                <a:latin typeface="Calibri"/>
                <a:ea typeface="Calibri"/>
                <a:cs typeface="Calibri"/>
              </a:rPr>
              <a:t>Build a CNN classifier for K2 data</a:t>
            </a:r>
          </a:p>
          <a:p>
            <a:pPr marL="0" indent="0">
              <a:buNone/>
            </a:pPr>
            <a:endParaRPr lang="en-US" sz="1700"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en-US" sz="1700" b="1" dirty="0">
                <a:latin typeface="Calibri"/>
                <a:ea typeface="Calibri"/>
                <a:cs typeface="Calibri"/>
              </a:rPr>
              <a:t>Approach</a:t>
            </a:r>
            <a:r>
              <a:rPr lang="en-US" sz="1700" dirty="0">
                <a:latin typeface="Calibri"/>
                <a:ea typeface="Calibri"/>
                <a:cs typeface="Calibri"/>
              </a:rPr>
              <a:t>: Extended </a:t>
            </a:r>
            <a:r>
              <a:rPr lang="en-US" sz="1700" dirty="0" err="1">
                <a:latin typeface="Calibri"/>
                <a:ea typeface="Calibri"/>
                <a:cs typeface="Calibri"/>
              </a:rPr>
              <a:t>AstroNet</a:t>
            </a:r>
            <a:r>
              <a:rPr lang="en-US" sz="1700" dirty="0">
                <a:latin typeface="Calibri"/>
                <a:ea typeface="Calibri"/>
                <a:cs typeface="Calibri"/>
              </a:rPr>
              <a:t> architecture to handle K2 dataset. Trained on K2 TCEs and ran validation and tuning on simulated TCEs. Used local and global views.</a:t>
            </a:r>
          </a:p>
          <a:p>
            <a:pPr marL="0" indent="0">
              <a:buNone/>
            </a:pPr>
            <a:endParaRPr lang="en-US" sz="17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 b="1" dirty="0">
                <a:latin typeface="Calibri"/>
                <a:ea typeface="Calibri"/>
                <a:cs typeface="Calibri"/>
              </a:rPr>
              <a:t>Techniques</a:t>
            </a:r>
            <a:r>
              <a:rPr lang="en-US" sz="1700" dirty="0">
                <a:latin typeface="Calibri"/>
                <a:ea typeface="Calibri"/>
                <a:cs typeface="Calibri"/>
              </a:rPr>
              <a:t>: Phase-folding, spline detrending, data augmentation, ensemble learning, scalar features (Rp/R* and impact).</a:t>
            </a:r>
          </a:p>
          <a:p>
            <a:pPr marL="0" indent="0">
              <a:buNone/>
            </a:pPr>
            <a:endParaRPr lang="en-US" sz="17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 b="1" dirty="0">
                <a:latin typeface="Calibri"/>
                <a:ea typeface="Calibri"/>
                <a:cs typeface="Calibri"/>
              </a:rPr>
              <a:t>Model (AstroNet-K2):</a:t>
            </a:r>
            <a:r>
              <a:rPr lang="en-US" sz="1700" dirty="0">
                <a:latin typeface="Calibri"/>
                <a:ea typeface="Calibri"/>
                <a:cs typeface="Calibri"/>
              </a:rPr>
              <a:t>  1-D CNN with 4/8 Convolutional layers, Max Pooling, Dense FC-512 layer with a sigmoid probability output.</a:t>
            </a:r>
            <a:endParaRPr lang="en-US" sz="1700" dirty="0"/>
          </a:p>
          <a:p>
            <a:pPr marL="0" indent="0">
              <a:buNone/>
            </a:pPr>
            <a:endParaRPr lang="en-US" sz="1700" b="1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 b="1" dirty="0">
                <a:latin typeface="Calibri"/>
                <a:ea typeface="Calibri"/>
                <a:cs typeface="Calibri"/>
              </a:rPr>
              <a:t>Results Observational: </a:t>
            </a:r>
            <a:r>
              <a:rPr lang="en-US" sz="1700" dirty="0">
                <a:latin typeface="Calibri"/>
                <a:ea typeface="Calibri"/>
                <a:cs typeface="Calibri"/>
              </a:rPr>
              <a:t>Accuracy 97.8%, AUC 98.8%, 94% in capturing planets.</a:t>
            </a:r>
            <a:endParaRPr lang="en-US" dirty="0"/>
          </a:p>
          <a:p>
            <a:pPr marL="0" indent="0">
              <a:buNone/>
            </a:pPr>
            <a:endParaRPr lang="en-US" sz="17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 b="1" dirty="0">
                <a:latin typeface="Calibri"/>
                <a:ea typeface="Calibri"/>
                <a:cs typeface="Calibri"/>
              </a:rPr>
              <a:t>Findings: </a:t>
            </a:r>
            <a:r>
              <a:rPr lang="en-US" sz="1700" dirty="0">
                <a:latin typeface="Calibri"/>
                <a:ea typeface="Calibri"/>
                <a:cs typeface="Calibri"/>
              </a:rPr>
              <a:t>K2-293B and K2-294B</a:t>
            </a:r>
          </a:p>
          <a:p>
            <a:pPr marL="0" indent="0">
              <a:buNone/>
            </a:pPr>
            <a:endParaRPr lang="en-US" sz="17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 b="1" dirty="0">
                <a:latin typeface="Calibri"/>
                <a:ea typeface="Calibri"/>
                <a:cs typeface="Calibri"/>
              </a:rPr>
              <a:t>Takeaways: </a:t>
            </a:r>
            <a:r>
              <a:rPr lang="en-US" sz="1700" dirty="0">
                <a:latin typeface="Calibri"/>
                <a:ea typeface="Calibri"/>
                <a:cs typeface="Calibri"/>
              </a:rPr>
              <a:t>Shows CNNs can work on noisier light curve sequences and that scalar features may help in  improving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312385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894" cy="961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300">
                <a:ea typeface="+mj-lt"/>
                <a:cs typeface="+mj-lt"/>
              </a:rPr>
              <a:t>Rapid Classification of TESS Planet Candidates with Convolutional Neural Networks</a:t>
            </a:r>
            <a:r>
              <a:rPr lang="en-US" sz="2300"/>
              <a:t> (</a:t>
            </a:r>
            <a:r>
              <a:rPr lang="en-US" sz="2300">
                <a:ea typeface="+mj-lt"/>
                <a:cs typeface="+mj-lt"/>
              </a:rPr>
              <a:t>Astronomy &amp; Astrophysics</a:t>
            </a:r>
            <a:r>
              <a:rPr lang="en-US" sz="2300"/>
              <a:t>, 2019)</a:t>
            </a:r>
            <a:endParaRPr lang="en-US" sz="2300"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323712-A9F5-3E9E-14BA-8C2AACE43533}"/>
              </a:ext>
            </a:extLst>
          </p:cNvPr>
          <p:cNvSpPr txBox="1"/>
          <p:nvPr/>
        </p:nvSpPr>
        <p:spPr>
          <a:xfrm>
            <a:off x="456772" y="1353274"/>
            <a:ext cx="8228257" cy="4739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 b="1" dirty="0">
                <a:latin typeface="Calibri"/>
                <a:ea typeface="+mn-lt"/>
                <a:cs typeface="+mn-lt"/>
              </a:rPr>
              <a:t>Goal:</a:t>
            </a:r>
            <a:r>
              <a:rPr lang="en-US" sz="1700" dirty="0">
                <a:latin typeface="Calibri"/>
                <a:ea typeface="+mn-lt"/>
                <a:cs typeface="+mn-lt"/>
              </a:rPr>
              <a:t> Build a CNN classifier for TESS data</a:t>
            </a:r>
            <a:endParaRPr lang="en-US" sz="1700" dirty="0">
              <a:latin typeface="Calibri"/>
              <a:ea typeface="Calibri"/>
              <a:cs typeface="Calibri"/>
            </a:endParaRPr>
          </a:p>
          <a:p>
            <a:endParaRPr lang="en-US" sz="1700">
              <a:latin typeface="Calibri"/>
              <a:ea typeface="Calibri"/>
              <a:cs typeface="Calibri"/>
            </a:endParaRPr>
          </a:p>
          <a:p>
            <a:r>
              <a:rPr lang="en-US" sz="1700" b="1" dirty="0">
                <a:latin typeface="Calibri"/>
                <a:ea typeface="Calibri"/>
                <a:cs typeface="Calibri"/>
              </a:rPr>
              <a:t>Approach</a:t>
            </a:r>
            <a:r>
              <a:rPr lang="en-US" sz="1700" dirty="0">
                <a:latin typeface="Calibri"/>
                <a:ea typeface="Calibri"/>
                <a:cs typeface="Calibri"/>
              </a:rPr>
              <a:t>: Adapted </a:t>
            </a:r>
            <a:r>
              <a:rPr lang="en-US" sz="1700" dirty="0" err="1">
                <a:latin typeface="Calibri"/>
                <a:ea typeface="Calibri"/>
                <a:cs typeface="Calibri"/>
              </a:rPr>
              <a:t>AstroNet</a:t>
            </a:r>
            <a:r>
              <a:rPr lang="en-US" sz="1700" dirty="0">
                <a:latin typeface="Calibri"/>
                <a:ea typeface="Calibri"/>
                <a:cs typeface="Calibri"/>
              </a:rPr>
              <a:t>/</a:t>
            </a:r>
            <a:r>
              <a:rPr lang="en-US" sz="1700" dirty="0" err="1">
                <a:latin typeface="Calibri"/>
                <a:ea typeface="Calibri"/>
                <a:cs typeface="Calibri"/>
              </a:rPr>
              <a:t>ExoNet</a:t>
            </a:r>
            <a:r>
              <a:rPr lang="en-US" sz="1700" dirty="0">
                <a:latin typeface="Calibri"/>
                <a:ea typeface="Calibri"/>
                <a:cs typeface="Calibri"/>
              </a:rPr>
              <a:t> CNN. Trained on TSOP-301 (simulated). Used local and global views with centroids.</a:t>
            </a:r>
          </a:p>
          <a:p>
            <a:endParaRPr lang="en-US" sz="1700">
              <a:latin typeface="Calibri"/>
              <a:ea typeface="Calibri"/>
              <a:cs typeface="Calibri"/>
            </a:endParaRPr>
          </a:p>
          <a:p>
            <a:r>
              <a:rPr lang="en-US" sz="1700" b="1" dirty="0">
                <a:latin typeface="Calibri"/>
                <a:ea typeface="Calibri"/>
                <a:cs typeface="Calibri"/>
              </a:rPr>
              <a:t>Techniques:</a:t>
            </a:r>
            <a:r>
              <a:rPr lang="en-US" sz="1700" dirty="0">
                <a:latin typeface="Calibri"/>
                <a:ea typeface="Calibri"/>
                <a:cs typeface="Calibri"/>
              </a:rPr>
              <a:t> Phase-folding, normalization, balanced batches, augmentation, cross-validation</a:t>
            </a:r>
            <a:endParaRPr lang="en-US" sz="1700" dirty="0">
              <a:cs typeface="Arial"/>
            </a:endParaRPr>
          </a:p>
          <a:p>
            <a:endParaRPr lang="en-US" sz="1700">
              <a:latin typeface="Calibri"/>
              <a:ea typeface="Calibri"/>
              <a:cs typeface="Calibri"/>
            </a:endParaRPr>
          </a:p>
          <a:p>
            <a:r>
              <a:rPr lang="en-US" sz="1700" b="1" dirty="0">
                <a:latin typeface="Calibri"/>
                <a:ea typeface="Calibri"/>
                <a:cs typeface="Calibri"/>
              </a:rPr>
              <a:t>Model</a:t>
            </a:r>
            <a:r>
              <a:rPr lang="en-US" sz="1700" dirty="0">
                <a:latin typeface="Calibri"/>
                <a:ea typeface="Calibri"/>
                <a:cs typeface="Calibri"/>
              </a:rPr>
              <a:t>: 1-D CNN with 4/8 Convolutional layers, Max Pooling, Dense FC-256 layer into both a sigmoid (binary) and </a:t>
            </a:r>
            <a:r>
              <a:rPr lang="en-US" sz="1700" dirty="0" err="1">
                <a:latin typeface="Calibri"/>
                <a:ea typeface="Calibri"/>
                <a:cs typeface="Calibri"/>
              </a:rPr>
              <a:t>softmax</a:t>
            </a:r>
            <a:r>
              <a:rPr lang="en-US" sz="1700" dirty="0">
                <a:latin typeface="Calibri"/>
                <a:ea typeface="Calibri"/>
                <a:cs typeface="Calibri"/>
              </a:rPr>
              <a:t>(multi-class) output</a:t>
            </a:r>
            <a:endParaRPr lang="en-US" sz="1700" dirty="0">
              <a:cs typeface="Arial"/>
            </a:endParaRPr>
          </a:p>
          <a:p>
            <a:endParaRPr lang="en-US" sz="1700">
              <a:latin typeface="Arial"/>
              <a:ea typeface="Calibri"/>
              <a:cs typeface="Arial"/>
            </a:endParaRPr>
          </a:p>
          <a:p>
            <a:r>
              <a:rPr lang="en-US" sz="1700" b="1" dirty="0">
                <a:latin typeface="Calibri"/>
                <a:ea typeface="+mn-lt"/>
                <a:cs typeface="+mn-lt"/>
              </a:rPr>
              <a:t>Results Simulated: </a:t>
            </a:r>
            <a:r>
              <a:rPr lang="en-US" sz="1700" dirty="0">
                <a:latin typeface="Calibri"/>
                <a:ea typeface="Calibri"/>
                <a:cs typeface="Calibri"/>
              </a:rPr>
              <a:t>AP(Acc/</a:t>
            </a:r>
            <a:r>
              <a:rPr lang="en-US" sz="1700" dirty="0" err="1">
                <a:latin typeface="Calibri"/>
                <a:ea typeface="Calibri"/>
                <a:cs typeface="Calibri"/>
              </a:rPr>
              <a:t>Prec</a:t>
            </a:r>
            <a:r>
              <a:rPr lang="en-US" sz="1700" dirty="0">
                <a:latin typeface="Calibri"/>
                <a:ea typeface="Calibri"/>
                <a:cs typeface="Calibri"/>
              </a:rPr>
              <a:t>) of 97.3%</a:t>
            </a:r>
            <a:endParaRPr lang="en-US" sz="1700" dirty="0">
              <a:latin typeface="Arial"/>
              <a:ea typeface="Calibri"/>
              <a:cs typeface="Arial"/>
            </a:endParaRPr>
          </a:p>
          <a:p>
            <a:endParaRPr lang="en-US" sz="1700">
              <a:latin typeface="Calibri"/>
              <a:ea typeface="Calibri"/>
              <a:cs typeface="Calibri"/>
            </a:endParaRPr>
          </a:p>
          <a:p>
            <a:r>
              <a:rPr lang="en-US" sz="1700" b="1" dirty="0">
                <a:latin typeface="Calibri"/>
                <a:ea typeface="Calibri"/>
                <a:cs typeface="Calibri"/>
              </a:rPr>
              <a:t>Results Observational</a:t>
            </a:r>
            <a:r>
              <a:rPr lang="en-US" sz="1700" dirty="0">
                <a:latin typeface="Calibri"/>
                <a:ea typeface="Calibri"/>
                <a:cs typeface="Calibri"/>
              </a:rPr>
              <a:t>: Planet Precision of 91.8% and 61% recovery on real TESS exoplanets</a:t>
            </a:r>
            <a:endParaRPr lang="en-US" sz="1700" dirty="0">
              <a:latin typeface="Arial"/>
              <a:ea typeface="Calibri"/>
              <a:cs typeface="Arial"/>
            </a:endParaRPr>
          </a:p>
          <a:p>
            <a:endParaRPr lang="en-US" sz="1700">
              <a:latin typeface="Calibri"/>
              <a:ea typeface="Calibri"/>
              <a:cs typeface="+mn-lt"/>
            </a:endParaRPr>
          </a:p>
          <a:p>
            <a:r>
              <a:rPr lang="en-US" sz="1700" b="1" dirty="0">
                <a:latin typeface="Calibri"/>
                <a:ea typeface="+mn-lt"/>
                <a:cs typeface="+mn-lt"/>
              </a:rPr>
              <a:t>Takeaways: </a:t>
            </a:r>
            <a:r>
              <a:rPr lang="en-US" sz="1700" dirty="0">
                <a:latin typeface="Calibri"/>
                <a:ea typeface="Calibri"/>
                <a:cs typeface="+mn-lt"/>
              </a:rPr>
              <a:t>Proof that CNNs can reduce human vetting and classify planets though possibly limited in generalization.</a:t>
            </a:r>
          </a:p>
          <a:p>
            <a:endParaRPr lang="en-US" sz="3000"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7430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56C32-9594-A43E-CC7B-D42B792A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Transformer model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E7BCC-6627-BD0E-03D9-6264B19E1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55497" cy="412044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1800">
                <a:latin typeface="Calibri"/>
                <a:ea typeface="Calibri"/>
              </a:rPr>
              <a:t>Input/output embedding</a:t>
            </a:r>
          </a:p>
          <a:p>
            <a:pPr lvl="1">
              <a:buFont typeface="Courier New" pitchFamily="34" charset="0"/>
              <a:buChar char="o"/>
            </a:pPr>
            <a:r>
              <a:rPr lang="en-US" sz="1400">
                <a:latin typeface="Calibri"/>
                <a:ea typeface="Calibri"/>
              </a:rPr>
              <a:t>Creates tokens and encodes positional data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sz="1800">
                <a:latin typeface="Calibri"/>
                <a:ea typeface="Calibri"/>
              </a:rPr>
              <a:t>Encoder/decoder</a:t>
            </a:r>
            <a:endParaRPr lang="en-US"/>
          </a:p>
          <a:p>
            <a:pPr lvl="1">
              <a:buFont typeface="Courier New" pitchFamily="34" charset="0"/>
              <a:buChar char="o"/>
            </a:pPr>
            <a:r>
              <a:rPr lang="en-US" sz="1400">
                <a:latin typeface="Calibri"/>
                <a:ea typeface="Calibri"/>
              </a:rPr>
              <a:t>Creates relationships between tokens 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sz="1800">
                <a:latin typeface="Calibri"/>
                <a:ea typeface="Calibri"/>
                <a:cs typeface="Calibri"/>
              </a:rPr>
              <a:t>Multi-Head Attention</a:t>
            </a:r>
          </a:p>
          <a:p>
            <a:pPr lvl="1">
              <a:buFont typeface="Courier New" pitchFamily="34" charset="0"/>
              <a:buChar char="o"/>
            </a:pPr>
            <a:r>
              <a:rPr lang="en-US" sz="1400">
                <a:latin typeface="Calibri"/>
                <a:ea typeface="Calibri"/>
                <a:cs typeface="Calibri"/>
              </a:rPr>
              <a:t>Weights the relationships between tokens</a:t>
            </a:r>
          </a:p>
          <a:p>
            <a:pPr lvl="1">
              <a:buFont typeface="Courier New" pitchFamily="34" charset="0"/>
              <a:buChar char="o"/>
            </a:pPr>
            <a:r>
              <a:rPr lang="en-US" sz="1400">
                <a:latin typeface="Calibri"/>
                <a:ea typeface="Calibri"/>
                <a:cs typeface="Calibri"/>
              </a:rPr>
              <a:t>Each token is compared to every other token</a:t>
            </a:r>
          </a:p>
          <a:p>
            <a:pPr lvl="1">
              <a:buFont typeface="Courier New" pitchFamily="34" charset="0"/>
              <a:buChar char="o"/>
            </a:pPr>
            <a:r>
              <a:rPr lang="en-US" sz="1400">
                <a:latin typeface="Calibri"/>
                <a:ea typeface="Calibri"/>
                <a:cs typeface="Calibri"/>
              </a:rPr>
              <a:t>Each head compares the tokens in a different way</a:t>
            </a:r>
          </a:p>
          <a:p>
            <a:pPr lvl="1">
              <a:buFont typeface="Courier New" pitchFamily="34" charset="0"/>
              <a:buChar char="o"/>
            </a:pPr>
            <a:r>
              <a:rPr lang="en-US" sz="1400">
                <a:latin typeface="Calibri"/>
                <a:ea typeface="+mn-lt"/>
                <a:cs typeface="+mn-lt"/>
              </a:rPr>
              <a:t>Relationship weights are determined by the query, key, and value vectors 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sz="1800">
                <a:latin typeface="Calibri"/>
                <a:ea typeface="Calibri"/>
                <a:cs typeface="Calibri"/>
              </a:rPr>
              <a:t>Add &amp; Norm</a:t>
            </a:r>
          </a:p>
          <a:p>
            <a:pPr lvl="1">
              <a:buFont typeface="Courier New" pitchFamily="34" charset="0"/>
              <a:buChar char="o"/>
            </a:pPr>
            <a:r>
              <a:rPr lang="en-US" sz="1400">
                <a:latin typeface="Calibri"/>
                <a:ea typeface="Calibri"/>
                <a:cs typeface="Calibri"/>
              </a:rPr>
              <a:t>Keeps important information distinct and appropriately scaled</a:t>
            </a:r>
          </a:p>
          <a:p>
            <a:r>
              <a:rPr lang="en-US" sz="1800">
                <a:latin typeface="Calibri"/>
                <a:ea typeface="Calibri"/>
                <a:cs typeface="Calibri"/>
              </a:rPr>
              <a:t>Feed Forward</a:t>
            </a:r>
          </a:p>
          <a:p>
            <a:pPr lvl="1">
              <a:buFont typeface="Courier New" pitchFamily="34" charset="0"/>
              <a:buChar char="o"/>
            </a:pPr>
            <a:r>
              <a:rPr lang="en-US" sz="1400">
                <a:latin typeface="Calibri"/>
                <a:ea typeface="Calibri"/>
                <a:cs typeface="Calibri"/>
              </a:rPr>
              <a:t>Creates new token vectors by applying learned weights for the next step</a:t>
            </a:r>
          </a:p>
          <a:p>
            <a:pPr lvl="1">
              <a:buFont typeface="Courier New" pitchFamily="34" charset="0"/>
              <a:buChar char="o"/>
            </a:pPr>
            <a:endParaRPr lang="en-US" sz="1300">
              <a:latin typeface="Calibri"/>
              <a:ea typeface="Calibri"/>
              <a:cs typeface="Calibri"/>
            </a:endParaRPr>
          </a:p>
          <a:p>
            <a:r>
              <a:rPr lang="en-US" sz="1700">
                <a:latin typeface="Calibri"/>
                <a:ea typeface="Calibri"/>
                <a:cs typeface="Calibri"/>
              </a:rPr>
              <a:t>Good for sequential data (text or time series)</a:t>
            </a:r>
          </a:p>
          <a:p>
            <a:r>
              <a:rPr lang="en-US" sz="1800">
                <a:latin typeface="Calibri"/>
                <a:ea typeface="Calibri"/>
              </a:rPr>
              <a:t>Initially used in Large Language Models</a:t>
            </a:r>
          </a:p>
          <a:p>
            <a:r>
              <a:rPr lang="en-US" sz="1800">
                <a:latin typeface="Calibri"/>
                <a:ea typeface="Calibri"/>
              </a:rPr>
              <a:t>Parallelization makes training more efficient</a:t>
            </a:r>
          </a:p>
        </p:txBody>
      </p:sp>
      <p:pic>
        <p:nvPicPr>
          <p:cNvPr id="6" name="Content Placeholder 5" descr="A diagram of a process&#10;&#10;AI-generated content may be incorrect.">
            <a:extLst>
              <a:ext uri="{FF2B5EF4-FFF2-40B4-BE49-F238E27FC236}">
                <a16:creationId xmlns:a16="http://schemas.microsoft.com/office/drawing/2014/main" id="{4FEC6590-33B6-2471-5616-3BEDD3D8C0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426192" y="271463"/>
            <a:ext cx="3082561" cy="47431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8CAFE0-3190-BD28-CE25-513030281D37}"/>
              </a:ext>
            </a:extLst>
          </p:cNvPr>
          <p:cNvSpPr txBox="1"/>
          <p:nvPr/>
        </p:nvSpPr>
        <p:spPr>
          <a:xfrm>
            <a:off x="459269" y="5628754"/>
            <a:ext cx="855646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Vaswani, A., </a:t>
            </a:r>
            <a:r>
              <a:rPr lang="en-US" sz="1000" err="1"/>
              <a:t>Shazeer</a:t>
            </a:r>
            <a:r>
              <a:rPr lang="en-US" sz="1000"/>
              <a:t>, N., Parmar, N., </a:t>
            </a:r>
            <a:r>
              <a:rPr lang="en-US" sz="1000" err="1"/>
              <a:t>Uszkoreit</a:t>
            </a:r>
            <a:r>
              <a:rPr lang="en-US" sz="1000"/>
              <a:t>, J., Jones, L., Gomez, A. N., Kaiser, Ł., &amp; </a:t>
            </a:r>
            <a:r>
              <a:rPr lang="en-US" sz="1000" err="1"/>
              <a:t>Polosukhin</a:t>
            </a:r>
            <a:r>
              <a:rPr lang="en-US" sz="1000"/>
              <a:t>, I. (2017). Attention is all you need. In </a:t>
            </a:r>
            <a:r>
              <a:rPr lang="en-US" sz="1000" i="1"/>
              <a:t>Proceedings of the 31st International Conference on Neural Information Processing Systems (NIPS 2017)</a:t>
            </a:r>
            <a:r>
              <a:rPr lang="en-US" sz="1000"/>
              <a:t> (pp. 6000–6010). Curran Associates Inc. </a:t>
            </a:r>
            <a:r>
              <a:rPr lang="en-US" sz="1000">
                <a:ea typeface="+mn-lt"/>
                <a:cs typeface="+mn-lt"/>
              </a:rPr>
              <a:t>https://arxiv.org/pdf/1706.03762</a:t>
            </a:r>
            <a:endParaRPr lang="en-US" sz="1000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EE67C-48B3-303D-7FDC-0DB1F5DDAC70}"/>
              </a:ext>
            </a:extLst>
          </p:cNvPr>
          <p:cNvSpPr txBox="1"/>
          <p:nvPr/>
        </p:nvSpPr>
        <p:spPr>
          <a:xfrm>
            <a:off x="5241127" y="5055552"/>
            <a:ext cx="3459909" cy="577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cs typeface="Arial"/>
              </a:rPr>
              <a:t>Figure 1 </a:t>
            </a:r>
            <a:r>
              <a:rPr lang="en-US" sz="1050">
                <a:ea typeface="+mn-lt"/>
                <a:cs typeface="+mn-lt"/>
              </a:rPr>
              <a:t>reproduced with permission by Google for scholarly use, from Vaswani et al. (2017).</a:t>
            </a:r>
          </a:p>
          <a:p>
            <a:pPr algn="ctr"/>
            <a:endParaRPr lang="en-US" sz="1050">
              <a:cs typeface="Arial"/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2D31BBB3-4AC8-579A-3D54-0F80F7D056C0}"/>
              </a:ext>
            </a:extLst>
          </p:cNvPr>
          <p:cNvSpPr/>
          <p:nvPr/>
        </p:nvSpPr>
        <p:spPr>
          <a:xfrm>
            <a:off x="300564" y="2420365"/>
            <a:ext cx="158132" cy="2018660"/>
          </a:xfrm>
          <a:prstGeom prst="leftBrac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44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3B481-1CB0-9937-0319-26057B092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cs typeface="Arial"/>
              </a:rPr>
              <a:t>Transformer Research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4BA8-70C3-8B0F-1C9D-546636827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7876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00050" indent="-400050">
              <a:buNone/>
            </a:pPr>
            <a:r>
              <a:rPr lang="en-US" sz="1800">
                <a:latin typeface="Calibri"/>
                <a:ea typeface="Calibri"/>
                <a:cs typeface="Arial"/>
              </a:rPr>
              <a:t>Morvan, M., Nikolaou, N., Yip, K. H., &amp; Waldmann, I. (2022). Don't pay attention to the noise: Learning self-supervised representations of light curves with a denoising time series transformer. </a:t>
            </a:r>
            <a:r>
              <a:rPr lang="en-US" sz="1800" i="1">
                <a:latin typeface="Calibri"/>
                <a:ea typeface="Calibri"/>
                <a:cs typeface="Arial"/>
              </a:rPr>
              <a:t>Proceedings of the Thirty-ninth International Conference on Machine Learning (ICML 2022)</a:t>
            </a:r>
            <a:r>
              <a:rPr lang="en-US" sz="1800">
                <a:latin typeface="Calibri"/>
                <a:ea typeface="Calibri"/>
                <a:cs typeface="Arial"/>
              </a:rPr>
              <a:t>. https://arxiv.org/abs/2206.08447</a:t>
            </a:r>
            <a:endParaRPr lang="en-US" sz="1800">
              <a:latin typeface="Calibri"/>
              <a:ea typeface="Calibri"/>
            </a:endParaRPr>
          </a:p>
          <a:p>
            <a:pPr marL="400050" indent="-400050">
              <a:buNone/>
            </a:pPr>
            <a:endParaRPr lang="en-US" sz="1800">
              <a:latin typeface="Calibri"/>
              <a:ea typeface="Calibri"/>
              <a:cs typeface="Arial"/>
            </a:endParaRPr>
          </a:p>
          <a:p>
            <a:pPr marL="400050" indent="-400050">
              <a:buNone/>
            </a:pPr>
            <a:r>
              <a:rPr lang="en-US" sz="1800">
                <a:latin typeface="Calibri"/>
                <a:ea typeface="Calibri"/>
                <a:cs typeface="Arial"/>
              </a:rPr>
              <a:t>Salinas, H., </a:t>
            </a:r>
            <a:r>
              <a:rPr lang="en-US" sz="1800" err="1">
                <a:latin typeface="Calibri"/>
                <a:ea typeface="Calibri"/>
                <a:cs typeface="Arial"/>
              </a:rPr>
              <a:t>Pichara</a:t>
            </a:r>
            <a:r>
              <a:rPr lang="en-US" sz="1800">
                <a:latin typeface="Calibri"/>
                <a:ea typeface="Calibri"/>
                <a:cs typeface="Arial"/>
              </a:rPr>
              <a:t>, K., Brahm, R., Pérez-Galarce, F., &amp; Mery, D. (2023). Distinguishing a planetary transit from false positives: A Transformer-based classification for planetary transit signals. </a:t>
            </a:r>
            <a:r>
              <a:rPr lang="en-US" sz="1800" i="1">
                <a:latin typeface="Calibri"/>
                <a:ea typeface="Calibri"/>
                <a:cs typeface="Arial"/>
              </a:rPr>
              <a:t>Monthly Notices of the Royal Astronomical Society, 522</a:t>
            </a:r>
            <a:r>
              <a:rPr lang="en-US" sz="1800">
                <a:latin typeface="Calibri"/>
                <a:ea typeface="Calibri"/>
                <a:cs typeface="Arial"/>
              </a:rPr>
              <a:t>(3), 3201–3216. https://doi.org/10.1093/mnras/stad1173</a:t>
            </a:r>
            <a:endParaRPr lang="en-US" sz="1800">
              <a:latin typeface="Calibri"/>
              <a:ea typeface="Calibri"/>
            </a:endParaRPr>
          </a:p>
          <a:p>
            <a:pPr marL="400050" indent="-400050">
              <a:buNone/>
            </a:pPr>
            <a:endParaRPr lang="en-US" sz="1800">
              <a:latin typeface="Calibri"/>
              <a:ea typeface="Calibri"/>
              <a:cs typeface="Arial"/>
            </a:endParaRPr>
          </a:p>
          <a:p>
            <a:pPr marL="400050" indent="-400050">
              <a:buNone/>
            </a:pPr>
            <a:r>
              <a:rPr lang="en-US" sz="1800">
                <a:latin typeface="Calibri"/>
                <a:ea typeface="Calibri"/>
              </a:rPr>
              <a:t>Salinas, H., Brahm, R., </a:t>
            </a:r>
            <a:r>
              <a:rPr lang="en-US" sz="1800" err="1">
                <a:latin typeface="Calibri"/>
                <a:ea typeface="Calibri"/>
              </a:rPr>
              <a:t>Olmschenk</a:t>
            </a:r>
            <a:r>
              <a:rPr lang="en-US" sz="1800">
                <a:latin typeface="Calibri"/>
                <a:ea typeface="Calibri"/>
              </a:rPr>
              <a:t>, G., Barry, R. K., </a:t>
            </a:r>
            <a:r>
              <a:rPr lang="en-US" sz="1800" err="1">
                <a:latin typeface="Calibri"/>
                <a:ea typeface="Calibri"/>
              </a:rPr>
              <a:t>Pichara</a:t>
            </a:r>
            <a:r>
              <a:rPr lang="en-US" sz="1800">
                <a:latin typeface="Calibri"/>
                <a:ea typeface="Calibri"/>
              </a:rPr>
              <a:t>, K., Silva, S. I., &amp; Araujo, V. (2025). Exoplanet transit candidate identification in TESS full-frame images via a transformer-based algorithm. </a:t>
            </a:r>
            <a:r>
              <a:rPr lang="en-US" sz="1800" i="1">
                <a:latin typeface="Calibri"/>
                <a:ea typeface="Calibri"/>
              </a:rPr>
              <a:t>Monthly Notices of the Royal Astronomical Society, 538</a:t>
            </a:r>
            <a:r>
              <a:rPr lang="en-US" sz="1800">
                <a:latin typeface="Calibri"/>
                <a:ea typeface="Calibri"/>
              </a:rPr>
              <a:t>(3), 2031–2049. https://doi.org/10.1093/mnras/staf347</a:t>
            </a:r>
          </a:p>
          <a:p>
            <a:pPr marL="0" indent="0">
              <a:buNone/>
            </a:pPr>
            <a:endParaRPr lang="en-US" sz="1800">
              <a:latin typeface="Calibri"/>
              <a:ea typeface="Calibri"/>
            </a:endParaRPr>
          </a:p>
          <a:p>
            <a:pPr>
              <a:buNone/>
            </a:pPr>
            <a:endParaRPr lang="en-US" sz="1800">
              <a:latin typeface="Calibri"/>
              <a:ea typeface="Calibri"/>
              <a:cs typeface="Arial"/>
            </a:endParaRPr>
          </a:p>
          <a:p>
            <a:pPr marL="0" indent="0">
              <a:buNone/>
            </a:pPr>
            <a:endParaRPr lang="en-US" sz="1800"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7742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32ED-7B54-FE16-9A08-497E7EA2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300" b="1">
                <a:cs typeface="Arial"/>
              </a:rPr>
              <a:t>Don’t pay attention to the noise: Learning self-supervised representations of light curves with a denoising time series transformer</a:t>
            </a:r>
            <a:endParaRPr lang="en-US" b="1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87A2-723C-C6AD-1310-8A009DD68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96597"/>
            <a:ext cx="8227876" cy="368854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2400" b="1">
                <a:latin typeface="Arial"/>
                <a:ea typeface="Calibri"/>
              </a:rPr>
              <a:t>Goal</a:t>
            </a:r>
            <a:r>
              <a:rPr lang="en-US" sz="2400">
                <a:latin typeface="Arial"/>
                <a:ea typeface="Calibri"/>
              </a:rPr>
              <a:t>: To create a self-supervised framework that remove noises and repopulates data gaps (imputation) from raw light curves</a:t>
            </a:r>
          </a:p>
          <a:p>
            <a:pPr>
              <a:buNone/>
            </a:pPr>
            <a:r>
              <a:rPr lang="en-US" sz="2400" b="1">
                <a:latin typeface="Arial"/>
                <a:ea typeface="Calibri"/>
              </a:rPr>
              <a:t>Data set: </a:t>
            </a:r>
            <a:r>
              <a:rPr lang="en-US" sz="2400">
                <a:latin typeface="Arial"/>
                <a:ea typeface="Calibri"/>
              </a:rPr>
              <a:t>TESS (raw light curve data)</a:t>
            </a:r>
          </a:p>
          <a:p>
            <a:pPr>
              <a:buNone/>
            </a:pPr>
            <a:r>
              <a:rPr lang="en-US" sz="2400" b="1">
                <a:latin typeface="Arial"/>
                <a:ea typeface="Calibri"/>
              </a:rPr>
              <a:t>Method</a:t>
            </a:r>
            <a:r>
              <a:rPr lang="en-US" sz="2400">
                <a:latin typeface="Arial"/>
                <a:ea typeface="Calibri"/>
              </a:rPr>
              <a:t>: Denoising Time Series Transformer (DTST)</a:t>
            </a:r>
            <a:endParaRPr lang="en-US" sz="2400">
              <a:ea typeface="Calibri"/>
            </a:endParaRPr>
          </a:p>
          <a:p>
            <a:pPr marL="400050" lvl="1" indent="0">
              <a:buNone/>
            </a:pPr>
            <a:r>
              <a:rPr lang="en-US">
                <a:latin typeface="Arial"/>
                <a:ea typeface="Calibri"/>
              </a:rPr>
              <a:t>​​Used 30% masking ratio on light curve data </a:t>
            </a:r>
            <a:endParaRPr lang="en-US">
              <a:latin typeface="Arial"/>
              <a:ea typeface="Calibri"/>
              <a:cs typeface="Arial"/>
            </a:endParaRPr>
          </a:p>
          <a:p>
            <a:pPr marL="400050" lvl="1" indent="0">
              <a:buNone/>
            </a:pPr>
            <a:r>
              <a:rPr lang="en-US">
                <a:latin typeface="Arial"/>
                <a:ea typeface="Calibri"/>
                <a:cs typeface="Arial"/>
              </a:rPr>
              <a:t>Encoder-only, with three layers and eight heads each</a:t>
            </a:r>
          </a:p>
          <a:p>
            <a:pPr marL="400050" indent="-400050">
              <a:buNone/>
            </a:pPr>
            <a:r>
              <a:rPr lang="en-US" sz="2400" b="1">
                <a:latin typeface="Arial"/>
                <a:ea typeface="Calibri"/>
              </a:rPr>
              <a:t>Results: </a:t>
            </a:r>
            <a:r>
              <a:rPr lang="en-US" sz="2400">
                <a:latin typeface="Arial"/>
                <a:ea typeface="Calibri"/>
              </a:rPr>
              <a:t>Lowest residual noise (IQR 0.385%) and lowest error (MAE 0.235%) compared to two other methods</a:t>
            </a:r>
          </a:p>
          <a:p>
            <a:pPr>
              <a:buNone/>
            </a:pPr>
            <a:r>
              <a:rPr lang="en-US" sz="2400" b="1">
                <a:latin typeface="Arial"/>
                <a:ea typeface="Calibri"/>
              </a:rPr>
              <a:t>Impact: </a:t>
            </a:r>
            <a:r>
              <a:rPr lang="en-US" sz="2400">
                <a:latin typeface="Arial"/>
                <a:ea typeface="Calibri"/>
              </a:rPr>
              <a:t>Does not need a fixed sliding window size, greater adaptability to data</a:t>
            </a:r>
          </a:p>
          <a:p>
            <a:endParaRPr lang="en-US">
              <a:latin typeface="Arial"/>
              <a:ea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A10BB-9A45-55D3-C6E3-BD0DE56323D3}"/>
              </a:ext>
            </a:extLst>
          </p:cNvPr>
          <p:cNvSpPr txBox="1"/>
          <p:nvPr/>
        </p:nvSpPr>
        <p:spPr>
          <a:xfrm>
            <a:off x="459269" y="5645110"/>
            <a:ext cx="822546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+mn-lt"/>
                <a:cs typeface="+mn-lt"/>
              </a:rPr>
              <a:t>Morvan, M., Nikolaou, N., Yip, K. H., &amp; Waldmann, I. (2022). Don't pay attention to the noise: Learning self-supervised representations of light curves with a denoising time series transformer. </a:t>
            </a:r>
            <a:r>
              <a:rPr lang="en-US" sz="1000" i="1">
                <a:ea typeface="+mn-lt"/>
                <a:cs typeface="+mn-lt"/>
              </a:rPr>
              <a:t>Proceedings of the Thirty-ninth International Conference on Machine Learning (ICML 2022)</a:t>
            </a:r>
            <a:r>
              <a:rPr lang="en-US" sz="1000">
                <a:ea typeface="+mn-lt"/>
                <a:cs typeface="+mn-lt"/>
              </a:rPr>
              <a:t>. https://arxiv.org/abs/2206.08447</a:t>
            </a:r>
            <a:endParaRPr lang="en-US" sz="1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797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B1111-70DE-19F5-CBCD-95FCAF43A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300" b="1">
                <a:ea typeface="+mj-lt"/>
                <a:cs typeface="+mj-lt"/>
              </a:rPr>
              <a:t>Distinguishing a planetary transit from false positives: A Transformer-based classification for planetary transit signals</a:t>
            </a:r>
            <a:endParaRPr lang="en-US" sz="2300" b="1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0CDAF-888B-883B-B53D-FD2CE01B7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093406" cy="36260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00050" indent="-400050">
              <a:buNone/>
            </a:pPr>
            <a:r>
              <a:rPr lang="en-US" sz="2200" b="1">
                <a:latin typeface="Arial"/>
              </a:rPr>
              <a:t>Goal</a:t>
            </a:r>
            <a:r>
              <a:rPr lang="en-US" sz="2200">
                <a:latin typeface="Arial"/>
              </a:rPr>
              <a:t>: Classify Threshold Crossing Events (TCEs) as either true exoplanet transits or false positives</a:t>
            </a:r>
          </a:p>
          <a:p>
            <a:pPr marL="400050" indent="-400050">
              <a:buNone/>
            </a:pPr>
            <a:r>
              <a:rPr lang="en-US" sz="2200" b="1">
                <a:latin typeface="Arial"/>
              </a:rPr>
              <a:t>Data set</a:t>
            </a:r>
            <a:r>
              <a:rPr lang="en-US" sz="2200">
                <a:latin typeface="Arial"/>
              </a:rPr>
              <a:t>: TESS phase-folded light curves, centroid data</a:t>
            </a:r>
          </a:p>
          <a:p>
            <a:pPr marL="400050" indent="-400050">
              <a:buNone/>
            </a:pPr>
            <a:r>
              <a:rPr lang="en-US" sz="2200" b="1">
                <a:latin typeface="Arial"/>
              </a:rPr>
              <a:t>Method</a:t>
            </a:r>
            <a:r>
              <a:rPr lang="en-US" sz="2200">
                <a:latin typeface="Arial"/>
              </a:rPr>
              <a:t>: CNN tokenization, then positional data embedding, then three encoder layers, each containing four multi-head self-attention layers, with four heads each</a:t>
            </a:r>
            <a:endParaRPr lang="en-US" sz="2200"/>
          </a:p>
          <a:p>
            <a:pPr marL="400050" indent="-400050">
              <a:buNone/>
            </a:pPr>
            <a:r>
              <a:rPr lang="en-US" sz="2200" b="1">
                <a:latin typeface="Arial"/>
              </a:rPr>
              <a:t>Results</a:t>
            </a:r>
            <a:r>
              <a:rPr lang="en-US" sz="2200">
                <a:latin typeface="Arial"/>
              </a:rPr>
              <a:t>: Achieved competitive performance with CNNs with average precision, recall, and F1 ≈ 0.88</a:t>
            </a:r>
          </a:p>
          <a:p>
            <a:pPr marL="400050" indent="-400050">
              <a:buNone/>
            </a:pPr>
            <a:r>
              <a:rPr lang="en-US" sz="2200" b="1">
                <a:latin typeface="Arial"/>
              </a:rPr>
              <a:t>Impact</a:t>
            </a:r>
            <a:r>
              <a:rPr lang="en-US" sz="2200">
                <a:latin typeface="Arial"/>
              </a:rPr>
              <a:t>: Transformers can match CNN accuracy</a:t>
            </a:r>
          </a:p>
          <a:p>
            <a:pPr marL="400050" indent="-400050"/>
            <a:endParaRPr lang="en-US" sz="2200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 sz="1200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B5D4C-E145-2ECB-5E6D-E122F16C8F34}"/>
              </a:ext>
            </a:extLst>
          </p:cNvPr>
          <p:cNvSpPr txBox="1"/>
          <p:nvPr/>
        </p:nvSpPr>
        <p:spPr>
          <a:xfrm>
            <a:off x="457938" y="5644801"/>
            <a:ext cx="809982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cs typeface="Arial"/>
              </a:rPr>
              <a:t>Salinas, H., </a:t>
            </a:r>
            <a:r>
              <a:rPr lang="en-US" sz="1000" err="1">
                <a:cs typeface="Arial"/>
              </a:rPr>
              <a:t>Pichara</a:t>
            </a:r>
            <a:r>
              <a:rPr lang="en-US" sz="1000">
                <a:cs typeface="Arial"/>
              </a:rPr>
              <a:t>, K., Brahm, R., Pérez-Galarce, F., &amp; Mery, D. (2023). Distinguishing a planetary transit from false positives: A Transformer-based classification for planetary transit signals. </a:t>
            </a:r>
            <a:r>
              <a:rPr lang="en-US" sz="1000" i="1">
                <a:cs typeface="Arial"/>
              </a:rPr>
              <a:t>Monthly Notices of the Royal Astronomical Society, 522</a:t>
            </a:r>
            <a:r>
              <a:rPr lang="en-US" sz="1000">
                <a:cs typeface="Arial"/>
              </a:rPr>
              <a:t>(3), 3201–3216. https://doi.org/10.1093/mnras/stad1173</a:t>
            </a:r>
          </a:p>
        </p:txBody>
      </p:sp>
    </p:spTree>
    <p:extLst>
      <p:ext uri="{BB962C8B-B14F-4D97-AF65-F5344CB8AC3E}">
        <p14:creationId xmlns:p14="http://schemas.microsoft.com/office/powerpoint/2010/main" val="3364297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ADBD-AE6F-121D-642C-DD9905D7B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300" b="1">
                <a:solidFill>
                  <a:srgbClr val="2A2A2A"/>
                </a:solidFill>
                <a:latin typeface="Arial"/>
                <a:cs typeface="Arial"/>
              </a:rPr>
              <a:t>Exoplanet transit candidate identification in </a:t>
            </a:r>
            <a:r>
              <a:rPr lang="en-US" sz="2300" b="1" i="1">
                <a:solidFill>
                  <a:srgbClr val="2A2A2A"/>
                </a:solidFill>
                <a:latin typeface="Arial"/>
                <a:cs typeface="Arial"/>
              </a:rPr>
              <a:t>TESS</a:t>
            </a:r>
            <a:r>
              <a:rPr lang="en-US" sz="2300" b="1">
                <a:solidFill>
                  <a:srgbClr val="2A2A2A"/>
                </a:solidFill>
                <a:latin typeface="Arial"/>
                <a:cs typeface="Arial"/>
              </a:rPr>
              <a:t> full-frame images via a transformer-based algorithm</a:t>
            </a:r>
            <a:endParaRPr lang="en-US" sz="230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356BC-D69E-A0C0-29B8-B78B257AE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486472" cy="378120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00050" indent="-400050">
              <a:buNone/>
            </a:pPr>
            <a:r>
              <a:rPr lang="en-US" sz="2050" b="1">
                <a:latin typeface="Arial"/>
                <a:ea typeface="Calibri"/>
                <a:cs typeface="Arial"/>
              </a:rPr>
              <a:t>Goal</a:t>
            </a:r>
            <a:r>
              <a:rPr lang="en-US" sz="2050">
                <a:latin typeface="Arial"/>
                <a:ea typeface="Calibri"/>
                <a:cs typeface="Arial"/>
              </a:rPr>
              <a:t>: Identify exoplanet candidates in TESS Full Frame Images (FFIs) without relying on phase folding or periodicity assumptions</a:t>
            </a:r>
            <a:endParaRPr lang="en-US" sz="2050">
              <a:ea typeface="Calibri"/>
              <a:cs typeface="Arial"/>
            </a:endParaRPr>
          </a:p>
          <a:p>
            <a:pPr marL="400050" indent="-400050">
              <a:buNone/>
            </a:pPr>
            <a:r>
              <a:rPr lang="en-US" sz="2050" b="1">
                <a:latin typeface="Arial"/>
                <a:ea typeface="Calibri"/>
                <a:cs typeface="Arial"/>
              </a:rPr>
              <a:t>Data set</a:t>
            </a:r>
            <a:r>
              <a:rPr lang="en-US" sz="2050">
                <a:latin typeface="Arial"/>
                <a:ea typeface="Calibri"/>
                <a:cs typeface="Arial"/>
              </a:rPr>
              <a:t>: TESS raw full-frame images, centroid data, background flux time series, artificially injected light curves</a:t>
            </a:r>
          </a:p>
          <a:p>
            <a:pPr marL="400050" indent="-400050">
              <a:buNone/>
            </a:pPr>
            <a:r>
              <a:rPr lang="en-US" sz="2050" b="1">
                <a:latin typeface="Arial"/>
                <a:ea typeface="Calibri"/>
                <a:cs typeface="Arial"/>
              </a:rPr>
              <a:t>Method</a:t>
            </a:r>
            <a:r>
              <a:rPr lang="en-US" sz="2050">
                <a:latin typeface="Arial"/>
                <a:ea typeface="Calibri"/>
                <a:cs typeface="Arial"/>
              </a:rPr>
              <a:t>: 2-layer CNN data tokenization, then positional embedding, then one encoder with four multi-head layers, each with four heads</a:t>
            </a:r>
            <a:endParaRPr lang="en-US" sz="2050"/>
          </a:p>
          <a:p>
            <a:pPr marL="400050" indent="-400050">
              <a:buNone/>
            </a:pPr>
            <a:r>
              <a:rPr lang="en-US" sz="2050" b="1">
                <a:latin typeface="Arial"/>
                <a:ea typeface="Calibri"/>
                <a:cs typeface="Arial"/>
              </a:rPr>
              <a:t>Results</a:t>
            </a:r>
            <a:r>
              <a:rPr lang="en-US" sz="2050">
                <a:latin typeface="Arial"/>
                <a:ea typeface="Calibri"/>
                <a:cs typeface="Arial"/>
              </a:rPr>
              <a:t>: Average AUC of 0.88 and F1 score of 0.82. Then observed more than 4 million light curves, indicating 0.1% were possible candidates, 25% of which were valid candidates</a:t>
            </a:r>
            <a:endParaRPr lang="en-US" sz="2050">
              <a:ea typeface="Calibri"/>
              <a:cs typeface="Arial"/>
            </a:endParaRPr>
          </a:p>
          <a:p>
            <a:pPr marL="400050" indent="-400050">
              <a:buNone/>
            </a:pPr>
            <a:r>
              <a:rPr lang="en-US" sz="2050" b="1">
                <a:latin typeface="Arial"/>
                <a:ea typeface="Calibri"/>
                <a:cs typeface="Arial"/>
              </a:rPr>
              <a:t>Impact</a:t>
            </a:r>
            <a:r>
              <a:rPr lang="en-US" sz="2050">
                <a:latin typeface="Arial"/>
                <a:ea typeface="Calibri"/>
                <a:cs typeface="Arial"/>
              </a:rPr>
              <a:t>: Successfully identified 214 new planetary candidates, including 88 single-transit candidates, indicates high ability to generalize</a:t>
            </a:r>
            <a:endParaRPr lang="en-US" sz="2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62690-631A-1088-E8F0-1C7BA734E26C}"/>
              </a:ext>
            </a:extLst>
          </p:cNvPr>
          <p:cNvSpPr txBox="1"/>
          <p:nvPr/>
        </p:nvSpPr>
        <p:spPr>
          <a:xfrm>
            <a:off x="459269" y="5641559"/>
            <a:ext cx="8090991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Salinas, H., Brahm, R., </a:t>
            </a:r>
            <a:r>
              <a:rPr lang="en-US" sz="1000" err="1"/>
              <a:t>Olmschenk</a:t>
            </a:r>
            <a:r>
              <a:rPr lang="en-US" sz="1000"/>
              <a:t>, G., Barry, R. K., </a:t>
            </a:r>
            <a:r>
              <a:rPr lang="en-US" sz="1000" err="1"/>
              <a:t>Pichara</a:t>
            </a:r>
            <a:r>
              <a:rPr lang="en-US" sz="1000"/>
              <a:t>, K., Silva, S. I., &amp; Araujo, V. (2025). Exoplanet transit candidate identification in TESS full-frame images via a transformer-based algorithm. </a:t>
            </a:r>
            <a:r>
              <a:rPr lang="en-US" sz="1000" i="1"/>
              <a:t>Monthly Notices of the Royal Astronomical Society, 538</a:t>
            </a:r>
            <a:r>
              <a:rPr lang="en-US" sz="1000"/>
              <a:t>(3), 2031–2049. https://doi.org/10.1093/mnras/staf347</a:t>
            </a:r>
            <a:endParaRPr lang="en-US" sz="1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8166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C181-CA46-92EF-BA5F-532D9FFD7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cs typeface="Arial"/>
              </a:rPr>
              <a:t>RNN Research Papers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716D8-43B1-861B-11F7-B01F19E512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994736" cy="45259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>
                <a:latin typeface="Arial"/>
                <a:cs typeface="Arial"/>
              </a:rPr>
              <a:t>Vida, K., Bódi, A., Szklenár, T., &amp; Seli, B. (2021). Finding flares in Kepler and TESS data with recurrent deep neural networks. </a:t>
            </a:r>
            <a:r>
              <a:rPr lang="en-US" sz="2000" i="1">
                <a:latin typeface="Arial"/>
                <a:cs typeface="Arial"/>
              </a:rPr>
              <a:t>Astronomy &amp; Astrophysics, 652</a:t>
            </a:r>
            <a:r>
              <a:rPr lang="en-US" sz="2000">
                <a:latin typeface="Arial"/>
                <a:cs typeface="Arial"/>
              </a:rPr>
              <a:t>, A107.</a:t>
            </a:r>
            <a:endParaRPr lang="en-US">
              <a:latin typeface="Arial"/>
            </a:endParaRPr>
          </a:p>
          <a:p>
            <a:pPr marL="0" indent="0">
              <a:buNone/>
            </a:pPr>
            <a:r>
              <a:rPr lang="en-US" sz="2000">
                <a:latin typeface="Arial"/>
                <a:cs typeface="Arial"/>
              </a:rPr>
              <a:t>Kügler, S. D., Gianniotis, N., &amp; Polsterer, K. L. (2016). An explorative approach for inspecting Kepler data. </a:t>
            </a:r>
            <a:r>
              <a:rPr lang="en-US" sz="2000" i="1">
                <a:latin typeface="Arial"/>
                <a:cs typeface="Arial"/>
              </a:rPr>
              <a:t>Monthly Notices of the Royal Astronomical Society, 455</a:t>
            </a:r>
            <a:r>
              <a:rPr lang="en-US" sz="2000">
                <a:latin typeface="Arial"/>
                <a:cs typeface="Arial"/>
              </a:rPr>
              <a:t>(4), 4399–4405.</a:t>
            </a:r>
            <a:endParaRPr lang="en-US">
              <a:latin typeface="Arial"/>
            </a:endParaRPr>
          </a:p>
          <a:p>
            <a:pPr marL="0" indent="0">
              <a:buNone/>
            </a:pPr>
            <a:r>
              <a:rPr lang="en-US" sz="2000">
                <a:latin typeface="Arial"/>
                <a:cs typeface="Arial"/>
              </a:rPr>
              <a:t>Du, N., Dai, H., Trivedi, R., Upadhyay, U., Gomez-Rodriguez, M., &amp; Song, L. (2016). Recurrent marked temporal point processes: Embedding event history to vector. In </a:t>
            </a:r>
            <a:r>
              <a:rPr lang="en-US" sz="2000" i="1">
                <a:latin typeface="Arial"/>
                <a:cs typeface="Arial"/>
              </a:rPr>
              <a:t>Proceedings of the 22nd ACM SIGKDD International Conference on Knowledge Discovery and Data Mining</a:t>
            </a:r>
            <a:r>
              <a:rPr lang="en-US" sz="2000">
                <a:latin typeface="Arial"/>
                <a:cs typeface="Arial"/>
              </a:rPr>
              <a:t> (pp. 1555–1564). New York, NY: ACM.</a:t>
            </a:r>
            <a:endParaRPr lang="en-US">
              <a:latin typeface="Arial"/>
            </a:endParaRPr>
          </a:p>
          <a:p>
            <a:pPr marL="0" indent="0">
              <a:buNone/>
            </a:pPr>
            <a:endParaRPr lang="en-US" sz="2000">
              <a:latin typeface="Arial"/>
              <a:cs typeface="Arial"/>
            </a:endParaRPr>
          </a:p>
          <a:p>
            <a:pPr marL="0" indent="0">
              <a:buNone/>
            </a:pPr>
            <a:endParaRPr lang="en-US" sz="100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105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58C68-58E8-8B61-1535-77FD686D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10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i="1">
                <a:cs typeface="Arial"/>
              </a:rPr>
              <a:t>Finding flares in Kepler and TESS data with recurrent deep neural networks</a:t>
            </a:r>
            <a:br>
              <a:rPr lang="en-US" sz="2000" i="1">
                <a:cs typeface="Arial"/>
              </a:rPr>
            </a:br>
            <a:br>
              <a:rPr lang="en-US" sz="2000" i="1">
                <a:cs typeface="Arial"/>
              </a:rPr>
            </a:br>
            <a:r>
              <a:rPr lang="en-US" sz="1800" b="1">
                <a:ea typeface="+mj-lt"/>
                <a:cs typeface="+mj-lt"/>
              </a:rPr>
              <a:t>Why RNN:</a:t>
            </a:r>
            <a:r>
              <a:rPr lang="en-US" sz="1800">
                <a:ea typeface="+mj-lt"/>
                <a:cs typeface="+mj-lt"/>
              </a:rPr>
              <a:t> Long, noisy light curves → need memory of past context.</a:t>
            </a:r>
            <a:br>
              <a:rPr lang="en-US" sz="1800">
                <a:ea typeface="+mj-lt"/>
                <a:cs typeface="+mj-lt"/>
              </a:rPr>
            </a:br>
            <a:endParaRPr lang="en-US" sz="1800" i="1">
              <a:cs typeface="Arial"/>
            </a:endParaRPr>
          </a:p>
          <a:p>
            <a:r>
              <a:rPr lang="en-US" sz="1800" b="1">
                <a:ea typeface="+mj-lt"/>
                <a:cs typeface="+mj-lt"/>
              </a:rPr>
              <a:t>Data / tools:</a:t>
            </a:r>
            <a:r>
              <a:rPr lang="en-US" sz="1800">
                <a:ea typeface="+mj-lt"/>
                <a:cs typeface="+mj-lt"/>
              </a:rPr>
              <a:t> Kepler (train) → TESS (test); automated flare detection..</a:t>
            </a:r>
            <a:br>
              <a:rPr lang="en-US" sz="1800">
                <a:ea typeface="+mj-lt"/>
                <a:cs typeface="+mj-lt"/>
              </a:rPr>
            </a:br>
            <a:endParaRPr lang="en-US" sz="1800">
              <a:cs typeface="Arial"/>
            </a:endParaRPr>
          </a:p>
          <a:p>
            <a:r>
              <a:rPr lang="en-US" sz="1800" b="1">
                <a:ea typeface="+mj-lt"/>
                <a:cs typeface="+mj-lt"/>
              </a:rPr>
              <a:t>RNN used:</a:t>
            </a:r>
            <a:r>
              <a:rPr lang="en-US" sz="1800">
                <a:ea typeface="+mj-lt"/>
                <a:cs typeface="+mj-lt"/>
              </a:rPr>
              <a:t> Stacked </a:t>
            </a:r>
            <a:r>
              <a:rPr lang="en-US" sz="1800" b="1">
                <a:ea typeface="+mj-lt"/>
                <a:cs typeface="+mj-lt"/>
              </a:rPr>
              <a:t>LSTM</a:t>
            </a:r>
            <a:r>
              <a:rPr lang="en-US" sz="1800">
                <a:ea typeface="+mj-lt"/>
                <a:cs typeface="+mj-lt"/>
              </a:rPr>
              <a:t> + dropout; sigmoid output (binary).</a:t>
            </a:r>
            <a:br>
              <a:rPr lang="en-US" sz="1800">
                <a:ea typeface="+mj-lt"/>
                <a:cs typeface="+mj-lt"/>
              </a:rPr>
            </a:br>
            <a:endParaRPr lang="en-US" sz="1800">
              <a:cs typeface="Arial"/>
            </a:endParaRPr>
          </a:p>
          <a:p>
            <a:r>
              <a:rPr lang="en-US" sz="1800" b="1">
                <a:ea typeface="+mj-lt"/>
                <a:cs typeface="+mj-lt"/>
              </a:rPr>
              <a:t>Why this RNN:</a:t>
            </a:r>
            <a:r>
              <a:rPr lang="en-US" sz="1800">
                <a:ea typeface="+mj-lt"/>
                <a:cs typeface="+mj-lt"/>
              </a:rPr>
              <a:t> LSTM &gt; GRU/CNN here for temporal dependencies.</a:t>
            </a:r>
          </a:p>
          <a:p>
            <a:br>
              <a:rPr lang="en-US" sz="1800" i="1">
                <a:cs typeface="Arial"/>
              </a:rPr>
            </a:br>
            <a:r>
              <a:rPr lang="en-US" sz="1800" b="1">
                <a:ea typeface="+mj-lt"/>
                <a:cs typeface="+mj-lt"/>
              </a:rPr>
              <a:t>Success:</a:t>
            </a:r>
            <a:r>
              <a:rPr lang="en-US" sz="1800">
                <a:ea typeface="+mj-lt"/>
                <a:cs typeface="+mj-lt"/>
              </a:rPr>
              <a:t> ≈</a:t>
            </a:r>
            <a:r>
              <a:rPr lang="en-US" sz="1800" b="1">
                <a:ea typeface="+mj-lt"/>
                <a:cs typeface="+mj-lt"/>
              </a:rPr>
              <a:t>80–90%</a:t>
            </a:r>
            <a:r>
              <a:rPr lang="en-US" sz="1800">
                <a:ea typeface="+mj-lt"/>
                <a:cs typeface="+mj-lt"/>
              </a:rPr>
              <a:t> precision/recall for strong flares; </a:t>
            </a:r>
            <a:r>
              <a:rPr lang="en-US" sz="1800" b="1" err="1">
                <a:ea typeface="+mj-lt"/>
                <a:cs typeface="+mj-lt"/>
              </a:rPr>
              <a:t>Kepler→TESS</a:t>
            </a:r>
            <a:r>
              <a:rPr lang="en-US" sz="1800">
                <a:ea typeface="+mj-lt"/>
                <a:cs typeface="+mj-lt"/>
              </a:rPr>
              <a:t> transfer.</a:t>
            </a:r>
            <a:br>
              <a:rPr lang="en-US" sz="1800">
                <a:ea typeface="+mj-lt"/>
                <a:cs typeface="+mj-lt"/>
              </a:rPr>
            </a:br>
            <a:br>
              <a:rPr lang="en-US" sz="1800">
                <a:ea typeface="+mj-lt"/>
                <a:cs typeface="+mj-lt"/>
              </a:rPr>
            </a:br>
            <a:r>
              <a:rPr lang="en-US" sz="1800" b="1">
                <a:ea typeface="+mj-lt"/>
                <a:cs typeface="+mj-lt"/>
              </a:rPr>
              <a:t>My takeaway:</a:t>
            </a:r>
            <a:r>
              <a:rPr lang="en-US" sz="1800">
                <a:ea typeface="+mj-lt"/>
                <a:cs typeface="+mj-lt"/>
              </a:rPr>
              <a:t> Start with 2–3×LSTM (128–256), class weighting, dropout, early stopping; include hard negatives.</a:t>
            </a:r>
            <a:endParaRPr lang="en-US" sz="1800" i="1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67519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ADAB552-0974-F279-CF0B-34C72466A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232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875B4-7A16-9CBA-6CF8-23C755C7D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897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i="1">
                <a:cs typeface="Arial"/>
              </a:rPr>
              <a:t>An explorative approach for inspecting Kepler data</a:t>
            </a:r>
            <a:br>
              <a:rPr lang="en-US" sz="2000" i="1">
                <a:cs typeface="Arial"/>
              </a:rPr>
            </a:br>
            <a:br>
              <a:rPr lang="en-US" sz="2000" i="1">
                <a:cs typeface="Arial"/>
              </a:rPr>
            </a:br>
            <a:r>
              <a:rPr lang="en-US" sz="1800" b="1">
                <a:ea typeface="+mj-lt"/>
                <a:cs typeface="+mj-lt"/>
              </a:rPr>
              <a:t>Why RNN/seq model:</a:t>
            </a:r>
            <a:r>
              <a:rPr lang="en-US" sz="1800">
                <a:ea typeface="+mj-lt"/>
                <a:cs typeface="+mj-lt"/>
              </a:rPr>
              <a:t> Capture full </a:t>
            </a:r>
            <a:r>
              <a:rPr lang="en-US" sz="1800" b="1">
                <a:ea typeface="+mj-lt"/>
                <a:cs typeface="+mj-lt"/>
              </a:rPr>
              <a:t>sequence dynamics</a:t>
            </a:r>
            <a:r>
              <a:rPr lang="en-US" sz="1800">
                <a:ea typeface="+mj-lt"/>
                <a:cs typeface="+mj-lt"/>
              </a:rPr>
              <a:t> of Kepler curves.</a:t>
            </a:r>
            <a:br>
              <a:rPr lang="en-US" sz="1800">
                <a:ea typeface="+mj-lt"/>
                <a:cs typeface="+mj-lt"/>
              </a:rPr>
            </a:br>
            <a:endParaRPr lang="en-US" sz="1800" i="1">
              <a:cs typeface="Arial"/>
            </a:endParaRPr>
          </a:p>
          <a:p>
            <a:r>
              <a:rPr lang="en-US" sz="1800" b="1">
                <a:ea typeface="+mj-lt"/>
                <a:cs typeface="+mj-lt"/>
              </a:rPr>
              <a:t>Data / tools:</a:t>
            </a:r>
            <a:r>
              <a:rPr lang="en-US" sz="1800">
                <a:ea typeface="+mj-lt"/>
                <a:cs typeface="+mj-lt"/>
              </a:rPr>
              <a:t> Kepler; </a:t>
            </a:r>
            <a:r>
              <a:rPr lang="en-US" sz="1800" b="1">
                <a:ea typeface="+mj-lt"/>
                <a:cs typeface="+mj-lt"/>
              </a:rPr>
              <a:t>ESN</a:t>
            </a:r>
            <a:r>
              <a:rPr lang="en-US" sz="1800">
                <a:ea typeface="+mj-lt"/>
                <a:cs typeface="+mj-lt"/>
              </a:rPr>
              <a:t> reservoir + </a:t>
            </a:r>
            <a:r>
              <a:rPr lang="en-US" sz="1800" b="1">
                <a:ea typeface="+mj-lt"/>
                <a:cs typeface="+mj-lt"/>
              </a:rPr>
              <a:t>autoencoder</a:t>
            </a:r>
            <a:r>
              <a:rPr lang="en-US" sz="1800">
                <a:ea typeface="+mj-lt"/>
                <a:cs typeface="+mj-lt"/>
              </a:rPr>
              <a:t> (sequence-aware).</a:t>
            </a:r>
            <a:endParaRPr lang="en-US" sz="1800">
              <a:cs typeface="Arial"/>
            </a:endParaRPr>
          </a:p>
          <a:p>
            <a:r>
              <a:rPr lang="en-US" sz="1800">
                <a:ea typeface="+mj-lt"/>
                <a:cs typeface="+mj-lt"/>
              </a:rPr>
              <a:t>Success: Better clustering/visualization of dynamics than PCA/plain AE.</a:t>
            </a:r>
            <a:br>
              <a:rPr lang="en-US" sz="1800">
                <a:ea typeface="+mj-lt"/>
                <a:cs typeface="+mj-lt"/>
              </a:rPr>
            </a:br>
            <a:endParaRPr lang="en-US" sz="1800">
              <a:cs typeface="Arial"/>
            </a:endParaRPr>
          </a:p>
          <a:p>
            <a:r>
              <a:rPr lang="en-US" sz="1800" b="1">
                <a:ea typeface="+mj-lt"/>
                <a:cs typeface="+mj-lt"/>
              </a:rPr>
              <a:t>RNN used:</a:t>
            </a:r>
            <a:r>
              <a:rPr lang="en-US" sz="1800">
                <a:ea typeface="+mj-lt"/>
                <a:cs typeface="+mj-lt"/>
              </a:rPr>
              <a:t> </a:t>
            </a:r>
            <a:r>
              <a:rPr lang="en-US" sz="1800" b="1">
                <a:ea typeface="+mj-lt"/>
                <a:cs typeface="+mj-lt"/>
              </a:rPr>
              <a:t>Echo State Network (ESN)</a:t>
            </a:r>
            <a:r>
              <a:rPr lang="en-US" sz="1800">
                <a:ea typeface="+mj-lt"/>
                <a:cs typeface="+mj-lt"/>
              </a:rPr>
              <a:t> reservoir + </a:t>
            </a:r>
            <a:r>
              <a:rPr lang="en-US" sz="1800" b="1">
                <a:ea typeface="+mj-lt"/>
                <a:cs typeface="+mj-lt"/>
              </a:rPr>
              <a:t>autoencoder</a:t>
            </a:r>
            <a:r>
              <a:rPr lang="en-US" sz="1800">
                <a:ea typeface="+mj-lt"/>
                <a:cs typeface="+mj-lt"/>
              </a:rPr>
              <a:t> (ESN-AE).</a:t>
            </a:r>
            <a:br>
              <a:rPr lang="en-US" sz="1800">
                <a:ea typeface="+mj-lt"/>
                <a:cs typeface="+mj-lt"/>
              </a:rPr>
            </a:br>
            <a:br>
              <a:rPr lang="en-US" sz="1800">
                <a:ea typeface="+mj-lt"/>
                <a:cs typeface="+mj-lt"/>
              </a:rPr>
            </a:br>
            <a:r>
              <a:rPr lang="en-US" sz="1800" b="1">
                <a:ea typeface="+mj-lt"/>
                <a:cs typeface="+mj-lt"/>
              </a:rPr>
              <a:t>Why this RNN:</a:t>
            </a:r>
            <a:r>
              <a:rPr lang="en-US" sz="1800">
                <a:ea typeface="+mj-lt"/>
                <a:cs typeface="+mj-lt"/>
              </a:rPr>
              <a:t> ESN gives fast recurrent state; optimize in </a:t>
            </a:r>
            <a:r>
              <a:rPr lang="en-US" sz="1800" b="1">
                <a:ea typeface="+mj-lt"/>
                <a:cs typeface="+mj-lt"/>
              </a:rPr>
              <a:t>sequence space</a:t>
            </a:r>
            <a:r>
              <a:rPr lang="en-US" sz="1800">
                <a:ea typeface="+mj-lt"/>
                <a:cs typeface="+mj-lt"/>
              </a:rPr>
              <a:t>.</a:t>
            </a:r>
            <a:br>
              <a:rPr lang="en-US" sz="1800">
                <a:ea typeface="+mj-lt"/>
                <a:cs typeface="+mj-lt"/>
              </a:rPr>
            </a:br>
            <a:br>
              <a:rPr lang="en-US" sz="1800">
                <a:ea typeface="+mj-lt"/>
                <a:cs typeface="+mj-lt"/>
              </a:rPr>
            </a:br>
            <a:r>
              <a:rPr lang="en-US" sz="1800" b="1">
                <a:ea typeface="+mj-lt"/>
                <a:cs typeface="+mj-lt"/>
              </a:rPr>
              <a:t>Success:</a:t>
            </a:r>
            <a:r>
              <a:rPr lang="en-US" sz="1800">
                <a:ea typeface="+mj-lt"/>
                <a:cs typeface="+mj-lt"/>
              </a:rPr>
              <a:t> Clearer clustering/visualization vs. PCA/plain AE (qualitative SOTA).</a:t>
            </a:r>
            <a:br>
              <a:rPr lang="en-US" sz="1800">
                <a:ea typeface="+mj-lt"/>
                <a:cs typeface="+mj-lt"/>
              </a:rPr>
            </a:br>
            <a:br>
              <a:rPr lang="en-US" sz="1800">
                <a:ea typeface="+mj-lt"/>
                <a:cs typeface="+mj-lt"/>
              </a:rPr>
            </a:br>
            <a:r>
              <a:rPr lang="en-US" sz="1800" b="1">
                <a:ea typeface="+mj-lt"/>
                <a:cs typeface="+mj-lt"/>
              </a:rPr>
              <a:t>My takeaway:</a:t>
            </a:r>
            <a:r>
              <a:rPr lang="en-US" sz="1800">
                <a:ea typeface="+mj-lt"/>
                <a:cs typeface="+mj-lt"/>
              </a:rPr>
              <a:t> Use </a:t>
            </a:r>
            <a:r>
              <a:rPr lang="en-US" sz="1800" b="1">
                <a:ea typeface="+mj-lt"/>
                <a:cs typeface="+mj-lt"/>
              </a:rPr>
              <a:t>sequence-aware diagnostics/objectives</a:t>
            </a:r>
            <a:r>
              <a:rPr lang="en-US" sz="1800">
                <a:ea typeface="+mj-lt"/>
                <a:cs typeface="+mj-lt"/>
              </a:rPr>
              <a:t>; inspect scores over time, not just final embeddings.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0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38B1FE2-B3B5-A932-B837-E8E7CF1EA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38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59064-0A00-627F-3332-0A9DD2D3F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166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i="1">
                <a:cs typeface="Arial"/>
              </a:rPr>
              <a:t>Recurrent marked temporal point processes: Embedding event history to vector</a:t>
            </a:r>
            <a:br>
              <a:rPr lang="en-US" sz="2000" i="1">
                <a:cs typeface="Arial"/>
              </a:rPr>
            </a:br>
            <a:br>
              <a:rPr lang="en-US" sz="2000" i="1">
                <a:cs typeface="+mj-lt"/>
              </a:rPr>
            </a:br>
            <a:r>
              <a:rPr lang="en-US" sz="1800" b="1">
                <a:ea typeface="+mj-lt"/>
                <a:cs typeface="+mj-lt"/>
              </a:rPr>
              <a:t>Why RNN:</a:t>
            </a:r>
            <a:r>
              <a:rPr lang="en-US" sz="1800">
                <a:ea typeface="+mj-lt"/>
                <a:cs typeface="+mj-lt"/>
              </a:rPr>
              <a:t> Need model of </a:t>
            </a:r>
            <a:r>
              <a:rPr lang="en-US" sz="1800" b="1">
                <a:ea typeface="+mj-lt"/>
                <a:cs typeface="+mj-lt"/>
              </a:rPr>
              <a:t>event timing</a:t>
            </a:r>
            <a:r>
              <a:rPr lang="en-US" sz="1800">
                <a:ea typeface="+mj-lt"/>
                <a:cs typeface="+mj-lt"/>
              </a:rPr>
              <a:t> + type, not just labels.</a:t>
            </a:r>
            <a:br>
              <a:rPr lang="en-US" sz="1800">
                <a:ea typeface="+mj-lt"/>
                <a:cs typeface="+mj-lt"/>
              </a:rPr>
            </a:br>
            <a:endParaRPr lang="en-US" sz="1800" i="1">
              <a:cs typeface="Arial"/>
            </a:endParaRPr>
          </a:p>
          <a:p>
            <a:r>
              <a:rPr lang="en-US" sz="1800" b="1">
                <a:ea typeface="+mj-lt"/>
                <a:cs typeface="+mj-lt"/>
              </a:rPr>
              <a:t>Data / tools:</a:t>
            </a:r>
            <a:r>
              <a:rPr lang="en-US" sz="1800">
                <a:ea typeface="+mj-lt"/>
                <a:cs typeface="+mj-lt"/>
              </a:rPr>
              <a:t> General event streams; </a:t>
            </a:r>
            <a:r>
              <a:rPr lang="en-US" sz="1800" b="1">
                <a:ea typeface="+mj-lt"/>
                <a:cs typeface="+mj-lt"/>
              </a:rPr>
              <a:t>RMTPP</a:t>
            </a:r>
            <a:r>
              <a:rPr lang="en-US" sz="1800">
                <a:ea typeface="+mj-lt"/>
                <a:cs typeface="+mj-lt"/>
              </a:rPr>
              <a:t> with RNN history encoder.</a:t>
            </a:r>
            <a:br>
              <a:rPr lang="en-US" sz="1800">
                <a:ea typeface="+mj-lt"/>
                <a:cs typeface="+mj-lt"/>
              </a:rPr>
            </a:br>
            <a:endParaRPr lang="en-US" sz="1800">
              <a:ea typeface="+mj-lt"/>
              <a:cs typeface="+mj-lt"/>
            </a:endParaRPr>
          </a:p>
          <a:p>
            <a:r>
              <a:rPr lang="en-US" sz="1800" b="1">
                <a:ea typeface="+mj-lt"/>
                <a:cs typeface="+mj-lt"/>
              </a:rPr>
              <a:t>RNN used (specific):</a:t>
            </a:r>
            <a:r>
              <a:rPr lang="en-US" sz="1800">
                <a:ea typeface="+mj-lt"/>
                <a:cs typeface="+mj-lt"/>
              </a:rPr>
              <a:t> </a:t>
            </a:r>
            <a:r>
              <a:rPr lang="en-US" sz="1800" b="1">
                <a:ea typeface="+mj-lt"/>
                <a:cs typeface="+mj-lt"/>
              </a:rPr>
              <a:t>RMTPP</a:t>
            </a:r>
            <a:r>
              <a:rPr lang="en-US" sz="1800">
                <a:ea typeface="+mj-lt"/>
                <a:cs typeface="+mj-lt"/>
              </a:rPr>
              <a:t> with an </a:t>
            </a:r>
            <a:r>
              <a:rPr lang="en-US" sz="1800" b="1">
                <a:ea typeface="+mj-lt"/>
                <a:cs typeface="+mj-lt"/>
              </a:rPr>
              <a:t>RNN history encoder</a:t>
            </a:r>
            <a:r>
              <a:rPr lang="en-US" sz="1800">
                <a:ea typeface="+mj-lt"/>
                <a:cs typeface="+mj-lt"/>
              </a:rPr>
              <a:t> (tanh-RNN in the formulation) to parametrize intensity.</a:t>
            </a:r>
            <a:br>
              <a:rPr lang="en-US" sz="1800">
                <a:ea typeface="+mj-lt"/>
                <a:cs typeface="+mj-lt"/>
              </a:rPr>
            </a:br>
            <a:endParaRPr lang="en-US" sz="1800">
              <a:cs typeface="Arial"/>
            </a:endParaRPr>
          </a:p>
          <a:p>
            <a:r>
              <a:rPr lang="en-US" sz="1800" b="1">
                <a:ea typeface="+mj-lt"/>
                <a:cs typeface="+mj-lt"/>
              </a:rPr>
              <a:t>Why this RNN:</a:t>
            </a:r>
            <a:r>
              <a:rPr lang="en-US" sz="1800">
                <a:ea typeface="+mj-lt"/>
                <a:cs typeface="+mj-lt"/>
              </a:rPr>
              <a:t> Non-parametric timing from history; flexible vs. fixed forms.</a:t>
            </a:r>
          </a:p>
          <a:p>
            <a:br>
              <a:rPr lang="en-US" sz="1800" i="1">
                <a:cs typeface="Arial"/>
              </a:rPr>
            </a:br>
            <a:r>
              <a:rPr lang="en-US" sz="1800" b="1">
                <a:ea typeface="+mj-lt"/>
                <a:cs typeface="+mj-lt"/>
              </a:rPr>
              <a:t>Success:</a:t>
            </a:r>
            <a:r>
              <a:rPr lang="en-US" sz="1800">
                <a:ea typeface="+mj-lt"/>
                <a:cs typeface="+mj-lt"/>
              </a:rPr>
              <a:t> Better next-event time/type prediction across domains.</a:t>
            </a:r>
            <a:br>
              <a:rPr lang="en-US" sz="1800">
                <a:ea typeface="+mj-lt"/>
                <a:cs typeface="+mj-lt"/>
              </a:rPr>
            </a:br>
            <a:br>
              <a:rPr lang="en-US" sz="1800">
                <a:ea typeface="+mj-lt"/>
                <a:cs typeface="+mj-lt"/>
              </a:rPr>
            </a:br>
            <a:r>
              <a:rPr lang="en-US" sz="1800" b="1">
                <a:ea typeface="+mj-lt"/>
                <a:cs typeface="+mj-lt"/>
              </a:rPr>
              <a:t>My takeaway:</a:t>
            </a:r>
            <a:r>
              <a:rPr lang="en-US" sz="1800">
                <a:ea typeface="+mj-lt"/>
                <a:cs typeface="+mj-lt"/>
              </a:rPr>
              <a:t> Add </a:t>
            </a:r>
            <a:r>
              <a:rPr lang="en-US" sz="1800" b="1">
                <a:ea typeface="+mj-lt"/>
                <a:cs typeface="+mj-lt"/>
              </a:rPr>
              <a:t>timing helper</a:t>
            </a:r>
            <a:r>
              <a:rPr lang="en-US" sz="1800">
                <a:ea typeface="+mj-lt"/>
                <a:cs typeface="+mj-lt"/>
              </a:rPr>
              <a:t> (intervals / rough period) as feature or tiny aux loss to favor periodic transits.</a:t>
            </a:r>
          </a:p>
        </p:txBody>
      </p:sp>
    </p:spTree>
    <p:extLst>
      <p:ext uri="{BB962C8B-B14F-4D97-AF65-F5344CB8AC3E}">
        <p14:creationId xmlns:p14="http://schemas.microsoft.com/office/powerpoint/2010/main" val="633369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D465841-B965-28B3-5364-E16119109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74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3E19-5334-CA8B-ED10-AB3608BBB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Considerations in achieving goals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F3821-A040-DF06-977A-3F376663D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7876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alibri"/>
                <a:ea typeface="Calibri"/>
              </a:rPr>
              <a:t>Determining sky sector?</a:t>
            </a:r>
          </a:p>
          <a:p>
            <a:r>
              <a:rPr lang="en-US">
                <a:latin typeface="Calibri"/>
                <a:ea typeface="Calibri"/>
              </a:rPr>
              <a:t>Preprocessing data</a:t>
            </a:r>
            <a:endParaRPr lang="en-US"/>
          </a:p>
          <a:p>
            <a:pPr lvl="1">
              <a:buFont typeface="Courier New" pitchFamily="34" charset="0"/>
              <a:buChar char="o"/>
            </a:pPr>
            <a:r>
              <a:rPr lang="en-US">
                <a:latin typeface="Calibri"/>
                <a:ea typeface="Calibri"/>
              </a:rPr>
              <a:t>Standardization and normalization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</a:rPr>
              <a:t>Creating test data</a:t>
            </a:r>
          </a:p>
          <a:p>
            <a:r>
              <a:rPr lang="en-US">
                <a:latin typeface="Calibri"/>
                <a:ea typeface="Calibri"/>
              </a:rPr>
              <a:t>Ruling out false positives</a:t>
            </a:r>
          </a:p>
          <a:p>
            <a:r>
              <a:rPr lang="en-US">
                <a:latin typeface="Calibri"/>
                <a:ea typeface="Calibri"/>
              </a:rPr>
              <a:t>Finding uniform analysis metric to compare methods</a:t>
            </a:r>
          </a:p>
          <a:p>
            <a:endParaRPr lang="en-US">
              <a:latin typeface="Calibri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0139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199E5-D9E2-B628-F2CC-F11E706CA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BD811E4-4E70-BC2B-F629-EFF220A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9109"/>
          </a:xfrm>
        </p:spPr>
        <p:txBody>
          <a:bodyPr>
            <a:normAutofit/>
          </a:bodyPr>
          <a:lstStyle/>
          <a:p>
            <a:pPr algn="ctr"/>
            <a:r>
              <a:rPr lang="en-US" sz="3000">
                <a:cs typeface="Arial"/>
              </a:rPr>
              <a:t>Project Plan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50A06B-01D2-C1B8-897E-CEC9AD47B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40227"/>
            <a:ext cx="8229600" cy="50795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latin typeface="Calibri"/>
                <a:ea typeface="Calibri"/>
              </a:rPr>
              <a:t>Goal: Identify Kepler/TESS TCEs</a:t>
            </a:r>
          </a:p>
          <a:p>
            <a:pPr marL="0" indent="0">
              <a:buNone/>
            </a:pPr>
            <a:endParaRPr lang="en-US" sz="2000">
              <a:latin typeface="Calibri"/>
              <a:ea typeface="Calibri"/>
            </a:endParaRPr>
          </a:p>
          <a:p>
            <a:r>
              <a:rPr lang="en-US" sz="2000">
                <a:latin typeface="Calibri"/>
                <a:ea typeface="Calibri"/>
              </a:rPr>
              <a:t>Data: Kepler/TESS/Simulated light curves</a:t>
            </a:r>
          </a:p>
          <a:p>
            <a:pPr marL="0" indent="0">
              <a:buNone/>
            </a:pPr>
            <a:endParaRPr lang="en-US" sz="2000">
              <a:latin typeface="Calibri"/>
              <a:ea typeface="Calibri"/>
            </a:endParaRPr>
          </a:p>
          <a:p>
            <a:r>
              <a:rPr lang="en-US" sz="2000">
                <a:latin typeface="Calibri"/>
                <a:ea typeface="Calibri"/>
              </a:rPr>
              <a:t>Metrics: Accuracy, Precision, Recall, F1, and AUC (Area Under Curve)</a:t>
            </a:r>
          </a:p>
          <a:p>
            <a:pPr marL="0" indent="0">
              <a:buNone/>
            </a:pPr>
            <a:endParaRPr lang="en-US" sz="2000">
              <a:latin typeface="Calibri"/>
              <a:ea typeface="Calibri"/>
              <a:cs typeface="+mn-lt"/>
            </a:endParaRPr>
          </a:p>
          <a:p>
            <a:r>
              <a:rPr lang="en-US" sz="2000">
                <a:latin typeface="Calibri"/>
                <a:ea typeface="Calibri"/>
              </a:rPr>
              <a:t>Milestones:</a:t>
            </a:r>
          </a:p>
          <a:p>
            <a:pPr lvl="1">
              <a:buFont typeface="Courier New" pitchFamily="34" charset="0"/>
              <a:buChar char="o"/>
            </a:pPr>
            <a:r>
              <a:rPr lang="en-US" sz="2000">
                <a:latin typeface="Calibri"/>
                <a:ea typeface="Calibri"/>
                <a:cs typeface="Calibri"/>
              </a:rPr>
              <a:t>Week 1-2: Preprocess light curves</a:t>
            </a:r>
          </a:p>
          <a:p>
            <a:pPr lvl="1">
              <a:buFont typeface="Courier New" pitchFamily="34" charset="0"/>
              <a:buChar char="o"/>
            </a:pPr>
            <a:r>
              <a:rPr lang="en-US" sz="2000">
                <a:latin typeface="Calibri"/>
                <a:ea typeface="Calibri"/>
                <a:cs typeface="Calibri"/>
              </a:rPr>
              <a:t>Week 3-4: Train model</a:t>
            </a:r>
          </a:p>
          <a:p>
            <a:pPr lvl="1">
              <a:buFont typeface="Courier New" pitchFamily="34" charset="0"/>
              <a:buChar char="o"/>
            </a:pPr>
            <a:r>
              <a:rPr lang="en-US" sz="2000">
                <a:latin typeface="Calibri"/>
                <a:ea typeface="Calibri"/>
                <a:cs typeface="Calibri"/>
              </a:rPr>
              <a:t>Week 5-6: Evaluate using precision, recall, AUC </a:t>
            </a:r>
          </a:p>
          <a:p>
            <a:pPr lvl="1">
              <a:buFont typeface="Courier New" pitchFamily="34" charset="0"/>
              <a:buChar char="o"/>
            </a:pPr>
            <a:r>
              <a:rPr lang="en-US" sz="2000">
                <a:latin typeface="Calibri"/>
                <a:ea typeface="Calibri"/>
                <a:cs typeface="Calibri"/>
              </a:rPr>
              <a:t>Week 7-8: Compare models and present findings</a:t>
            </a:r>
          </a:p>
        </p:txBody>
      </p:sp>
    </p:spTree>
    <p:extLst>
      <p:ext uri="{BB962C8B-B14F-4D97-AF65-F5344CB8AC3E}">
        <p14:creationId xmlns:p14="http://schemas.microsoft.com/office/powerpoint/2010/main" val="265961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uccs-powerpoint-template-2014-cobrand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ed9747a-cf76-43d3-9b8d-a27e657ee17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668813CFEF6E47A797800F728206B7" ma:contentTypeVersion="13" ma:contentTypeDescription="Create a new document." ma:contentTypeScope="" ma:versionID="d3d3bd070181dbaaa82f6af26cb54d1f">
  <xsd:schema xmlns:xsd="http://www.w3.org/2001/XMLSchema" xmlns:xs="http://www.w3.org/2001/XMLSchema" xmlns:p="http://schemas.microsoft.com/office/2006/metadata/properties" xmlns:ns3="aed9747a-cf76-43d3-9b8d-a27e657ee175" xmlns:ns4="93184699-e12f-40b8-87c1-2f561f48ace3" targetNamespace="http://schemas.microsoft.com/office/2006/metadata/properties" ma:root="true" ma:fieldsID="8785969ce3fbaddf363e6cf01a9249a7" ns3:_="" ns4:_="">
    <xsd:import namespace="aed9747a-cf76-43d3-9b8d-a27e657ee175"/>
    <xsd:import namespace="93184699-e12f-40b8-87c1-2f561f48ac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d9747a-cf76-43d3-9b8d-a27e657ee1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184699-e12f-40b8-87c1-2f561f48ace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762663-8081-475F-99D6-B764682E78B7}">
  <ds:schemaRefs>
    <ds:schemaRef ds:uri="93184699-e12f-40b8-87c1-2f561f48ace3"/>
    <ds:schemaRef ds:uri="aed9747a-cf76-43d3-9b8d-a27e657ee1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8721A25-F547-4806-A925-716F15DCA520}">
  <ds:schemaRefs>
    <ds:schemaRef ds:uri="93184699-e12f-40b8-87c1-2f561f48ace3"/>
    <ds:schemaRef ds:uri="aed9747a-cf76-43d3-9b8d-a27e657ee1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0407A82-2BD1-4D26-B5DC-9893D0D6FE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Slide Template</Template>
  <Application>Microsoft Office PowerPoint</Application>
  <PresentationFormat>On-screen Show (4:3)</PresentationFormat>
  <Slides>24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uccs-powerpoint-template-2014-cobranded</vt:lpstr>
      <vt:lpstr>Machine Learning for Exoplanet Detection: Identifying Exoplanets in Light Curves</vt:lpstr>
      <vt:lpstr>General background of Exoplanet discovery</vt:lpstr>
      <vt:lpstr>What are Threshold Crossing Events?</vt:lpstr>
      <vt:lpstr>Problem Statement and Method </vt:lpstr>
      <vt:lpstr>Data sets</vt:lpstr>
      <vt:lpstr>CNN Research Papers</vt:lpstr>
      <vt:lpstr>Identifying Exoplanets with Deep Learning (The Astronomical Journal, 2018)</vt:lpstr>
      <vt:lpstr>Identifying Exoplanets with Deep Learning II (The Astronomical Journal, 2019)</vt:lpstr>
      <vt:lpstr>Rapid Classification of TESS Planet Candidates with Convolutional Neural Networks (Astronomy &amp; Astrophysics, 2019)</vt:lpstr>
      <vt:lpstr>Transformer model</vt:lpstr>
      <vt:lpstr>Transformer Research Papers</vt:lpstr>
      <vt:lpstr>Don’t pay attention to the noise: Learning self-supervised representations of light curves with a denoising time series transformer</vt:lpstr>
      <vt:lpstr>Distinguishing a planetary transit from false positives: A Transformer-based classification for planetary transit signals</vt:lpstr>
      <vt:lpstr>Exoplanet transit candidate identification in TESS full-frame images via a transformer-based algorithm</vt:lpstr>
      <vt:lpstr>RNN Research Papers</vt:lpstr>
      <vt:lpstr>Finding flares in Kepler and TESS data with recurrent deep neural networks  Why RNN: Long, noisy light curves → need memory of past context.  Data / tools: Kepler (train) → TESS (test); automated flare detection..  RNN used: Stacked LSTM + dropout; sigmoid output (binary).  Why this RNN: LSTM &gt; GRU/CNN here for temporal dependencies.  Success: ≈80–90% precision/recall for strong flares; Kepler→TESS transfer.  My takeaway: Start with 2–3×LSTM (128–256), class weighting, dropout, early stopping; include hard negatives.</vt:lpstr>
      <vt:lpstr>PowerPoint Presentation</vt:lpstr>
      <vt:lpstr>An explorative approach for inspecting Kepler data  Why RNN/seq model: Capture full sequence dynamics of Kepler curves.  Data / tools: Kepler; ESN reservoir + autoencoder (sequence-aware). Success: Better clustering/visualization of dynamics than PCA/plain AE.  RNN used: Echo State Network (ESN) reservoir + autoencoder (ESN-AE).  Why this RNN: ESN gives fast recurrent state; optimize in sequence space.  Success: Clearer clustering/visualization vs. PCA/plain AE (qualitative SOTA).  My takeaway: Use sequence-aware diagnostics/objectives; inspect scores over time, not just final embeddings.</vt:lpstr>
      <vt:lpstr>PowerPoint Presentation</vt:lpstr>
      <vt:lpstr>Recurrent marked temporal point processes: Embedding event history to vector  Why RNN: Need model of event timing + type, not just labels.  Data / tools: General event streams; RMTPP with RNN history encoder.  RNN used (specific): RMTPP with an RNN history encoder (tanh-RNN in the formulation) to parametrize intensity.  Why this RNN: Non-parametric timing from history; flexible vs. fixed forms.  Success: Better next-event time/type prediction across domains.  My takeaway: Add timing helper (intervals / rough period) as feature or tiny aux loss to favor periodic transits.</vt:lpstr>
      <vt:lpstr>PowerPoint Presentation</vt:lpstr>
      <vt:lpstr>Considerations in achieving goals</vt:lpstr>
      <vt:lpstr>Project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Tristan Moffett</dc:creator>
  <cp:revision>18</cp:revision>
  <dcterms:created xsi:type="dcterms:W3CDTF">2025-09-19T16:28:57Z</dcterms:created>
  <dcterms:modified xsi:type="dcterms:W3CDTF">2025-11-09T16:16:12Z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0x010100A5668813CFEF6E47A797800F728206B7</vt:lpwstr>
  </property>
</Properties>
</file>