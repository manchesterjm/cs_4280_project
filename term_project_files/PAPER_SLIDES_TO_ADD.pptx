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Machine Learning for Cluster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1371600"/>
          </a:xfrm>
          <a:prstGeom prst="round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/>
            </a:pPr>
            <a:r>
              <a:t>Key Innovation</a:t>
            </a:r>
          </a:p>
          <a:p>
            <a:pPr>
              <a:defRPr sz="1400"/>
            </a:pPr>
            <a:r>
              <a:t>Supervised clustering combined with machine learning for analyzing millions of data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1371600"/>
          </a:xfrm>
          <a:prstGeom prst="round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/>
            </a:pPr>
            <a:r>
              <a:t>Key Takeaway</a:t>
            </a:r>
          </a:p>
          <a:p>
            <a:pPr>
              <a:defRPr sz="1400"/>
            </a:pPr>
            <a:r>
              <a:t>K-means clustering before ML training improves both accuracy and computational speed on large-scale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Architecture:</a:t>
            </a:r>
          </a:p>
          <a:p>
            <a:pPr>
              <a:defRPr sz="1600"/>
            </a:pPr>
            <a:r>
              <a:t>• K-means clustering on extracted features</a:t>
            </a:r>
          </a:p>
          <a:p>
            <a:pPr>
              <a:defRPr sz="1600"/>
            </a:pPr>
            <a:r>
              <a:t>• Supervised learning on cluster assignments</a:t>
            </a:r>
          </a:p>
          <a:p>
            <a:pPr>
              <a:defRPr sz="1600"/>
            </a:pPr>
            <a:r>
              <a:t>• Scalable to millions of data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Results:</a:t>
            </a:r>
          </a:p>
          <a:p>
            <a:pPr>
              <a:defRPr sz="1600"/>
            </a:pPr>
            <a:r>
              <a:t>• Faster training convergence</a:t>
            </a:r>
          </a:p>
          <a:p>
            <a:pPr>
              <a:defRPr sz="1600"/>
            </a:pPr>
            <a:r>
              <a:t>• Improved classification accuracy</a:t>
            </a:r>
          </a:p>
          <a:p>
            <a:pPr>
              <a:defRPr sz="1600"/>
            </a:pPr>
            <a:r>
              <a:t>• Handles large-scale datasets efficiently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Speiser, A., Müller, L. R., Matti, U., Obholzer, N. D., Legant, W. R., Kreshuk, A., ... &amp; Hufnagel, L. (2020). Machine learning for cluster analysis of localization microscopy data. Nature Communications, 11(1), 1493.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LSTM for Time Series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1371600"/>
          </a:xfrm>
          <a:prstGeom prst="round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/>
            </a:pPr>
            <a:r>
              <a:t>Key Innovation</a:t>
            </a:r>
          </a:p>
          <a:p>
            <a:pPr>
              <a:defRPr sz="1400"/>
            </a:pPr>
            <a:r>
              <a:t>LSTM networks capture long-term dependencies in noisy environmental time series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1371600"/>
          </a:xfrm>
          <a:prstGeom prst="round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/>
            </a:pPr>
            <a:r>
              <a:t>Key Takeaway</a:t>
            </a:r>
          </a:p>
          <a:p>
            <a:pPr>
              <a:defRPr sz="1400"/>
            </a:pPr>
            <a:r>
              <a:t>LSTM memory cells handle temporal dependencies that traditional methods miss in sequential data with high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Architecture:</a:t>
            </a:r>
          </a:p>
          <a:p>
            <a:pPr>
              <a:defRPr sz="1600"/>
            </a:pPr>
            <a:r>
              <a:t>• Stacked LSTM layers for temporal pattern recognition</a:t>
            </a:r>
          </a:p>
          <a:p>
            <a:pPr>
              <a:defRPr sz="1600"/>
            </a:pPr>
            <a:r>
              <a:t>• Handles irregular sampling and data gaps</a:t>
            </a:r>
          </a:p>
          <a:p>
            <a:pPr>
              <a:defRPr sz="1600"/>
            </a:pPr>
            <a:r>
              <a:t>• Dropout regularization for noisy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Results:</a:t>
            </a:r>
          </a:p>
          <a:p>
            <a:pPr>
              <a:defRPr sz="1600"/>
            </a:pPr>
            <a:r>
              <a:t>• Superior performance on noisy time series</a:t>
            </a:r>
          </a:p>
          <a:p>
            <a:pPr>
              <a:defRPr sz="1600"/>
            </a:pPr>
            <a:r>
              <a:t>• Captures long-term dependencies effectively</a:t>
            </a:r>
          </a:p>
          <a:p>
            <a:pPr>
              <a:defRPr sz="1600"/>
            </a:pPr>
            <a:r>
              <a:t>• Generalizes to unseen weather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Vu, M. T., Vo, N. D., Ngo, T. D., Pham, T. D., Huynh, T. T. M., Nguyen, N. T., ... &amp; Ly, H. B. (2024). Harnessing LSTM and XGBoost algorithms for storm prediction. Scientific Reports, 14(1), 11516.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LSTM for Astronomical Photometry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1371600"/>
          </a:xfrm>
          <a:prstGeom prst="round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/>
            </a:pPr>
            <a:r>
              <a:t>Key Innovation</a:t>
            </a:r>
          </a:p>
          <a:p>
            <a:pPr>
              <a:defRPr sz="1400"/>
            </a:pPr>
            <a:r>
              <a:t>First application of LSTM to large-scale astronomical photometric flux measurements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1371600"/>
          </a:xfrm>
          <a:prstGeom prst="round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/>
            </a:pPr>
            <a:r>
              <a:t>Key Takeaway</a:t>
            </a:r>
          </a:p>
          <a:p>
            <a:pPr>
              <a:defRPr sz="1400"/>
            </a:pPr>
            <a:r>
              <a:t>LSTM reduced outliers by 33% compared to traditional neural networks on real astronomical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Architecture:</a:t>
            </a:r>
          </a:p>
          <a:p>
            <a:pPr>
              <a:defRPr sz="1600"/>
            </a:pPr>
            <a:r>
              <a:t>• LSTM for photometric time series</a:t>
            </a:r>
          </a:p>
          <a:p>
            <a:pPr>
              <a:defRPr sz="1600"/>
            </a:pPr>
            <a:r>
              <a:t>• Handles large survey datasets</a:t>
            </a:r>
          </a:p>
          <a:p>
            <a:pPr>
              <a:defRPr sz="1600"/>
            </a:pPr>
            <a:r>
              <a:t>• Optimized for astronomical flux measurements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Results:</a:t>
            </a:r>
          </a:p>
          <a:p>
            <a:pPr>
              <a:defRPr sz="1600"/>
            </a:pPr>
            <a:r>
              <a:t>• 33% fewer outliers than MLPs</a:t>
            </a:r>
          </a:p>
          <a:p>
            <a:pPr>
              <a:defRPr sz="1600"/>
            </a:pPr>
            <a:r>
              <a:t>• Better handling of temporal photometric data</a:t>
            </a:r>
          </a:p>
          <a:p>
            <a:pPr>
              <a:defRPr sz="1600"/>
            </a:pPr>
            <a:r>
              <a:t>• Validated on real survey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Ding, Y., Ji, K., Xiao, M., Zheng, X., Chen, Y., Liang, J., ... &amp; Qi, Y. (2024). Photometric redshift estimation for CSST survey with LSTM neural networks. Monthly Notices of the Royal Astronomical Society, 535(2), 1844-1858.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