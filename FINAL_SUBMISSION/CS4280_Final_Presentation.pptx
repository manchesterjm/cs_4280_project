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2"/>
  </p:notesMasterIdLst>
  <p:sldIdLst>
    <p:sldId id="292" r:id="rId5"/>
    <p:sldId id="302" r:id="rId6"/>
    <p:sldId id="303" r:id="rId7"/>
    <p:sldId id="304" r:id="rId8"/>
    <p:sldId id="305" r:id="rId9"/>
    <p:sldId id="256" r:id="rId10"/>
    <p:sldId id="314" r:id="rId11"/>
    <p:sldId id="315" r:id="rId12"/>
    <p:sldId id="308" r:id="rId13"/>
    <p:sldId id="257" r:id="rId14"/>
    <p:sldId id="258" r:id="rId15"/>
    <p:sldId id="259" r:id="rId16"/>
    <p:sldId id="260" r:id="rId17"/>
    <p:sldId id="261" r:id="rId18"/>
    <p:sldId id="263" r:id="rId19"/>
    <p:sldId id="264" r:id="rId20"/>
    <p:sldId id="309" r:id="rId21"/>
    <p:sldId id="281" r:id="rId22"/>
    <p:sldId id="310" r:id="rId23"/>
    <p:sldId id="283" r:id="rId24"/>
    <p:sldId id="284" r:id="rId25"/>
    <p:sldId id="311" r:id="rId26"/>
    <p:sldId id="301" r:id="rId27"/>
    <p:sldId id="312" r:id="rId28"/>
    <p:sldId id="313" r:id="rId29"/>
    <p:sldId id="289" r:id="rId30"/>
    <p:sldId id="293" r:id="rId31"/>
    <p:sldId id="316" r:id="rId32"/>
    <p:sldId id="317" r:id="rId33"/>
    <p:sldId id="295" r:id="rId34"/>
    <p:sldId id="296" r:id="rId35"/>
    <p:sldId id="299" r:id="rId36"/>
    <p:sldId id="300" r:id="rId37"/>
    <p:sldId id="318" r:id="rId38"/>
    <p:sldId id="319" r:id="rId39"/>
    <p:sldId id="298" r:id="rId40"/>
    <p:sldId id="269"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FB879"/>
    <a:srgbClr val="D3B979"/>
    <a:srgbClr val="D2C121"/>
    <a:srgbClr val="D2BF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947AC1-B2F2-4502-A893-6390D5360391}" type="datetimeFigureOut">
              <a:t>12/18/2025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8D3289-85B1-4FBA-BBA8-E9746D0F1C74}" type="slidenum">
              <a:t>‹#›</a:t>
            </a:fld>
            <a:endParaRPr lang="en-US"/>
          </a:p>
        </p:txBody>
      </p:sp>
    </p:spTree>
    <p:extLst>
      <p:ext uri="{BB962C8B-B14F-4D97-AF65-F5344CB8AC3E}">
        <p14:creationId xmlns:p14="http://schemas.microsoft.com/office/powerpoint/2010/main" val="3149646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B18C874F-9D19-4842-BA97-DF3D70FEB200}" type="slidenum">
              <a:t>2</a:t>
            </a:fld>
            <a:endParaRPr lang="en-US"/>
          </a:p>
        </p:txBody>
      </p:sp>
    </p:spTree>
    <p:extLst>
      <p:ext uri="{BB962C8B-B14F-4D97-AF65-F5344CB8AC3E}">
        <p14:creationId xmlns:p14="http://schemas.microsoft.com/office/powerpoint/2010/main" val="4600775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lgn="ctr">
              <a:defRPr/>
            </a:lvl1p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381000" y="5807075"/>
            <a:ext cx="2133600" cy="365125"/>
          </a:xfrm>
        </p:spPr>
        <p:txBody>
          <a:bodyPr/>
          <a:lstStyle/>
          <a:p>
            <a:endParaRPr lang="en-US"/>
          </a:p>
        </p:txBody>
      </p:sp>
      <p:sp>
        <p:nvSpPr>
          <p:cNvPr id="5" name="Footer Placeholder 4"/>
          <p:cNvSpPr>
            <a:spLocks noGrp="1"/>
          </p:cNvSpPr>
          <p:nvPr>
            <p:ph type="ftr" sz="quarter" idx="11"/>
          </p:nvPr>
        </p:nvSpPr>
        <p:spPr>
          <a:xfrm>
            <a:off x="3124200" y="5807075"/>
            <a:ext cx="2895600" cy="365125"/>
          </a:xfrm>
        </p:spPr>
        <p:txBody>
          <a:bodyPr/>
          <a:lstStyle/>
          <a:p>
            <a:endParaRPr lang="en-US"/>
          </a:p>
        </p:txBody>
      </p:sp>
      <p:sp>
        <p:nvSpPr>
          <p:cNvPr id="6" name="Slide Number Placeholder 5"/>
          <p:cNvSpPr>
            <a:spLocks noGrp="1"/>
          </p:cNvSpPr>
          <p:nvPr>
            <p:ph type="sldNum" sz="quarter" idx="12"/>
          </p:nvPr>
        </p:nvSpPr>
        <p:spPr>
          <a:xfrm>
            <a:off x="6629400" y="5807075"/>
            <a:ext cx="2133600" cy="365125"/>
          </a:xfrm>
        </p:spPr>
        <p:txBody>
          <a:bodyPr/>
          <a:lstStyle/>
          <a:p>
            <a:fld id="{9E3EFB43-BEAF-4970-A06C-24B01B76FA9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3"/>
          <p:cNvSpPr>
            <a:spLocks noGrp="1"/>
          </p:cNvSpPr>
          <p:nvPr>
            <p:ph type="dt" sz="half" idx="10"/>
          </p:nvPr>
        </p:nvSpPr>
        <p:spPr>
          <a:xfrm>
            <a:off x="381000" y="5807075"/>
            <a:ext cx="2133600" cy="365125"/>
          </a:xfrm>
        </p:spPr>
        <p:txBody>
          <a:bodyPr/>
          <a:lstStyle/>
          <a:p>
            <a:endParaRPr lang="en-US"/>
          </a:p>
        </p:txBody>
      </p:sp>
      <p:sp>
        <p:nvSpPr>
          <p:cNvPr id="11" name="Footer Placeholder 4"/>
          <p:cNvSpPr>
            <a:spLocks noGrp="1"/>
          </p:cNvSpPr>
          <p:nvPr>
            <p:ph type="ftr" sz="quarter" idx="11"/>
          </p:nvPr>
        </p:nvSpPr>
        <p:spPr>
          <a:xfrm>
            <a:off x="3124200" y="5807075"/>
            <a:ext cx="2895600" cy="365125"/>
          </a:xfrm>
        </p:spPr>
        <p:txBody>
          <a:bodyPr/>
          <a:lstStyle/>
          <a:p>
            <a:endParaRPr lang="en-US"/>
          </a:p>
        </p:txBody>
      </p:sp>
      <p:sp>
        <p:nvSpPr>
          <p:cNvPr id="12" name="Slide Number Placeholder 5"/>
          <p:cNvSpPr>
            <a:spLocks noGrp="1"/>
          </p:cNvSpPr>
          <p:nvPr>
            <p:ph type="sldNum" sz="quarter" idx="12"/>
          </p:nvPr>
        </p:nvSpPr>
        <p:spPr>
          <a:xfrm>
            <a:off x="6629400" y="5807075"/>
            <a:ext cx="2133600" cy="365125"/>
          </a:xfrm>
        </p:spPr>
        <p:txBody>
          <a:bodyPr/>
          <a:lstStyle/>
          <a:p>
            <a:fld id="{9E3EFB43-BEAF-4970-A06C-24B01B76FA9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none"/>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3"/>
          <p:cNvSpPr>
            <a:spLocks noGrp="1"/>
          </p:cNvSpPr>
          <p:nvPr>
            <p:ph type="dt" sz="half" idx="10"/>
          </p:nvPr>
        </p:nvSpPr>
        <p:spPr>
          <a:xfrm>
            <a:off x="381000" y="5807075"/>
            <a:ext cx="2133600" cy="365125"/>
          </a:xfrm>
        </p:spPr>
        <p:txBody>
          <a:bodyPr/>
          <a:lstStyle/>
          <a:p>
            <a:endParaRPr lang="en-US"/>
          </a:p>
        </p:txBody>
      </p:sp>
      <p:sp>
        <p:nvSpPr>
          <p:cNvPr id="8" name="Footer Placeholder 4"/>
          <p:cNvSpPr>
            <a:spLocks noGrp="1"/>
          </p:cNvSpPr>
          <p:nvPr>
            <p:ph type="ftr" sz="quarter" idx="11"/>
          </p:nvPr>
        </p:nvSpPr>
        <p:spPr>
          <a:xfrm>
            <a:off x="3124200" y="5807075"/>
            <a:ext cx="2895600" cy="365125"/>
          </a:xfrm>
        </p:spPr>
        <p:txBody>
          <a:bodyPr/>
          <a:lstStyle/>
          <a:p>
            <a:endParaRPr lang="en-US"/>
          </a:p>
        </p:txBody>
      </p:sp>
      <p:sp>
        <p:nvSpPr>
          <p:cNvPr id="9" name="Slide Number Placeholder 5"/>
          <p:cNvSpPr>
            <a:spLocks noGrp="1"/>
          </p:cNvSpPr>
          <p:nvPr>
            <p:ph type="sldNum" sz="quarter" idx="12"/>
          </p:nvPr>
        </p:nvSpPr>
        <p:spPr>
          <a:xfrm>
            <a:off x="6629400" y="5807075"/>
            <a:ext cx="2133600" cy="365125"/>
          </a:xfrm>
        </p:spPr>
        <p:txBody>
          <a:bodyPr/>
          <a:lstStyle/>
          <a:p>
            <a:fld id="{9E3EFB43-BEAF-4970-A06C-24B01B76FA9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3"/>
          <p:cNvSpPr>
            <a:spLocks noGrp="1"/>
          </p:cNvSpPr>
          <p:nvPr>
            <p:ph type="dt" sz="half" idx="10"/>
          </p:nvPr>
        </p:nvSpPr>
        <p:spPr>
          <a:xfrm>
            <a:off x="381000" y="5807075"/>
            <a:ext cx="2133600" cy="365125"/>
          </a:xfrm>
        </p:spPr>
        <p:txBody>
          <a:bodyPr/>
          <a:lstStyle/>
          <a:p>
            <a:endParaRPr lang="en-US"/>
          </a:p>
        </p:txBody>
      </p:sp>
      <p:sp>
        <p:nvSpPr>
          <p:cNvPr id="9" name="Footer Placeholder 4"/>
          <p:cNvSpPr>
            <a:spLocks noGrp="1"/>
          </p:cNvSpPr>
          <p:nvPr>
            <p:ph type="ftr" sz="quarter" idx="11"/>
          </p:nvPr>
        </p:nvSpPr>
        <p:spPr>
          <a:xfrm>
            <a:off x="3124200" y="5807075"/>
            <a:ext cx="2895600" cy="365125"/>
          </a:xfrm>
        </p:spPr>
        <p:txBody>
          <a:bodyPr/>
          <a:lstStyle/>
          <a:p>
            <a:endParaRPr lang="en-US"/>
          </a:p>
        </p:txBody>
      </p:sp>
      <p:sp>
        <p:nvSpPr>
          <p:cNvPr id="10" name="Slide Number Placeholder 5"/>
          <p:cNvSpPr>
            <a:spLocks noGrp="1"/>
          </p:cNvSpPr>
          <p:nvPr>
            <p:ph type="sldNum" sz="quarter" idx="12"/>
          </p:nvPr>
        </p:nvSpPr>
        <p:spPr>
          <a:xfrm>
            <a:off x="6629400" y="5807075"/>
            <a:ext cx="2133600" cy="365125"/>
          </a:xfrm>
        </p:spPr>
        <p:txBody>
          <a:bodyPr/>
          <a:lstStyle/>
          <a:p>
            <a:fld id="{9E3EFB43-BEAF-4970-A06C-24B01B76FA9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3"/>
          <p:cNvSpPr>
            <a:spLocks noGrp="1"/>
          </p:cNvSpPr>
          <p:nvPr>
            <p:ph type="dt" sz="half" idx="10"/>
          </p:nvPr>
        </p:nvSpPr>
        <p:spPr>
          <a:xfrm>
            <a:off x="381000" y="5807075"/>
            <a:ext cx="2133600" cy="365125"/>
          </a:xfrm>
        </p:spPr>
        <p:txBody>
          <a:bodyPr/>
          <a:lstStyle/>
          <a:p>
            <a:endParaRPr lang="en-US"/>
          </a:p>
        </p:txBody>
      </p:sp>
      <p:sp>
        <p:nvSpPr>
          <p:cNvPr id="11" name="Footer Placeholder 4"/>
          <p:cNvSpPr>
            <a:spLocks noGrp="1"/>
          </p:cNvSpPr>
          <p:nvPr>
            <p:ph type="ftr" sz="quarter" idx="11"/>
          </p:nvPr>
        </p:nvSpPr>
        <p:spPr>
          <a:xfrm>
            <a:off x="3124200" y="5807075"/>
            <a:ext cx="2895600" cy="365125"/>
          </a:xfrm>
        </p:spPr>
        <p:txBody>
          <a:bodyPr/>
          <a:lstStyle/>
          <a:p>
            <a:endParaRPr lang="en-US"/>
          </a:p>
        </p:txBody>
      </p:sp>
      <p:sp>
        <p:nvSpPr>
          <p:cNvPr id="12" name="Slide Number Placeholder 5"/>
          <p:cNvSpPr>
            <a:spLocks noGrp="1"/>
          </p:cNvSpPr>
          <p:nvPr>
            <p:ph type="sldNum" sz="quarter" idx="12"/>
          </p:nvPr>
        </p:nvSpPr>
        <p:spPr>
          <a:xfrm>
            <a:off x="6629400" y="5807075"/>
            <a:ext cx="2133600" cy="365125"/>
          </a:xfrm>
        </p:spPr>
        <p:txBody>
          <a:bodyPr/>
          <a:lstStyle/>
          <a:p>
            <a:fld id="{9E3EFB43-BEAF-4970-A06C-24B01B76FA9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3"/>
          <p:cNvSpPr>
            <a:spLocks noGrp="1"/>
          </p:cNvSpPr>
          <p:nvPr>
            <p:ph type="dt" sz="half" idx="10"/>
          </p:nvPr>
        </p:nvSpPr>
        <p:spPr>
          <a:xfrm>
            <a:off x="381000" y="5807075"/>
            <a:ext cx="2133600" cy="365125"/>
          </a:xfrm>
        </p:spPr>
        <p:txBody>
          <a:bodyPr/>
          <a:lstStyle/>
          <a:p>
            <a:endParaRPr lang="en-US"/>
          </a:p>
        </p:txBody>
      </p:sp>
      <p:sp>
        <p:nvSpPr>
          <p:cNvPr id="7" name="Footer Placeholder 4"/>
          <p:cNvSpPr>
            <a:spLocks noGrp="1"/>
          </p:cNvSpPr>
          <p:nvPr>
            <p:ph type="ftr" sz="quarter" idx="11"/>
          </p:nvPr>
        </p:nvSpPr>
        <p:spPr>
          <a:xfrm>
            <a:off x="3124200" y="5807075"/>
            <a:ext cx="2895600" cy="365125"/>
          </a:xfrm>
        </p:spPr>
        <p:txBody>
          <a:bodyPr/>
          <a:lstStyle/>
          <a:p>
            <a:endParaRPr lang="en-US"/>
          </a:p>
        </p:txBody>
      </p:sp>
      <p:sp>
        <p:nvSpPr>
          <p:cNvPr id="8" name="Slide Number Placeholder 5"/>
          <p:cNvSpPr>
            <a:spLocks noGrp="1"/>
          </p:cNvSpPr>
          <p:nvPr>
            <p:ph type="sldNum" sz="quarter" idx="12"/>
          </p:nvPr>
        </p:nvSpPr>
        <p:spPr>
          <a:xfrm>
            <a:off x="6629400" y="5807075"/>
            <a:ext cx="2133600" cy="365125"/>
          </a:xfrm>
        </p:spPr>
        <p:txBody>
          <a:bodyPr/>
          <a:lstStyle/>
          <a:p>
            <a:fld id="{9E3EFB43-BEAF-4970-A06C-24B01B76FA9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3"/>
          <p:cNvSpPr>
            <a:spLocks noGrp="1"/>
          </p:cNvSpPr>
          <p:nvPr>
            <p:ph type="dt" sz="half" idx="10"/>
          </p:nvPr>
        </p:nvSpPr>
        <p:spPr>
          <a:xfrm>
            <a:off x="381000" y="5807075"/>
            <a:ext cx="2133600" cy="365125"/>
          </a:xfrm>
        </p:spPr>
        <p:txBody>
          <a:bodyPr/>
          <a:lstStyle/>
          <a:p>
            <a:endParaRPr lang="en-US"/>
          </a:p>
        </p:txBody>
      </p:sp>
      <p:sp>
        <p:nvSpPr>
          <p:cNvPr id="6" name="Footer Placeholder 4"/>
          <p:cNvSpPr>
            <a:spLocks noGrp="1"/>
          </p:cNvSpPr>
          <p:nvPr>
            <p:ph type="ftr" sz="quarter" idx="11"/>
          </p:nvPr>
        </p:nvSpPr>
        <p:spPr>
          <a:xfrm>
            <a:off x="3124200" y="5807075"/>
            <a:ext cx="2895600" cy="365125"/>
          </a:xfrm>
        </p:spPr>
        <p:txBody>
          <a:bodyPr/>
          <a:lstStyle/>
          <a:p>
            <a:endParaRPr lang="en-US"/>
          </a:p>
        </p:txBody>
      </p:sp>
      <p:sp>
        <p:nvSpPr>
          <p:cNvPr id="7" name="Slide Number Placeholder 5"/>
          <p:cNvSpPr>
            <a:spLocks noGrp="1"/>
          </p:cNvSpPr>
          <p:nvPr>
            <p:ph type="sldNum" sz="quarter" idx="12"/>
          </p:nvPr>
        </p:nvSpPr>
        <p:spPr>
          <a:xfrm>
            <a:off x="6629400" y="5807075"/>
            <a:ext cx="2133600" cy="365125"/>
          </a:xfrm>
        </p:spPr>
        <p:txBody>
          <a:bodyPr/>
          <a:lstStyle/>
          <a:p>
            <a:fld id="{9E3EFB43-BEAF-4970-A06C-24B01B76FA9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3"/>
          <p:cNvSpPr>
            <a:spLocks noGrp="1"/>
          </p:cNvSpPr>
          <p:nvPr>
            <p:ph type="dt" sz="half" idx="10"/>
          </p:nvPr>
        </p:nvSpPr>
        <p:spPr>
          <a:xfrm>
            <a:off x="381000" y="5807075"/>
            <a:ext cx="2133600" cy="365125"/>
          </a:xfrm>
        </p:spPr>
        <p:txBody>
          <a:bodyPr/>
          <a:lstStyle/>
          <a:p>
            <a:endParaRPr lang="en-US"/>
          </a:p>
        </p:txBody>
      </p:sp>
      <p:sp>
        <p:nvSpPr>
          <p:cNvPr id="9" name="Footer Placeholder 4"/>
          <p:cNvSpPr>
            <a:spLocks noGrp="1"/>
          </p:cNvSpPr>
          <p:nvPr>
            <p:ph type="ftr" sz="quarter" idx="11"/>
          </p:nvPr>
        </p:nvSpPr>
        <p:spPr>
          <a:xfrm>
            <a:off x="3124200" y="5807075"/>
            <a:ext cx="2895600" cy="365125"/>
          </a:xfrm>
        </p:spPr>
        <p:txBody>
          <a:bodyPr/>
          <a:lstStyle/>
          <a:p>
            <a:endParaRPr lang="en-US"/>
          </a:p>
        </p:txBody>
      </p:sp>
      <p:sp>
        <p:nvSpPr>
          <p:cNvPr id="10" name="Slide Number Placeholder 5"/>
          <p:cNvSpPr>
            <a:spLocks noGrp="1"/>
          </p:cNvSpPr>
          <p:nvPr>
            <p:ph type="sldNum" sz="quarter" idx="12"/>
          </p:nvPr>
        </p:nvSpPr>
        <p:spPr>
          <a:xfrm>
            <a:off x="6629400" y="5807075"/>
            <a:ext cx="2133600" cy="365125"/>
          </a:xfrm>
        </p:spPr>
        <p:txBody>
          <a:bodyPr/>
          <a:lstStyle/>
          <a:p>
            <a:fld id="{9E3EFB43-BEAF-4970-A06C-24B01B76FA9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3"/>
          <p:cNvSpPr>
            <a:spLocks noGrp="1"/>
          </p:cNvSpPr>
          <p:nvPr>
            <p:ph type="dt" sz="half" idx="10"/>
          </p:nvPr>
        </p:nvSpPr>
        <p:spPr>
          <a:xfrm>
            <a:off x="381000" y="5807075"/>
            <a:ext cx="2133600" cy="365125"/>
          </a:xfrm>
        </p:spPr>
        <p:txBody>
          <a:bodyPr/>
          <a:lstStyle/>
          <a:p>
            <a:endParaRPr lang="en-US"/>
          </a:p>
        </p:txBody>
      </p:sp>
      <p:sp>
        <p:nvSpPr>
          <p:cNvPr id="9" name="Footer Placeholder 4"/>
          <p:cNvSpPr>
            <a:spLocks noGrp="1"/>
          </p:cNvSpPr>
          <p:nvPr>
            <p:ph type="ftr" sz="quarter" idx="11"/>
          </p:nvPr>
        </p:nvSpPr>
        <p:spPr>
          <a:xfrm>
            <a:off x="3124200" y="5807075"/>
            <a:ext cx="2895600" cy="365125"/>
          </a:xfrm>
        </p:spPr>
        <p:txBody>
          <a:bodyPr/>
          <a:lstStyle/>
          <a:p>
            <a:endParaRPr lang="en-US"/>
          </a:p>
        </p:txBody>
      </p:sp>
      <p:sp>
        <p:nvSpPr>
          <p:cNvPr id="10" name="Slide Number Placeholder 5"/>
          <p:cNvSpPr>
            <a:spLocks noGrp="1"/>
          </p:cNvSpPr>
          <p:nvPr>
            <p:ph type="sldNum" sz="quarter" idx="12"/>
          </p:nvPr>
        </p:nvSpPr>
        <p:spPr>
          <a:xfrm>
            <a:off x="6629400" y="5807075"/>
            <a:ext cx="2133600" cy="365125"/>
          </a:xfrm>
        </p:spPr>
        <p:txBody>
          <a:bodyPr/>
          <a:lstStyle/>
          <a:p>
            <a:fld id="{9E3EFB43-BEAF-4970-A06C-24B01B76FA9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381000" y="5807075"/>
            <a:ext cx="2133600" cy="365125"/>
          </a:xfrm>
        </p:spPr>
        <p:txBody>
          <a:bodyPr/>
          <a:lstStyle/>
          <a:p>
            <a:endParaRPr lang="en-US"/>
          </a:p>
        </p:txBody>
      </p:sp>
      <p:sp>
        <p:nvSpPr>
          <p:cNvPr id="8" name="Footer Placeholder 4"/>
          <p:cNvSpPr>
            <a:spLocks noGrp="1"/>
          </p:cNvSpPr>
          <p:nvPr>
            <p:ph type="ftr" sz="quarter" idx="11"/>
          </p:nvPr>
        </p:nvSpPr>
        <p:spPr>
          <a:xfrm>
            <a:off x="3124200" y="5807075"/>
            <a:ext cx="2895600" cy="365125"/>
          </a:xfrm>
        </p:spPr>
        <p:txBody>
          <a:bodyPr/>
          <a:lstStyle/>
          <a:p>
            <a:endParaRPr lang="en-US"/>
          </a:p>
        </p:txBody>
      </p:sp>
      <p:sp>
        <p:nvSpPr>
          <p:cNvPr id="9" name="Slide Number Placeholder 5"/>
          <p:cNvSpPr>
            <a:spLocks noGrp="1"/>
          </p:cNvSpPr>
          <p:nvPr>
            <p:ph type="sldNum" sz="quarter" idx="12"/>
          </p:nvPr>
        </p:nvSpPr>
        <p:spPr>
          <a:xfrm>
            <a:off x="6629400" y="5807075"/>
            <a:ext cx="2133600" cy="365125"/>
          </a:xfrm>
        </p:spPr>
        <p:txBody>
          <a:bodyPr/>
          <a:lstStyle/>
          <a:p>
            <a:fld id="{9E3EFB43-BEAF-4970-A06C-24B01B76FA9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381000" y="5807075"/>
            <a:ext cx="2133600" cy="365125"/>
          </a:xfrm>
        </p:spPr>
        <p:txBody>
          <a:bodyPr/>
          <a:lstStyle/>
          <a:p>
            <a:endParaRPr lang="en-US"/>
          </a:p>
        </p:txBody>
      </p:sp>
      <p:sp>
        <p:nvSpPr>
          <p:cNvPr id="8" name="Footer Placeholder 4"/>
          <p:cNvSpPr>
            <a:spLocks noGrp="1"/>
          </p:cNvSpPr>
          <p:nvPr>
            <p:ph type="ftr" sz="quarter" idx="11"/>
          </p:nvPr>
        </p:nvSpPr>
        <p:spPr>
          <a:xfrm>
            <a:off x="3124200" y="5807075"/>
            <a:ext cx="2895600" cy="365125"/>
          </a:xfrm>
        </p:spPr>
        <p:txBody>
          <a:bodyPr/>
          <a:lstStyle/>
          <a:p>
            <a:endParaRPr lang="en-US"/>
          </a:p>
        </p:txBody>
      </p:sp>
      <p:sp>
        <p:nvSpPr>
          <p:cNvPr id="9" name="Slide Number Placeholder 5"/>
          <p:cNvSpPr>
            <a:spLocks noGrp="1"/>
          </p:cNvSpPr>
          <p:nvPr>
            <p:ph type="sldNum" sz="quarter" idx="12"/>
          </p:nvPr>
        </p:nvSpPr>
        <p:spPr>
          <a:xfrm>
            <a:off x="6629400" y="5807075"/>
            <a:ext cx="2133600" cy="365125"/>
          </a:xfrm>
        </p:spPr>
        <p:txBody>
          <a:bodyPr/>
          <a:lstStyle/>
          <a:p>
            <a:fld id="{9E3EFB43-BEAF-4970-A06C-24B01B76FA99}"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Rectangle 5"/>
          <p:cNvSpPr/>
          <p:nvPr userDrawn="1"/>
        </p:nvSpPr>
        <p:spPr>
          <a:xfrm>
            <a:off x="0" y="0"/>
            <a:ext cx="9144000" cy="6858000"/>
          </a:xfrm>
          <a:prstGeom prst="rect">
            <a:avLst/>
          </a:prstGeom>
          <a:solidFill>
            <a:schemeClr val="tx1"/>
          </a:solidFill>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pic>
        <p:nvPicPr>
          <p:cNvPr id="10" name="Picture 9" descr="UCCS Signature - Reverse.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6300" y="2438400"/>
            <a:ext cx="7391400" cy="1023257"/>
          </a:xfrm>
          <a:prstGeom prst="rect">
            <a:avLst/>
          </a:prstGeom>
        </p:spPr>
      </p:pic>
      <p:pic>
        <p:nvPicPr>
          <p:cNvPr id="5" name="Picture 4" descr="UCwCampusesRev.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86000" y="4191000"/>
            <a:ext cx="5029200" cy="960704"/>
          </a:xfrm>
          <a:prstGeom prst="rect">
            <a:avLst/>
          </a:prstGeom>
        </p:spPr>
      </p:pic>
    </p:spTree>
    <p:extLst>
      <p:ext uri="{BB962C8B-B14F-4D97-AF65-F5344CB8AC3E}">
        <p14:creationId xmlns:p14="http://schemas.microsoft.com/office/powerpoint/2010/main" val="1737475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0349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419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49ADDE-98E8-4149-84E6-9A28F99CE161}" type="datetimeFigureOut">
              <a:rPr lang="en-US" smtClean="0"/>
              <a:pPr/>
              <a:t>12/18/2025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3EFB43-BEAF-4970-A06C-24B01B76FA99}" type="slidenum">
              <a:rPr lang="en-US" smtClean="0"/>
              <a:pPr/>
              <a:t>‹#›</a:t>
            </a:fld>
            <a:endParaRPr lang="en-US"/>
          </a:p>
        </p:txBody>
      </p:sp>
      <p:sp>
        <p:nvSpPr>
          <p:cNvPr id="7" name="Rectangle 6"/>
          <p:cNvSpPr/>
          <p:nvPr/>
        </p:nvSpPr>
        <p:spPr>
          <a:xfrm>
            <a:off x="0" y="6172200"/>
            <a:ext cx="9144000" cy="685800"/>
          </a:xfrm>
          <a:prstGeom prst="rect">
            <a:avLst/>
          </a:prstGeom>
          <a:solidFill>
            <a:schemeClr val="tx1"/>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9" descr="UCCS Signature - Reverse.png"/>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57200" y="6351379"/>
            <a:ext cx="2581774" cy="354221"/>
          </a:xfrm>
          <a:prstGeom prst="rect">
            <a:avLst/>
          </a:prstGeom>
        </p:spPr>
      </p:pic>
      <p:pic>
        <p:nvPicPr>
          <p:cNvPr id="12" name="Picture 11" descr="UCwCampusesRev.png"/>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6477000" y="6283472"/>
            <a:ext cx="2209801" cy="42212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spcBef>
          <a:spcPct val="0"/>
        </a:spcBef>
        <a:buNone/>
        <a:defRPr sz="40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800" kern="1200">
          <a:solidFill>
            <a:schemeClr val="tx1"/>
          </a:solidFill>
          <a:latin typeface="Arial Black"/>
          <a:ea typeface="+mn-ea"/>
          <a:cs typeface="Arial Black"/>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b="1" i="1"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3.mp4"/><Relationship Id="rId1" Type="http://schemas.microsoft.com/office/2007/relationships/media" Target="../media/media3.mp4"/><Relationship Id="rId4" Type="http://schemas.openxmlformats.org/officeDocument/2006/relationships/image" Target="../media/image2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DE6DB-69E8-9236-8075-ECC3FFB57E33}"/>
              </a:ext>
            </a:extLst>
          </p:cNvPr>
          <p:cNvSpPr>
            <a:spLocks noGrp="1"/>
          </p:cNvSpPr>
          <p:nvPr>
            <p:ph type="ctrTitle"/>
          </p:nvPr>
        </p:nvSpPr>
        <p:spPr>
          <a:xfrm>
            <a:off x="-2219" y="1409115"/>
            <a:ext cx="9148438" cy="2479859"/>
          </a:xfrm>
        </p:spPr>
        <p:txBody>
          <a:bodyPr vert="horz" lIns="91440" tIns="45720" rIns="91440" bIns="45720" rtlCol="0" anchor="ctr">
            <a:noAutofit/>
          </a:bodyPr>
          <a:lstStyle/>
          <a:p>
            <a:r>
              <a:rPr lang="en-US" sz="3200">
                <a:ea typeface="+mj-lt"/>
                <a:cs typeface="+mj-lt"/>
              </a:rPr>
              <a:t>Machine Learning for Exoplanet Detection: Identifying Exoplanets in Light Curves</a:t>
            </a:r>
          </a:p>
        </p:txBody>
      </p:sp>
      <p:sp>
        <p:nvSpPr>
          <p:cNvPr id="3" name="Subtitle 2">
            <a:extLst>
              <a:ext uri="{FF2B5EF4-FFF2-40B4-BE49-F238E27FC236}">
                <a16:creationId xmlns:a16="http://schemas.microsoft.com/office/drawing/2014/main" id="{69121B1C-EF29-5C6E-7DCB-F55AAE6E03E8}"/>
              </a:ext>
            </a:extLst>
          </p:cNvPr>
          <p:cNvSpPr>
            <a:spLocks noGrp="1"/>
          </p:cNvSpPr>
          <p:nvPr>
            <p:ph type="subTitle" idx="1"/>
          </p:nvPr>
        </p:nvSpPr>
        <p:spPr>
          <a:xfrm>
            <a:off x="513057" y="3886200"/>
            <a:ext cx="8138573" cy="1752600"/>
          </a:xfrm>
        </p:spPr>
        <p:txBody>
          <a:bodyPr vert="horz" lIns="91440" tIns="45720" rIns="91440" bIns="45720" rtlCol="0" anchor="t">
            <a:normAutofit/>
          </a:bodyPr>
          <a:lstStyle/>
          <a:p>
            <a:r>
              <a:rPr lang="en-US">
                <a:latin typeface="Calibri"/>
                <a:ea typeface="Calibri"/>
              </a:rPr>
              <a:t>Tristan Moffett, Josh Manchester, Brianne Leatherman </a:t>
            </a:r>
          </a:p>
          <a:p>
            <a:r>
              <a:rPr lang="en-US">
                <a:latin typeface="Calibri"/>
                <a:ea typeface="Calibri"/>
              </a:rPr>
              <a:t>CS 4820</a:t>
            </a:r>
          </a:p>
          <a:p>
            <a:r>
              <a:rPr lang="en-US">
                <a:latin typeface="Calibri"/>
                <a:ea typeface="Calibri"/>
              </a:rPr>
              <a:t>Professor </a:t>
            </a:r>
            <a:r>
              <a:rPr lang="en-US" err="1">
                <a:latin typeface="Calibri"/>
                <a:ea typeface="Calibri"/>
              </a:rPr>
              <a:t>Atyabi</a:t>
            </a:r>
          </a:p>
        </p:txBody>
      </p:sp>
    </p:spTree>
    <p:extLst>
      <p:ext uri="{BB962C8B-B14F-4D97-AF65-F5344CB8AC3E}">
        <p14:creationId xmlns:p14="http://schemas.microsoft.com/office/powerpoint/2010/main" val="993868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9F690-8CF4-A30B-9A64-778F41609362}"/>
              </a:ext>
            </a:extLst>
          </p:cNvPr>
          <p:cNvSpPr>
            <a:spLocks noGrp="1"/>
          </p:cNvSpPr>
          <p:nvPr>
            <p:ph type="title"/>
          </p:nvPr>
        </p:nvSpPr>
        <p:spPr>
          <a:xfrm>
            <a:off x="457200" y="274638"/>
            <a:ext cx="7547643" cy="1143000"/>
          </a:xfrm>
        </p:spPr>
        <p:txBody>
          <a:bodyPr>
            <a:normAutofit fontScale="90000"/>
          </a:bodyPr>
          <a:lstStyle/>
          <a:p>
            <a:pPr algn="ctr"/>
            <a:r>
              <a:rPr lang="en-US">
                <a:cs typeface="Arial"/>
              </a:rPr>
              <a:t>General background of Exoplanet discovery</a:t>
            </a:r>
            <a:endParaRPr lang="en-US"/>
          </a:p>
        </p:txBody>
      </p:sp>
      <p:sp>
        <p:nvSpPr>
          <p:cNvPr id="3" name="Content Placeholder 2">
            <a:extLst>
              <a:ext uri="{FF2B5EF4-FFF2-40B4-BE49-F238E27FC236}">
                <a16:creationId xmlns:a16="http://schemas.microsoft.com/office/drawing/2014/main" id="{17396975-2E5F-284F-4AD1-B952D34CE8DB}"/>
              </a:ext>
            </a:extLst>
          </p:cNvPr>
          <p:cNvSpPr>
            <a:spLocks noGrp="1"/>
          </p:cNvSpPr>
          <p:nvPr>
            <p:ph sz="half" idx="1"/>
          </p:nvPr>
        </p:nvSpPr>
        <p:spPr>
          <a:xfrm>
            <a:off x="457200" y="1600200"/>
            <a:ext cx="8016034" cy="4525963"/>
          </a:xfrm>
        </p:spPr>
        <p:txBody>
          <a:bodyPr vert="horz" lIns="91440" tIns="45720" rIns="91440" bIns="45720" rtlCol="0" anchor="t">
            <a:normAutofit lnSpcReduction="10000"/>
          </a:bodyPr>
          <a:lstStyle/>
          <a:p>
            <a:pPr marL="0" indent="0">
              <a:buNone/>
            </a:pPr>
            <a:r>
              <a:rPr lang="en-US">
                <a:latin typeface="Calibri"/>
                <a:ea typeface="Calibri"/>
              </a:rPr>
              <a:t>Kepler/K2 mission</a:t>
            </a:r>
            <a:endParaRPr lang="en-US"/>
          </a:p>
          <a:p>
            <a:pPr>
              <a:buChar char="•"/>
            </a:pPr>
            <a:r>
              <a:rPr lang="en-US" sz="2200">
                <a:latin typeface="Calibri"/>
                <a:ea typeface="Calibri"/>
              </a:rPr>
              <a:t>2009-2018</a:t>
            </a:r>
            <a:endParaRPr lang="en-US" sz="2200">
              <a:latin typeface="Arial Black"/>
            </a:endParaRPr>
          </a:p>
          <a:p>
            <a:pPr>
              <a:buChar char="•"/>
            </a:pPr>
            <a:r>
              <a:rPr lang="en-US" sz="2200">
                <a:latin typeface="Calibri"/>
                <a:ea typeface="Calibri"/>
                <a:cs typeface="Calibri"/>
              </a:rPr>
              <a:t>Continuously monitored one section of sky for 4 years</a:t>
            </a:r>
          </a:p>
          <a:p>
            <a:pPr>
              <a:buChar char="•"/>
            </a:pPr>
            <a:r>
              <a:rPr lang="en-US" sz="2200">
                <a:latin typeface="Calibri"/>
                <a:ea typeface="Calibri"/>
                <a:cs typeface="Calibri"/>
              </a:rPr>
              <a:t>More than 4000 potential planets, and 2700 are confirmed</a:t>
            </a:r>
          </a:p>
          <a:p>
            <a:pPr marL="0" indent="0">
              <a:buNone/>
            </a:pPr>
            <a:r>
              <a:rPr lang="en-US">
                <a:latin typeface="Calibri"/>
                <a:ea typeface="Calibri"/>
              </a:rPr>
              <a:t>TESS (Transiting Exoplanet Survey Satellite) mission</a:t>
            </a:r>
          </a:p>
          <a:p>
            <a:pPr>
              <a:buFont typeface="Arial" pitchFamily="34" charset="0"/>
              <a:buChar char="•"/>
            </a:pPr>
            <a:r>
              <a:rPr lang="en-US" sz="2200">
                <a:latin typeface="Calibri"/>
                <a:ea typeface="Calibri"/>
              </a:rPr>
              <a:t>2018-present</a:t>
            </a:r>
            <a:endParaRPr lang="en-US" sz="2200">
              <a:latin typeface="Calibri"/>
              <a:ea typeface="Calibri"/>
              <a:cs typeface="Calibri"/>
            </a:endParaRPr>
          </a:p>
          <a:p>
            <a:pPr>
              <a:buFont typeface="Arial" pitchFamily="34" charset="0"/>
              <a:buChar char="•"/>
            </a:pPr>
            <a:r>
              <a:rPr lang="en-US" sz="2200">
                <a:latin typeface="Calibri"/>
                <a:ea typeface="Calibri"/>
                <a:cs typeface="Calibri"/>
              </a:rPr>
              <a:t>Monitors a different segment of sky every 27 days</a:t>
            </a:r>
          </a:p>
          <a:p>
            <a:pPr>
              <a:buFont typeface="Arial" pitchFamily="34" charset="0"/>
              <a:buChar char="•"/>
            </a:pPr>
            <a:r>
              <a:rPr lang="en-US" sz="2200">
                <a:latin typeface="Calibri"/>
                <a:ea typeface="Calibri"/>
                <a:cs typeface="Calibri"/>
              </a:rPr>
              <a:t>Over 7000 potential planets, and almost 700 confirmed</a:t>
            </a:r>
          </a:p>
          <a:p>
            <a:pPr marL="0" indent="0">
              <a:buNone/>
            </a:pPr>
            <a:r>
              <a:rPr lang="en-US">
                <a:latin typeface="Calibri"/>
                <a:ea typeface="Calibri"/>
                <a:cs typeface="Calibri"/>
              </a:rPr>
              <a:t>Exoplanets often found by analyzing light curve data</a:t>
            </a:r>
          </a:p>
          <a:p>
            <a:pPr>
              <a:buFont typeface="Arial" pitchFamily="34" charset="0"/>
              <a:buChar char="•"/>
            </a:pPr>
            <a:r>
              <a:rPr lang="en-US" sz="2200">
                <a:latin typeface="Calibri"/>
                <a:ea typeface="Calibri"/>
                <a:cs typeface="Calibri"/>
              </a:rPr>
              <a:t>Looking for periodic threshold crossing events, or dips in intensity of the light coming from the star</a:t>
            </a:r>
          </a:p>
          <a:p>
            <a:pPr lvl="1">
              <a:buFont typeface="Arial" pitchFamily="34" charset="0"/>
              <a:buChar char="•"/>
            </a:pPr>
            <a:endParaRPr lang="en-US">
              <a:latin typeface="Calibri"/>
              <a:ea typeface="Calibri"/>
              <a:cs typeface="Calibri"/>
            </a:endParaRPr>
          </a:p>
        </p:txBody>
      </p:sp>
    </p:spTree>
    <p:extLst>
      <p:ext uri="{BB962C8B-B14F-4D97-AF65-F5344CB8AC3E}">
        <p14:creationId xmlns:p14="http://schemas.microsoft.com/office/powerpoint/2010/main" val="1794961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1E794-9E24-D8B5-3731-DB0B2B046B4B}"/>
              </a:ext>
            </a:extLst>
          </p:cNvPr>
          <p:cNvSpPr>
            <a:spLocks noGrp="1"/>
          </p:cNvSpPr>
          <p:nvPr>
            <p:ph type="title"/>
          </p:nvPr>
        </p:nvSpPr>
        <p:spPr/>
        <p:txBody>
          <a:bodyPr>
            <a:normAutofit fontScale="90000"/>
          </a:bodyPr>
          <a:lstStyle/>
          <a:p>
            <a:r>
              <a:rPr lang="en-US">
                <a:cs typeface="Arial"/>
              </a:rPr>
              <a:t>What are Threshold Crossing Events?</a:t>
            </a:r>
            <a:endParaRPr lang="en-US"/>
          </a:p>
        </p:txBody>
      </p:sp>
      <p:pic>
        <p:nvPicPr>
          <p:cNvPr id="4" name="Content Placeholder 3" descr="A diagram of a solar system&#10;&#10;AI-generated content may be incorrect.">
            <a:extLst>
              <a:ext uri="{FF2B5EF4-FFF2-40B4-BE49-F238E27FC236}">
                <a16:creationId xmlns:a16="http://schemas.microsoft.com/office/drawing/2014/main" id="{60BB3A29-F4AB-E391-3F86-768D8126B320}"/>
              </a:ext>
            </a:extLst>
          </p:cNvPr>
          <p:cNvPicPr>
            <a:picLocks noGrp="1" noChangeAspect="1"/>
          </p:cNvPicPr>
          <p:nvPr>
            <p:ph idx="1"/>
          </p:nvPr>
        </p:nvPicPr>
        <p:blipFill>
          <a:blip r:embed="rId2"/>
          <a:srcRect t="29837" r="36"/>
          <a:stretch>
            <a:fillRect/>
          </a:stretch>
        </p:blipFill>
        <p:spPr>
          <a:xfrm>
            <a:off x="541134" y="2099790"/>
            <a:ext cx="8054966" cy="3003559"/>
          </a:xfrm>
          <a:prstGeom prst="rect">
            <a:avLst/>
          </a:prstGeom>
        </p:spPr>
      </p:pic>
      <p:sp>
        <p:nvSpPr>
          <p:cNvPr id="5" name="TextBox 4">
            <a:extLst>
              <a:ext uri="{FF2B5EF4-FFF2-40B4-BE49-F238E27FC236}">
                <a16:creationId xmlns:a16="http://schemas.microsoft.com/office/drawing/2014/main" id="{45C8BC2F-C265-A994-99B7-AFE30EF12855}"/>
              </a:ext>
            </a:extLst>
          </p:cNvPr>
          <p:cNvSpPr txBox="1"/>
          <p:nvPr/>
        </p:nvSpPr>
        <p:spPr>
          <a:xfrm>
            <a:off x="545047" y="5636138"/>
            <a:ext cx="644671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Calibri"/>
                <a:ea typeface="Calibri"/>
                <a:cs typeface="Calibri"/>
              </a:rPr>
              <a:t>NASA. (2010, January 4). Light curves of Kepler’s first 5 discoveries [Image]. NASA. https://www.nasa.gov/image-article/light-curves-of-keplers-first-5-discoveries/ </a:t>
            </a:r>
          </a:p>
        </p:txBody>
      </p:sp>
    </p:spTree>
    <p:extLst>
      <p:ext uri="{BB962C8B-B14F-4D97-AF65-F5344CB8AC3E}">
        <p14:creationId xmlns:p14="http://schemas.microsoft.com/office/powerpoint/2010/main" val="3577182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0F644-AA98-3E58-39E8-725408E9A38A}"/>
              </a:ext>
            </a:extLst>
          </p:cNvPr>
          <p:cNvSpPr>
            <a:spLocks noGrp="1"/>
          </p:cNvSpPr>
          <p:nvPr>
            <p:ph type="title"/>
          </p:nvPr>
        </p:nvSpPr>
        <p:spPr/>
        <p:txBody>
          <a:bodyPr/>
          <a:lstStyle/>
          <a:p>
            <a:pPr algn="ctr"/>
            <a:r>
              <a:rPr lang="en-US">
                <a:cs typeface="Arial"/>
              </a:rPr>
              <a:t>Problem Statement and Method </a:t>
            </a:r>
          </a:p>
        </p:txBody>
      </p:sp>
      <p:sp>
        <p:nvSpPr>
          <p:cNvPr id="3" name="Content Placeholder 2">
            <a:extLst>
              <a:ext uri="{FF2B5EF4-FFF2-40B4-BE49-F238E27FC236}">
                <a16:creationId xmlns:a16="http://schemas.microsoft.com/office/drawing/2014/main" id="{D9F031BA-9F83-A5B7-5D35-D74EF3693143}"/>
              </a:ext>
            </a:extLst>
          </p:cNvPr>
          <p:cNvSpPr>
            <a:spLocks noGrp="1"/>
          </p:cNvSpPr>
          <p:nvPr>
            <p:ph sz="half" idx="1"/>
          </p:nvPr>
        </p:nvSpPr>
        <p:spPr>
          <a:xfrm>
            <a:off x="457200" y="1600200"/>
            <a:ext cx="8077939" cy="4525963"/>
          </a:xfrm>
        </p:spPr>
        <p:txBody>
          <a:bodyPr vert="horz" lIns="91440" tIns="45720" rIns="91440" bIns="45720" rtlCol="0" anchor="t">
            <a:normAutofit lnSpcReduction="10000"/>
          </a:bodyPr>
          <a:lstStyle/>
          <a:p>
            <a:pPr marL="0" indent="0">
              <a:buNone/>
            </a:pPr>
            <a:r>
              <a:rPr lang="en-US" sz="2400">
                <a:latin typeface="Calibri"/>
                <a:ea typeface="Calibri"/>
              </a:rPr>
              <a:t>There is currently way more data than can be analyzed by hand, and Machine Learning (ML) is the logical solution. </a:t>
            </a:r>
          </a:p>
          <a:p>
            <a:pPr marL="0" indent="0">
              <a:buNone/>
            </a:pPr>
            <a:endParaRPr lang="en-US" sz="2400">
              <a:latin typeface="Calibri"/>
              <a:ea typeface="Calibri"/>
            </a:endParaRPr>
          </a:p>
          <a:p>
            <a:pPr marL="0" indent="0">
              <a:buNone/>
            </a:pPr>
            <a:r>
              <a:rPr lang="en-US" sz="2400">
                <a:latin typeface="Calibri"/>
                <a:ea typeface="Calibri"/>
              </a:rPr>
              <a:t>We will c</a:t>
            </a:r>
            <a:r>
              <a:rPr lang="en-US" sz="2400">
                <a:latin typeface="Calibri"/>
                <a:ea typeface="Calibri"/>
                <a:cs typeface="Calibri"/>
              </a:rPr>
              <a:t>ompare the performance of the following ML methods after training and testing on the same sets of data:</a:t>
            </a:r>
            <a:endParaRPr lang="en-US" sz="2400">
              <a:latin typeface="Calibri"/>
              <a:ea typeface="Calibri"/>
            </a:endParaRPr>
          </a:p>
          <a:p>
            <a:pPr>
              <a:buFont typeface="Arial"/>
              <a:buChar char="•"/>
            </a:pPr>
            <a:r>
              <a:rPr lang="en-US" sz="2200">
                <a:latin typeface="Calibri"/>
                <a:ea typeface="Calibri"/>
                <a:cs typeface="Calibri"/>
              </a:rPr>
              <a:t>Convolutional Neural Network (CNN)</a:t>
            </a:r>
          </a:p>
          <a:p>
            <a:pPr>
              <a:buFont typeface="Arial,Sans-Serif"/>
              <a:buChar char="•"/>
            </a:pPr>
            <a:r>
              <a:rPr lang="en-US" sz="2200">
                <a:latin typeface="Calibri"/>
                <a:ea typeface="Calibri"/>
                <a:cs typeface="Calibri"/>
              </a:rPr>
              <a:t>Transformers</a:t>
            </a:r>
          </a:p>
          <a:p>
            <a:pPr>
              <a:buFont typeface="Arial,Sans-Serif"/>
              <a:buChar char="•"/>
            </a:pPr>
            <a:r>
              <a:rPr lang="en-US" sz="2200">
                <a:latin typeface="Calibri"/>
                <a:ea typeface="Calibri"/>
                <a:cs typeface="Calibri"/>
              </a:rPr>
              <a:t>Recursive Neural Network (RNN)</a:t>
            </a:r>
            <a:endParaRPr lang="en-US"/>
          </a:p>
          <a:p>
            <a:pPr>
              <a:buFont typeface="Arial,Sans-Serif"/>
              <a:buChar char="•"/>
            </a:pPr>
            <a:endParaRPr lang="en-US" sz="2200">
              <a:latin typeface="Calibri"/>
              <a:ea typeface="Calibri"/>
              <a:cs typeface="Calibri"/>
            </a:endParaRPr>
          </a:p>
          <a:p>
            <a:pPr marL="0" indent="0">
              <a:buNone/>
            </a:pPr>
            <a:r>
              <a:rPr lang="en-US" sz="2400">
                <a:latin typeface="Calibri"/>
                <a:ea typeface="Calibri"/>
              </a:rPr>
              <a:t>We will use these deep learning methods to analyze light curve data for threshold crossing events (TCEs) which may indicate the transit of an exoplanet</a:t>
            </a:r>
            <a:endParaRPr lang="en-US" sz="2400"/>
          </a:p>
          <a:p>
            <a:endParaRPr lang="en-US" sz="2200">
              <a:latin typeface="Calibri"/>
              <a:ea typeface="Calibri"/>
              <a:cs typeface="Calibri"/>
            </a:endParaRPr>
          </a:p>
          <a:p>
            <a:pPr marL="0" indent="0">
              <a:buNone/>
            </a:pPr>
            <a:endParaRPr lang="en-US" sz="2400">
              <a:latin typeface="Calibri"/>
              <a:ea typeface="Calibri"/>
              <a:cs typeface="Calibri"/>
            </a:endParaRPr>
          </a:p>
        </p:txBody>
      </p:sp>
    </p:spTree>
    <p:extLst>
      <p:ext uri="{BB962C8B-B14F-4D97-AF65-F5344CB8AC3E}">
        <p14:creationId xmlns:p14="http://schemas.microsoft.com/office/powerpoint/2010/main" val="797779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000C3-BDBB-D1EF-F869-22934F75F481}"/>
              </a:ext>
            </a:extLst>
          </p:cNvPr>
          <p:cNvSpPr>
            <a:spLocks noGrp="1"/>
          </p:cNvSpPr>
          <p:nvPr>
            <p:ph type="title"/>
          </p:nvPr>
        </p:nvSpPr>
        <p:spPr/>
        <p:txBody>
          <a:bodyPr/>
          <a:lstStyle/>
          <a:p>
            <a:pPr algn="ctr"/>
            <a:r>
              <a:rPr lang="en-US">
                <a:cs typeface="Arial"/>
              </a:rPr>
              <a:t>Data sets</a:t>
            </a:r>
          </a:p>
        </p:txBody>
      </p:sp>
      <p:sp>
        <p:nvSpPr>
          <p:cNvPr id="3" name="Content Placeholder 2">
            <a:extLst>
              <a:ext uri="{FF2B5EF4-FFF2-40B4-BE49-F238E27FC236}">
                <a16:creationId xmlns:a16="http://schemas.microsoft.com/office/drawing/2014/main" id="{D9E4BEE9-477C-4234-2760-DBDA465C78CE}"/>
              </a:ext>
            </a:extLst>
          </p:cNvPr>
          <p:cNvSpPr>
            <a:spLocks noGrp="1"/>
          </p:cNvSpPr>
          <p:nvPr>
            <p:ph sz="half" idx="1"/>
          </p:nvPr>
        </p:nvSpPr>
        <p:spPr>
          <a:xfrm>
            <a:off x="457200" y="1600200"/>
            <a:ext cx="8444143" cy="4525963"/>
          </a:xfrm>
        </p:spPr>
        <p:txBody>
          <a:bodyPr vert="horz" lIns="91440" tIns="45720" rIns="91440" bIns="45720" rtlCol="0" anchor="t">
            <a:normAutofit/>
          </a:bodyPr>
          <a:lstStyle/>
          <a:p>
            <a:r>
              <a:rPr lang="en-US" b="1">
                <a:latin typeface="Calibri"/>
                <a:ea typeface="Calibri"/>
                <a:cs typeface="Calibri"/>
              </a:rPr>
              <a:t>Simulated K2 data</a:t>
            </a:r>
            <a:r>
              <a:rPr lang="en-US">
                <a:latin typeface="Calibri"/>
                <a:ea typeface="Calibri"/>
                <a:cs typeface="Calibri"/>
              </a:rPr>
              <a:t> (free data sets available from NASA Exoplanet Archive)</a:t>
            </a:r>
            <a:endParaRPr lang="en-US" sz="2400">
              <a:latin typeface="Calibri"/>
              <a:ea typeface="Calibri"/>
              <a:cs typeface="Calibri"/>
            </a:endParaRPr>
          </a:p>
          <a:p>
            <a:r>
              <a:rPr lang="en-US" b="1">
                <a:latin typeface="Calibri"/>
                <a:ea typeface="Calibri"/>
                <a:cs typeface="Calibri"/>
              </a:rPr>
              <a:t>Labeled TESS light curves</a:t>
            </a:r>
            <a:r>
              <a:rPr lang="en-US">
                <a:latin typeface="Calibri"/>
                <a:ea typeface="Calibri"/>
                <a:cs typeface="Calibri"/>
              </a:rPr>
              <a:t> (list of confirmed planets and false positives from NASA Exoplanet Archive, light curves available from MAST)</a:t>
            </a:r>
          </a:p>
          <a:p>
            <a:pPr marL="0" indent="0">
              <a:buNone/>
            </a:pPr>
            <a:endParaRPr lang="en-US">
              <a:latin typeface="Calibri"/>
              <a:ea typeface="Calibri"/>
              <a:cs typeface="Calibri"/>
            </a:endParaRPr>
          </a:p>
          <a:p>
            <a:r>
              <a:rPr lang="en-US">
                <a:latin typeface="Calibri"/>
                <a:ea typeface="Calibri"/>
                <a:cs typeface="Calibri"/>
              </a:rPr>
              <a:t>Reserve 20% of each data set for testing </a:t>
            </a:r>
          </a:p>
          <a:p>
            <a:r>
              <a:rPr lang="en-US">
                <a:latin typeface="Calibri"/>
                <a:ea typeface="Calibri"/>
                <a:cs typeface="Calibri"/>
              </a:rPr>
              <a:t>If models are accurate, compare results when looking at unlabeled Kepler/K2/TESS data </a:t>
            </a:r>
          </a:p>
        </p:txBody>
      </p:sp>
    </p:spTree>
    <p:extLst>
      <p:ext uri="{BB962C8B-B14F-4D97-AF65-F5344CB8AC3E}">
        <p14:creationId xmlns:p14="http://schemas.microsoft.com/office/powerpoint/2010/main" val="43152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22821" y="437605"/>
            <a:ext cx="5098447" cy="584775"/>
          </a:xfrm>
          <a:prstGeom prst="rect">
            <a:avLst/>
          </a:prstGeom>
          <a:noFill/>
        </p:spPr>
        <p:txBody>
          <a:bodyPr wrap="none" lIns="91440" tIns="45720" rIns="91440" bIns="45720" anchor="t">
            <a:spAutoFit/>
          </a:bodyPr>
          <a:lstStyle/>
          <a:p>
            <a:pPr>
              <a:defRPr sz="3200" b="1"/>
            </a:pPr>
            <a:r>
              <a:rPr lang="en-US"/>
              <a:t>New RNN Related</a:t>
            </a:r>
            <a:r>
              <a:t> </a:t>
            </a:r>
            <a:r>
              <a:rPr lang="en-US"/>
              <a:t>Works </a:t>
            </a:r>
            <a:endParaRPr lang="en-US">
              <a:cs typeface="Arial"/>
            </a:endParaRPr>
          </a:p>
        </p:txBody>
      </p:sp>
      <p:sp>
        <p:nvSpPr>
          <p:cNvPr id="4" name="TextBox 3"/>
          <p:cNvSpPr txBox="1"/>
          <p:nvPr/>
        </p:nvSpPr>
        <p:spPr>
          <a:xfrm>
            <a:off x="455919" y="1320757"/>
            <a:ext cx="8229600" cy="4939814"/>
          </a:xfrm>
          <a:prstGeom prst="rect">
            <a:avLst/>
          </a:prstGeom>
          <a:noFill/>
        </p:spPr>
        <p:txBody>
          <a:bodyPr wrap="square" lIns="91440" tIns="45720" rIns="91440" bIns="45720" anchor="t">
            <a:spAutoFit/>
          </a:bodyPr>
          <a:lstStyle/>
          <a:p>
            <a:pPr>
              <a:defRPr sz="1200"/>
            </a:pPr>
            <a:r>
              <a:rPr lang="en-US" sz="2100" dirty="0">
                <a:cs typeface="Arial"/>
              </a:rPr>
              <a:t>Becker, I., </a:t>
            </a:r>
            <a:r>
              <a:rPr lang="en-US" sz="2100" dirty="0" err="1">
                <a:cs typeface="Arial"/>
              </a:rPr>
              <a:t>Pichara</a:t>
            </a:r>
            <a:r>
              <a:rPr lang="en-US" sz="2100" dirty="0">
                <a:cs typeface="Arial"/>
              </a:rPr>
              <a:t>, K., </a:t>
            </a:r>
            <a:r>
              <a:rPr lang="en-US" sz="2100" dirty="0" err="1">
                <a:cs typeface="Arial"/>
              </a:rPr>
              <a:t>Catelan</a:t>
            </a:r>
            <a:r>
              <a:rPr lang="en-US" sz="2100" dirty="0">
                <a:cs typeface="Arial"/>
              </a:rPr>
              <a:t>, M., Protopapas, P., Aguirre, C., &amp; </a:t>
            </a:r>
            <a:r>
              <a:rPr lang="en-US" sz="2100" dirty="0" err="1">
                <a:cs typeface="Arial"/>
              </a:rPr>
              <a:t>Nikzat</a:t>
            </a:r>
            <a:r>
              <a:rPr lang="en-US" sz="2100" dirty="0">
                <a:cs typeface="Arial"/>
              </a:rPr>
              <a:t>, F. (2021). Scalable end-to-end recurrent neural network for variable star classification. Monthly Notices of the Royal Astronomical Society, 493(2), 2981-2995.</a:t>
            </a:r>
            <a:br>
              <a:rPr lang="en-US" sz="2100" dirty="0">
                <a:cs typeface="Arial"/>
              </a:rPr>
            </a:br>
            <a:r>
              <a:rPr lang="en-US" sz="2100" dirty="0">
                <a:cs typeface="Arial"/>
              </a:rPr>
              <a:t> </a:t>
            </a:r>
            <a:br>
              <a:rPr lang="en-US" sz="2100" dirty="0">
                <a:cs typeface="Arial"/>
              </a:rPr>
            </a:br>
            <a:r>
              <a:rPr lang="en-US" sz="2100" dirty="0">
                <a:cs typeface="Arial"/>
              </a:rPr>
              <a:t>Schanche, N., Cameron, A. C., </a:t>
            </a:r>
            <a:r>
              <a:rPr lang="en-US" sz="2100" dirty="0" err="1">
                <a:cs typeface="Arial"/>
              </a:rPr>
              <a:t>Hébrard</a:t>
            </a:r>
            <a:r>
              <a:rPr lang="en-US" sz="2100" dirty="0">
                <a:cs typeface="Arial"/>
              </a:rPr>
              <a:t>, G., Nielsen, L., </a:t>
            </a:r>
            <a:r>
              <a:rPr lang="en-US" sz="2100" dirty="0" err="1">
                <a:cs typeface="Arial"/>
              </a:rPr>
              <a:t>Triaud</a:t>
            </a:r>
            <a:r>
              <a:rPr lang="en-US" sz="2100" dirty="0">
                <a:cs typeface="Arial"/>
              </a:rPr>
              <a:t>, A. H. M. J., Almenara, J. M., ... </a:t>
            </a:r>
            <a:r>
              <a:rPr lang="en-US" sz="2100" dirty="0" err="1">
                <a:cs typeface="Arial"/>
              </a:rPr>
              <a:t>Udry</a:t>
            </a:r>
            <a:r>
              <a:rPr lang="en-US" sz="2100" dirty="0">
                <a:cs typeface="Arial"/>
              </a:rPr>
              <a:t>, S. (2019). Machine-learning approaches to exoplanet transit detection and candidate validation in wide-field ground-based surveys. Monthly Notices of the Royal Astronomical Society, 483(4), 5534-5547.</a:t>
            </a:r>
            <a:br>
              <a:rPr lang="en-US" sz="2100" dirty="0">
                <a:cs typeface="Arial"/>
              </a:rPr>
            </a:br>
            <a:r>
              <a:rPr lang="en-US" sz="2100" dirty="0">
                <a:cs typeface="Arial"/>
              </a:rPr>
              <a:t> </a:t>
            </a:r>
            <a:br>
              <a:rPr lang="en-US" sz="2100" dirty="0">
                <a:cs typeface="Arial"/>
              </a:rPr>
            </a:br>
            <a:r>
              <a:rPr lang="en-US" sz="2100" dirty="0">
                <a:cs typeface="Arial"/>
              </a:rPr>
              <a:t>Malik, A., Moster, B. P., &amp; Obermeier, C. (2022). Exoplanet detection using machine learning. Monthly Notices of the Royal Astronomical Society, 513(4), 5505-5516.</a:t>
            </a:r>
            <a:endParaRPr lang="en-US" dirty="0"/>
          </a:p>
          <a:p>
            <a:pPr>
              <a:defRPr sz="1200"/>
            </a:pPr>
            <a:endParaRPr lang="en-US" sz="2100" dirty="0">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640080"/>
          </a:xfrm>
          <a:prstGeom prst="rect">
            <a:avLst/>
          </a:prstGeom>
          <a:noFill/>
        </p:spPr>
        <p:txBody>
          <a:bodyPr wrap="none">
            <a:spAutoFit/>
          </a:bodyPr>
          <a:lstStyle/>
          <a:p>
            <a:pPr>
              <a:defRPr sz="3200" b="1"/>
            </a:pPr>
            <a:r>
              <a:rPr dirty="0"/>
              <a:t>CNN-LSTM for Variable Star Classification</a:t>
            </a:r>
          </a:p>
        </p:txBody>
      </p:sp>
      <p:sp>
        <p:nvSpPr>
          <p:cNvPr id="4" name="Rounded Rectangle 3"/>
          <p:cNvSpPr/>
          <p:nvPr/>
        </p:nvSpPr>
        <p:spPr>
          <a:xfrm>
            <a:off x="457200" y="1097280"/>
            <a:ext cx="3657600" cy="1371600"/>
          </a:xfrm>
          <a:prstGeom prst="roundRect">
            <a:avLst/>
          </a:prstGeom>
          <a:solidFill>
            <a:srgbClr val="DCDCDC"/>
          </a:solidFill>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defRPr sz="1600" b="1"/>
            </a:pPr>
            <a:r>
              <a:rPr dirty="0">
                <a:solidFill>
                  <a:schemeClr val="tx1"/>
                </a:solidFill>
              </a:rPr>
              <a:t>Key Innovation</a:t>
            </a:r>
            <a:endParaRPr lang="en-US" dirty="0">
              <a:solidFill>
                <a:schemeClr val="tx1"/>
              </a:solidFill>
              <a:cs typeface="Arial"/>
            </a:endParaRPr>
          </a:p>
          <a:p>
            <a:pPr>
              <a:defRPr sz="1400"/>
            </a:pPr>
            <a:r>
              <a:rPr dirty="0">
                <a:solidFill>
                  <a:schemeClr val="tx1"/>
                </a:solidFill>
              </a:rPr>
              <a:t>Hybrid CNN-LSTM architecture achieves 92-95% accuracy classifying variable star light curves</a:t>
            </a:r>
            <a:endParaRPr dirty="0">
              <a:solidFill>
                <a:schemeClr val="tx1"/>
              </a:solidFill>
              <a:cs typeface="Arial"/>
            </a:endParaRPr>
          </a:p>
        </p:txBody>
      </p:sp>
      <p:sp>
        <p:nvSpPr>
          <p:cNvPr id="5" name="Rounded Rectangle 4"/>
          <p:cNvSpPr/>
          <p:nvPr/>
        </p:nvSpPr>
        <p:spPr>
          <a:xfrm>
            <a:off x="5029200" y="1097280"/>
            <a:ext cx="3657600" cy="1371600"/>
          </a:xfrm>
          <a:prstGeom prst="roundRect">
            <a:avLst/>
          </a:prstGeom>
          <a:solidFill>
            <a:srgbClr val="4169E1"/>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pPr>
            <a:r>
              <a:t>Key Takeaway</a:t>
            </a:r>
          </a:p>
          <a:p>
            <a:pPr>
              <a:defRPr sz="1400"/>
            </a:pPr>
            <a:r>
              <a:t>Raw time-series input works well; weighted loss handles severe class imbalance (10-20x) effectively</a:t>
            </a:r>
          </a:p>
        </p:txBody>
      </p:sp>
      <p:sp>
        <p:nvSpPr>
          <p:cNvPr id="6" name="TextBox 5"/>
          <p:cNvSpPr txBox="1"/>
          <p:nvPr/>
        </p:nvSpPr>
        <p:spPr>
          <a:xfrm>
            <a:off x="457200" y="2926080"/>
            <a:ext cx="4114800" cy="1371600"/>
          </a:xfrm>
          <a:prstGeom prst="rect">
            <a:avLst/>
          </a:prstGeom>
          <a:noFill/>
        </p:spPr>
        <p:txBody>
          <a:bodyPr wrap="square">
            <a:spAutoFit/>
          </a:bodyPr>
          <a:lstStyle/>
          <a:p>
            <a:pPr>
              <a:defRPr sz="1600"/>
            </a:pPr>
            <a:r>
              <a:t>Architecture:</a:t>
            </a:r>
          </a:p>
          <a:p>
            <a:pPr>
              <a:defRPr sz="1600"/>
            </a:pPr>
            <a:r>
              <a:t>• 1D CNN layers (kernel 3-7) for local feature extraction</a:t>
            </a:r>
          </a:p>
          <a:p>
            <a:pPr>
              <a:defRPr sz="1600"/>
            </a:pPr>
            <a:r>
              <a:t>• LSTM layers capture long-range temporal dependencies</a:t>
            </a:r>
          </a:p>
          <a:p>
            <a:pPr>
              <a:defRPr sz="1600"/>
            </a:pPr>
            <a:r>
              <a:t>• Hybrid outperforms single-architecture by 5-8%</a:t>
            </a:r>
          </a:p>
        </p:txBody>
      </p:sp>
      <p:sp>
        <p:nvSpPr>
          <p:cNvPr id="7" name="TextBox 6"/>
          <p:cNvSpPr txBox="1"/>
          <p:nvPr/>
        </p:nvSpPr>
        <p:spPr>
          <a:xfrm>
            <a:off x="5029200" y="2926080"/>
            <a:ext cx="4114800" cy="1371600"/>
          </a:xfrm>
          <a:prstGeom prst="rect">
            <a:avLst/>
          </a:prstGeom>
          <a:noFill/>
        </p:spPr>
        <p:txBody>
          <a:bodyPr wrap="square">
            <a:spAutoFit/>
          </a:bodyPr>
          <a:lstStyle/>
          <a:p>
            <a:pPr>
              <a:defRPr sz="1600"/>
            </a:pPr>
            <a:r>
              <a:t>Results:</a:t>
            </a:r>
          </a:p>
          <a:p>
            <a:pPr>
              <a:defRPr sz="1600"/>
            </a:pPr>
            <a:r>
              <a:t>• 92-95% accuracy on OGLE and CRTS surveys</a:t>
            </a:r>
          </a:p>
          <a:p>
            <a:pPr>
              <a:defRPr sz="1600"/>
            </a:pPr>
            <a:r>
              <a:t>• Cross-survey generalization validated</a:t>
            </a:r>
          </a:p>
          <a:p>
            <a:pPr>
              <a:defRPr sz="1600"/>
            </a:pPr>
            <a:r>
              <a:t>• Class imbalance handled via stratified sampling + weighted loss</a:t>
            </a:r>
          </a:p>
        </p:txBody>
      </p:sp>
      <p:sp>
        <p:nvSpPr>
          <p:cNvPr id="8" name="TextBox 7"/>
          <p:cNvSpPr txBox="1"/>
          <p:nvPr/>
        </p:nvSpPr>
        <p:spPr>
          <a:xfrm>
            <a:off x="284309" y="5511373"/>
            <a:ext cx="8229600" cy="553998"/>
          </a:xfrm>
          <a:prstGeom prst="rect">
            <a:avLst/>
          </a:prstGeom>
          <a:noFill/>
        </p:spPr>
        <p:txBody>
          <a:bodyPr wrap="square" lIns="91440" tIns="45720" rIns="91440" bIns="45720" anchor="t">
            <a:spAutoFit/>
          </a:bodyPr>
          <a:lstStyle/>
          <a:p>
            <a:pPr>
              <a:defRPr sz="1000"/>
            </a:pPr>
            <a:r>
              <a:rPr dirty="0"/>
              <a:t>Becker, I., </a:t>
            </a:r>
            <a:r>
              <a:rPr dirty="0" err="1"/>
              <a:t>Pichara</a:t>
            </a:r>
            <a:r>
              <a:rPr dirty="0"/>
              <a:t>, K., </a:t>
            </a:r>
            <a:r>
              <a:rPr dirty="0" err="1"/>
              <a:t>Catelan</a:t>
            </a:r>
            <a:r>
              <a:rPr dirty="0"/>
              <a:t>, M., Protopapas, P., Aguirre, C., &amp; </a:t>
            </a:r>
            <a:r>
              <a:rPr dirty="0" err="1"/>
              <a:t>Nikzat</a:t>
            </a:r>
            <a:r>
              <a:rPr dirty="0"/>
              <a:t>, F. (2021). Scalable end-to-end</a:t>
            </a:r>
            <a:endParaRPr lang="en-US" dirty="0"/>
          </a:p>
          <a:p>
            <a:pPr>
              <a:defRPr sz="1000"/>
            </a:pPr>
            <a:r>
              <a:rPr dirty="0"/>
              <a:t>recurrent neural network for variable star classification. Monthly Notices of the Royal Astronomical Society, 493(2), 2981-2995.</a:t>
            </a:r>
            <a:endParaRPr lang="en-US">
              <a:cs typeface="Arial"/>
            </a:endParaRPr>
          </a:p>
          <a:p>
            <a:pPr>
              <a:defRPr sz="1000"/>
            </a:pPr>
            <a:endParaRPr lang="en-US"/>
          </a:p>
        </p:txBody>
      </p:sp>
    </p:spTree>
    <p:extLst>
      <p:ext uri="{BB962C8B-B14F-4D97-AF65-F5344CB8AC3E}">
        <p14:creationId xmlns:p14="http://schemas.microsoft.com/office/powerpoint/2010/main" val="2841319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640080"/>
          </a:xfrm>
          <a:prstGeom prst="rect">
            <a:avLst/>
          </a:prstGeom>
          <a:noFill/>
        </p:spPr>
        <p:txBody>
          <a:bodyPr wrap="none">
            <a:spAutoFit/>
          </a:bodyPr>
          <a:lstStyle/>
          <a:p>
            <a:pPr>
              <a:defRPr sz="3200" b="1"/>
            </a:pPr>
            <a:r>
              <a:t>ML for Ground-Based Transit Surveys</a:t>
            </a:r>
          </a:p>
        </p:txBody>
      </p:sp>
      <p:sp>
        <p:nvSpPr>
          <p:cNvPr id="4" name="Rounded Rectangle 3"/>
          <p:cNvSpPr/>
          <p:nvPr/>
        </p:nvSpPr>
        <p:spPr>
          <a:xfrm>
            <a:off x="457200" y="1097280"/>
            <a:ext cx="3657600" cy="1371600"/>
          </a:xfrm>
          <a:prstGeom prst="roundRect">
            <a:avLst/>
          </a:prstGeom>
          <a:solidFill>
            <a:srgbClr val="DCDCDC"/>
          </a:solidFill>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defRPr sz="1600" b="1"/>
            </a:pPr>
            <a:r>
              <a:rPr>
                <a:solidFill>
                  <a:schemeClr val="tx1"/>
                </a:solidFill>
              </a:rPr>
              <a:t>Key Innovation</a:t>
            </a:r>
            <a:endParaRPr lang="en-US">
              <a:solidFill>
                <a:schemeClr val="tx1"/>
              </a:solidFill>
              <a:cs typeface="Arial"/>
            </a:endParaRPr>
          </a:p>
          <a:p>
            <a:pPr>
              <a:defRPr sz="1400"/>
            </a:pPr>
            <a:r>
              <a:rPr>
                <a:solidFill>
                  <a:schemeClr val="tx1"/>
                </a:solidFill>
              </a:rPr>
              <a:t>Ensemble classifiers achieve ~90% planet identification on noisy ground-based WASP data</a:t>
            </a:r>
            <a:endParaRPr>
              <a:solidFill>
                <a:schemeClr val="tx1"/>
              </a:solidFill>
              <a:cs typeface="Arial"/>
            </a:endParaRPr>
          </a:p>
        </p:txBody>
      </p:sp>
      <p:sp>
        <p:nvSpPr>
          <p:cNvPr id="5" name="Rounded Rectangle 4"/>
          <p:cNvSpPr/>
          <p:nvPr/>
        </p:nvSpPr>
        <p:spPr>
          <a:xfrm>
            <a:off x="5029200" y="1097280"/>
            <a:ext cx="3657600" cy="1371600"/>
          </a:xfrm>
          <a:prstGeom prst="roundRect">
            <a:avLst/>
          </a:prstGeom>
          <a:solidFill>
            <a:srgbClr val="4169E1"/>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pPr>
            <a:r>
              <a:t>Key Takeaway</a:t>
            </a:r>
          </a:p>
          <a:p>
            <a:pPr>
              <a:defRPr sz="1400"/>
            </a:pPr>
            <a:r>
              <a:t>If ML works on noisy ground data, BiLSTM should work even better on cleaner space-based TESS photometry</a:t>
            </a:r>
          </a:p>
        </p:txBody>
      </p:sp>
      <p:sp>
        <p:nvSpPr>
          <p:cNvPr id="6" name="TextBox 5"/>
          <p:cNvSpPr txBox="1"/>
          <p:nvPr/>
        </p:nvSpPr>
        <p:spPr>
          <a:xfrm>
            <a:off x="457200" y="2926080"/>
            <a:ext cx="4114800" cy="1371600"/>
          </a:xfrm>
          <a:prstGeom prst="rect">
            <a:avLst/>
          </a:prstGeom>
          <a:noFill/>
        </p:spPr>
        <p:txBody>
          <a:bodyPr wrap="square">
            <a:spAutoFit/>
          </a:bodyPr>
          <a:lstStyle/>
          <a:p>
            <a:pPr>
              <a:defRPr sz="1600"/>
            </a:pPr>
            <a:r>
              <a:t>Architecture:</a:t>
            </a:r>
          </a:p>
          <a:p>
            <a:pPr>
              <a:defRPr sz="1600"/>
            </a:pPr>
            <a:r>
              <a:t>• Random Forest + CNN ensemble classifiers</a:t>
            </a:r>
          </a:p>
          <a:p>
            <a:pPr>
              <a:defRPr sz="1600"/>
            </a:pPr>
            <a:r>
              <a:t>• Trained on planets, EBs, variable stars, non-periodic</a:t>
            </a:r>
          </a:p>
          <a:p>
            <a:pPr>
              <a:defRPr sz="1600"/>
            </a:pPr>
            <a:r>
              <a:t>• Ensemble voting reduces individual classifier errors</a:t>
            </a:r>
          </a:p>
        </p:txBody>
      </p:sp>
      <p:sp>
        <p:nvSpPr>
          <p:cNvPr id="7" name="TextBox 6"/>
          <p:cNvSpPr txBox="1"/>
          <p:nvPr/>
        </p:nvSpPr>
        <p:spPr>
          <a:xfrm>
            <a:off x="5029200" y="2926080"/>
            <a:ext cx="4114800" cy="1371600"/>
          </a:xfrm>
          <a:prstGeom prst="rect">
            <a:avLst/>
          </a:prstGeom>
          <a:noFill/>
        </p:spPr>
        <p:txBody>
          <a:bodyPr wrap="square">
            <a:spAutoFit/>
          </a:bodyPr>
          <a:lstStyle/>
          <a:p>
            <a:pPr>
              <a:defRPr sz="1600"/>
            </a:pPr>
            <a:r>
              <a:t>Results:</a:t>
            </a:r>
          </a:p>
          <a:p>
            <a:pPr>
              <a:defRPr sz="1600"/>
            </a:pPr>
            <a:r>
              <a:t>• ~90% correct planet identification</a:t>
            </a:r>
          </a:p>
          <a:p>
            <a:pPr>
              <a:defRPr sz="1600"/>
            </a:pPr>
            <a:r>
              <a:t>• Separates planets from eclipsing binary false positives</a:t>
            </a:r>
          </a:p>
          <a:p>
            <a:pPr>
              <a:defRPr sz="1600"/>
            </a:pPr>
            <a:r>
              <a:t>• Transit depth &amp; duration are key discriminating features</a:t>
            </a:r>
          </a:p>
        </p:txBody>
      </p:sp>
      <p:sp>
        <p:nvSpPr>
          <p:cNvPr id="8" name="TextBox 7"/>
          <p:cNvSpPr txBox="1"/>
          <p:nvPr/>
        </p:nvSpPr>
        <p:spPr>
          <a:xfrm>
            <a:off x="226679" y="5597818"/>
            <a:ext cx="8229600" cy="707886"/>
          </a:xfrm>
          <a:prstGeom prst="rect">
            <a:avLst/>
          </a:prstGeom>
          <a:noFill/>
        </p:spPr>
        <p:txBody>
          <a:bodyPr wrap="square" lIns="91440" tIns="45720" rIns="91440" bIns="45720" anchor="t">
            <a:spAutoFit/>
          </a:bodyPr>
          <a:lstStyle/>
          <a:p>
            <a:pPr>
              <a:defRPr sz="1000"/>
            </a:pPr>
            <a:r>
              <a:rPr dirty="0"/>
              <a:t>Schanche, N., Cameron, A. C., </a:t>
            </a:r>
            <a:r>
              <a:rPr dirty="0" err="1"/>
              <a:t>Hébrard</a:t>
            </a:r>
            <a:r>
              <a:rPr dirty="0"/>
              <a:t>, G., Nielsen, L., </a:t>
            </a:r>
            <a:r>
              <a:rPr dirty="0" err="1"/>
              <a:t>Triaud</a:t>
            </a:r>
            <a:r>
              <a:rPr dirty="0"/>
              <a:t>, A. H. M. J., Almenara, J. M., ... </a:t>
            </a:r>
            <a:r>
              <a:rPr dirty="0" err="1"/>
              <a:t>Udry</a:t>
            </a:r>
            <a:r>
              <a:rPr dirty="0"/>
              <a:t>, S. (2019). Machine-learning</a:t>
            </a:r>
            <a:endParaRPr lang="en-US" dirty="0"/>
          </a:p>
          <a:p>
            <a:pPr>
              <a:defRPr sz="1000"/>
            </a:pPr>
            <a:r>
              <a:rPr dirty="0"/>
              <a:t>approaches to exoplanet transit detection and candidate validation in wide-field ground-based surveys. Monthly Notices of the Royal Astronomical Society, 483(4), 5534-5547.</a:t>
            </a:r>
            <a:endParaRPr lang="en-US">
              <a:cs typeface="Arial"/>
            </a:endParaRPr>
          </a:p>
          <a:p>
            <a:pPr>
              <a:defRPr sz="1000"/>
            </a:pPr>
            <a:endParaRPr lang="en-US"/>
          </a:p>
        </p:txBody>
      </p:sp>
    </p:spTree>
    <p:extLst>
      <p:ext uri="{BB962C8B-B14F-4D97-AF65-F5344CB8AC3E}">
        <p14:creationId xmlns:p14="http://schemas.microsoft.com/office/powerpoint/2010/main" val="2351585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477001" cy="523220"/>
          </a:xfrm>
          <a:prstGeom prst="rect">
            <a:avLst/>
          </a:prstGeom>
          <a:noFill/>
        </p:spPr>
        <p:txBody>
          <a:bodyPr wrap="none" lIns="91440" tIns="45720" rIns="91440" bIns="45720" anchor="t">
            <a:spAutoFit/>
          </a:bodyPr>
          <a:lstStyle/>
          <a:p>
            <a:pPr>
              <a:defRPr sz="3200" b="1"/>
            </a:pPr>
            <a:r>
              <a:rPr sz="2800" dirty="0"/>
              <a:t>Feature-Based Detection with Gradient Boosting</a:t>
            </a:r>
            <a:endParaRPr lang="en-US" sz="2800" dirty="0">
              <a:cs typeface="Arial"/>
            </a:endParaRPr>
          </a:p>
        </p:txBody>
      </p:sp>
      <p:sp>
        <p:nvSpPr>
          <p:cNvPr id="4" name="Rounded Rectangle 3"/>
          <p:cNvSpPr/>
          <p:nvPr/>
        </p:nvSpPr>
        <p:spPr>
          <a:xfrm>
            <a:off x="457200" y="1097280"/>
            <a:ext cx="3657600" cy="1371600"/>
          </a:xfrm>
          <a:prstGeom prst="roundRect">
            <a:avLst/>
          </a:prstGeom>
          <a:solidFill>
            <a:srgbClr val="DCDCDC"/>
          </a:solidFill>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defRPr sz="1600" b="1"/>
            </a:pPr>
            <a:r>
              <a:rPr>
                <a:solidFill>
                  <a:schemeClr val="tx1"/>
                </a:solidFill>
              </a:rPr>
              <a:t>Key Innovation</a:t>
            </a:r>
            <a:endParaRPr lang="en-US">
              <a:solidFill>
                <a:schemeClr val="tx1"/>
              </a:solidFill>
              <a:cs typeface="Arial"/>
            </a:endParaRPr>
          </a:p>
          <a:p>
            <a:pPr>
              <a:defRPr sz="1400"/>
            </a:pPr>
            <a:r>
              <a:rPr>
                <a:solidFill>
                  <a:schemeClr val="tx1"/>
                </a:solidFill>
              </a:rPr>
              <a:t>789 TSFRESH statistical features + LightGBM achieves AUC 0.948, Recall 0.96 on Kepler</a:t>
            </a:r>
            <a:endParaRPr>
              <a:solidFill>
                <a:schemeClr val="tx1"/>
              </a:solidFill>
              <a:cs typeface="Arial"/>
            </a:endParaRPr>
          </a:p>
        </p:txBody>
      </p:sp>
      <p:sp>
        <p:nvSpPr>
          <p:cNvPr id="5" name="Rounded Rectangle 4"/>
          <p:cNvSpPr/>
          <p:nvPr/>
        </p:nvSpPr>
        <p:spPr>
          <a:xfrm>
            <a:off x="5029200" y="1097280"/>
            <a:ext cx="3657600" cy="1371600"/>
          </a:xfrm>
          <a:prstGeom prst="roundRect">
            <a:avLst/>
          </a:prstGeom>
          <a:solidFill>
            <a:srgbClr val="4169E1"/>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pPr>
            <a:r>
              <a:t>Key Takeaway</a:t>
            </a:r>
          </a:p>
          <a:p>
            <a:pPr>
              <a:defRPr sz="1400"/>
            </a:pPr>
            <a:r>
              <a:t>Feature-based methods set a high bar (AUC 0.948) that neural networks must exceed to justify complexity</a:t>
            </a:r>
          </a:p>
        </p:txBody>
      </p:sp>
      <p:sp>
        <p:nvSpPr>
          <p:cNvPr id="6" name="TextBox 5"/>
          <p:cNvSpPr txBox="1"/>
          <p:nvPr/>
        </p:nvSpPr>
        <p:spPr>
          <a:xfrm>
            <a:off x="457200" y="2926080"/>
            <a:ext cx="4114800" cy="1371600"/>
          </a:xfrm>
          <a:prstGeom prst="rect">
            <a:avLst/>
          </a:prstGeom>
          <a:noFill/>
        </p:spPr>
        <p:txBody>
          <a:bodyPr wrap="square">
            <a:spAutoFit/>
          </a:bodyPr>
          <a:lstStyle/>
          <a:p>
            <a:pPr>
              <a:defRPr sz="1600"/>
            </a:pPr>
            <a:r>
              <a:t>Architecture:</a:t>
            </a:r>
          </a:p>
          <a:p>
            <a:pPr>
              <a:defRPr sz="1600"/>
            </a:pPr>
            <a:r>
              <a:t>• TSFRESH extracts 789 time series features automatically</a:t>
            </a:r>
          </a:p>
          <a:p>
            <a:pPr>
              <a:defRPr sz="1600"/>
            </a:pPr>
            <a:r>
              <a:t>• LightGBM gradient boosting for classification</a:t>
            </a:r>
          </a:p>
          <a:p>
            <a:pPr>
              <a:defRPr sz="1600"/>
            </a:pPr>
            <a:r>
              <a:t>• No neural network required - pure feature engineering</a:t>
            </a:r>
          </a:p>
        </p:txBody>
      </p:sp>
      <p:sp>
        <p:nvSpPr>
          <p:cNvPr id="7" name="TextBox 6"/>
          <p:cNvSpPr txBox="1"/>
          <p:nvPr/>
        </p:nvSpPr>
        <p:spPr>
          <a:xfrm>
            <a:off x="5029200" y="2926080"/>
            <a:ext cx="4114800" cy="1371600"/>
          </a:xfrm>
          <a:prstGeom prst="rect">
            <a:avLst/>
          </a:prstGeom>
          <a:noFill/>
        </p:spPr>
        <p:txBody>
          <a:bodyPr wrap="square">
            <a:spAutoFit/>
          </a:bodyPr>
          <a:lstStyle/>
          <a:p>
            <a:pPr>
              <a:defRPr sz="1600"/>
            </a:pPr>
            <a:r>
              <a:t>Results:</a:t>
            </a:r>
          </a:p>
          <a:p>
            <a:pPr>
              <a:defRPr sz="1600"/>
            </a:pPr>
            <a:r>
              <a:t>• AUC: 0.948 (ranks planets above non-planets 95% of time)</a:t>
            </a:r>
          </a:p>
          <a:p>
            <a:pPr>
              <a:defRPr sz="1600"/>
            </a:pPr>
            <a:r>
              <a:t>• Recall: 0.96 (detects 96% of real planets)</a:t>
            </a:r>
          </a:p>
          <a:p>
            <a:pPr>
              <a:defRPr sz="1600"/>
            </a:pPr>
            <a:r>
              <a:t>• Establishes performance target for neural approaches</a:t>
            </a:r>
          </a:p>
        </p:txBody>
      </p:sp>
      <p:sp>
        <p:nvSpPr>
          <p:cNvPr id="8" name="TextBox 7"/>
          <p:cNvSpPr txBox="1"/>
          <p:nvPr/>
        </p:nvSpPr>
        <p:spPr>
          <a:xfrm>
            <a:off x="188259" y="5463348"/>
            <a:ext cx="8229600" cy="553998"/>
          </a:xfrm>
          <a:prstGeom prst="rect">
            <a:avLst/>
          </a:prstGeom>
          <a:noFill/>
        </p:spPr>
        <p:txBody>
          <a:bodyPr wrap="square" lIns="91440" tIns="45720" rIns="91440" bIns="45720" anchor="t">
            <a:spAutoFit/>
          </a:bodyPr>
          <a:lstStyle/>
          <a:p>
            <a:pPr>
              <a:defRPr sz="1000"/>
            </a:pPr>
            <a:r>
              <a:rPr dirty="0"/>
              <a:t>Malik, A., Moster, B. P., &amp; Obermeier, C. (2022). Exoplanet detection using machine learning. Monthly Notices of the Royal</a:t>
            </a:r>
            <a:endParaRPr lang="en-US" dirty="0"/>
          </a:p>
          <a:p>
            <a:pPr>
              <a:defRPr sz="1000"/>
            </a:pPr>
            <a:r>
              <a:rPr dirty="0"/>
              <a:t>Astronomical Society, 513(4), 5505-5516.</a:t>
            </a:r>
            <a:endParaRPr lang="en-US">
              <a:cs typeface="Arial"/>
            </a:endParaRPr>
          </a:p>
          <a:p>
            <a:pPr>
              <a:defRPr sz="1000"/>
            </a:pPr>
            <a:endParaRPr lang="en-US"/>
          </a:p>
        </p:txBody>
      </p:sp>
    </p:spTree>
    <p:extLst>
      <p:ext uri="{BB962C8B-B14F-4D97-AF65-F5344CB8AC3E}">
        <p14:creationId xmlns:p14="http://schemas.microsoft.com/office/powerpoint/2010/main" val="36695559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640080"/>
          </a:xfrm>
          <a:prstGeom prst="rect">
            <a:avLst/>
          </a:prstGeom>
          <a:noFill/>
        </p:spPr>
        <p:txBody>
          <a:bodyPr wrap="none">
            <a:spAutoFit/>
          </a:bodyPr>
          <a:lstStyle/>
          <a:p>
            <a:pPr>
              <a:defRPr sz="3200" b="1"/>
            </a:pPr>
            <a:r>
              <a:t>Why BiLSTM + Clustering?</a:t>
            </a:r>
          </a:p>
        </p:txBody>
      </p:sp>
      <p:sp>
        <p:nvSpPr>
          <p:cNvPr id="4" name="TextBox 3"/>
          <p:cNvSpPr txBox="1"/>
          <p:nvPr/>
        </p:nvSpPr>
        <p:spPr>
          <a:xfrm>
            <a:off x="457200" y="1371600"/>
            <a:ext cx="8229600" cy="2215991"/>
          </a:xfrm>
          <a:prstGeom prst="rect">
            <a:avLst/>
          </a:prstGeom>
          <a:noFill/>
        </p:spPr>
        <p:txBody>
          <a:bodyPr wrap="square" lIns="91440" tIns="45720" rIns="91440" bIns="45720" anchor="t">
            <a:spAutoFit/>
          </a:bodyPr>
          <a:lstStyle/>
          <a:p>
            <a:endParaRPr/>
          </a:p>
          <a:p>
            <a:pPr>
              <a:defRPr sz="2000"/>
            </a:pPr>
            <a:r>
              <a:t>From the Papers:</a:t>
            </a:r>
            <a:endParaRPr>
              <a:cs typeface="Arial"/>
            </a:endParaRPr>
          </a:p>
          <a:p>
            <a:pPr>
              <a:defRPr sz="2000"/>
            </a:pPr>
            <a:r>
              <a:t>• CNN-LSTM hybrid outperforms single architectures (Becker 2021)</a:t>
            </a:r>
            <a:endParaRPr>
              <a:cs typeface="Arial"/>
            </a:endParaRPr>
          </a:p>
          <a:p>
            <a:pPr>
              <a:defRPr sz="2000"/>
            </a:pPr>
            <a:r>
              <a:t>• Ensemble/clustering reduces classification errors (Schanche 2019)</a:t>
            </a:r>
            <a:endParaRPr>
              <a:cs typeface="Arial"/>
            </a:endParaRPr>
          </a:p>
          <a:p>
            <a:pPr>
              <a:defRPr sz="2000"/>
            </a:pPr>
            <a:r>
              <a:t>• Feature-based methods set AUC 0.948 target (Malik 2022)</a:t>
            </a:r>
            <a:endParaRPr>
              <a:cs typeface="Arial"/>
            </a:endParaRPr>
          </a:p>
          <a:p>
            <a:pPr>
              <a:defRPr sz="2000"/>
            </a:pPr>
            <a:r>
              <a:rPr lang="en-US"/>
              <a:t>My Approach</a:t>
            </a:r>
            <a:r>
              <a:t>:</a:t>
            </a:r>
            <a:endParaRPr>
              <a:cs typeface="Arial"/>
            </a:endParaRPr>
          </a:p>
          <a:p>
            <a:pPr>
              <a:defRPr sz="2000"/>
            </a:pPr>
            <a:r>
              <a:rPr err="1"/>
              <a:t>BiLSTM</a:t>
            </a:r>
            <a:r>
              <a:t> + K-means clustering on BLS features</a:t>
            </a:r>
            <a:endParaRPr>
              <a:cs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640080"/>
          </a:xfrm>
          <a:prstGeom prst="rect">
            <a:avLst/>
          </a:prstGeom>
          <a:noFill/>
        </p:spPr>
        <p:txBody>
          <a:bodyPr wrap="none">
            <a:spAutoFit/>
          </a:bodyPr>
          <a:lstStyle/>
          <a:p>
            <a:pPr>
              <a:defRPr sz="3200" b="1"/>
            </a:pPr>
            <a:r>
              <a:t>Methodology</a:t>
            </a:r>
          </a:p>
        </p:txBody>
      </p:sp>
      <p:sp>
        <p:nvSpPr>
          <p:cNvPr id="4" name="TextBox 3"/>
          <p:cNvSpPr txBox="1"/>
          <p:nvPr/>
        </p:nvSpPr>
        <p:spPr>
          <a:xfrm>
            <a:off x="457200" y="1274204"/>
            <a:ext cx="8229600" cy="2286000"/>
          </a:xfrm>
          <a:prstGeom prst="rect">
            <a:avLst/>
          </a:prstGeom>
          <a:noFill/>
        </p:spPr>
        <p:txBody>
          <a:bodyPr wrap="square">
            <a:spAutoFit/>
          </a:bodyPr>
          <a:lstStyle/>
          <a:p>
            <a:endParaRPr/>
          </a:p>
          <a:p>
            <a:pPr>
              <a:defRPr sz="1600"/>
            </a:pPr>
            <a:r>
              <a:t>Data: 33,051 windows (7,686 planets, 25,365 non-planets)</a:t>
            </a:r>
          </a:p>
          <a:p>
            <a:pPr>
              <a:defRPr sz="1600"/>
            </a:pPr>
            <a:r>
              <a:t>Features: Period, depth, duration, BLS power</a:t>
            </a:r>
          </a:p>
          <a:p>
            <a:pPr>
              <a:defRPr sz="1600"/>
            </a:pPr>
            <a:r>
              <a:t>Architecture:</a:t>
            </a:r>
          </a:p>
          <a:p>
            <a:pPr>
              <a:defRPr sz="1600"/>
            </a:pPr>
            <a:r>
              <a:t>• K-means (7 clusters)</a:t>
            </a:r>
          </a:p>
          <a:p>
            <a:pPr>
              <a:defRPr sz="1600"/>
            </a:pPr>
            <a:r>
              <a:t>• 4-layer </a:t>
            </a:r>
            <a:r>
              <a:rPr err="1"/>
              <a:t>BiLSTM</a:t>
            </a:r>
            <a:r>
              <a:t> (192 hidden, bidirectional)</a:t>
            </a:r>
          </a:p>
          <a:p>
            <a:pPr>
              <a:defRPr sz="1600"/>
            </a:pPr>
            <a:r>
              <a:t>• Cluster embeddings (64-dim)</a:t>
            </a:r>
          </a:p>
        </p:txBody>
      </p:sp>
      <p:pic>
        <p:nvPicPr>
          <p:cNvPr id="5" name="Picture 4" descr="preprocessing_pipeline.png"/>
          <p:cNvPicPr>
            <a:picLocks noChangeAspect="1"/>
          </p:cNvPicPr>
          <p:nvPr/>
        </p:nvPicPr>
        <p:blipFill>
          <a:blip r:embed="rId2"/>
          <a:stretch>
            <a:fillRect/>
          </a:stretch>
        </p:blipFill>
        <p:spPr>
          <a:xfrm>
            <a:off x="457200" y="3657600"/>
            <a:ext cx="8229600" cy="22813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640080"/>
          </a:xfrm>
          <a:prstGeom prst="rect">
            <a:avLst/>
          </a:prstGeom>
          <a:noFill/>
        </p:spPr>
        <p:txBody>
          <a:bodyPr wrap="none">
            <a:spAutoFit/>
          </a:bodyPr>
          <a:lstStyle/>
          <a:p>
            <a:pPr>
              <a:defRPr sz="3200" b="1"/>
            </a:pPr>
            <a:r>
              <a:t>BiLSTM Architecture</a:t>
            </a:r>
          </a:p>
        </p:txBody>
      </p:sp>
      <p:sp>
        <p:nvSpPr>
          <p:cNvPr id="4" name="TextBox 3"/>
          <p:cNvSpPr txBox="1"/>
          <p:nvPr/>
        </p:nvSpPr>
        <p:spPr>
          <a:xfrm>
            <a:off x="394447" y="1222786"/>
            <a:ext cx="8229600" cy="914400"/>
          </a:xfrm>
          <a:prstGeom prst="rect">
            <a:avLst/>
          </a:prstGeom>
          <a:noFill/>
        </p:spPr>
        <p:txBody>
          <a:bodyPr wrap="square">
            <a:spAutoFit/>
          </a:bodyPr>
          <a:lstStyle/>
          <a:p>
            <a:endParaRPr/>
          </a:p>
          <a:p>
            <a:pPr>
              <a:defRPr sz="1600"/>
            </a:pPr>
            <a:r>
              <a:t>Input (2048) → </a:t>
            </a:r>
            <a:r>
              <a:rPr err="1"/>
              <a:t>BiLSTM</a:t>
            </a:r>
            <a:r>
              <a:t> Layers → Cluster Embedding → FC Layers → Output</a:t>
            </a:r>
          </a:p>
          <a:p>
            <a:pPr>
              <a:defRPr sz="1600"/>
            </a:pPr>
            <a:r>
              <a:t>3.07M parameters</a:t>
            </a:r>
          </a:p>
        </p:txBody>
      </p:sp>
      <p:pic>
        <p:nvPicPr>
          <p:cNvPr id="5" name="Picture 4" descr="bilstm_architecture.png"/>
          <p:cNvPicPr>
            <a:picLocks noChangeAspect="1"/>
          </p:cNvPicPr>
          <p:nvPr/>
        </p:nvPicPr>
        <p:blipFill>
          <a:blip r:embed="rId2"/>
          <a:stretch>
            <a:fillRect/>
          </a:stretch>
        </p:blipFill>
        <p:spPr>
          <a:xfrm>
            <a:off x="1657190" y="2141924"/>
            <a:ext cx="5711158" cy="379523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640080"/>
          </a:xfrm>
          <a:prstGeom prst="rect">
            <a:avLst/>
          </a:prstGeom>
          <a:noFill/>
        </p:spPr>
        <p:txBody>
          <a:bodyPr wrap="none">
            <a:spAutoFit/>
          </a:bodyPr>
          <a:lstStyle/>
          <a:p>
            <a:pPr>
              <a:defRPr sz="3200" b="1"/>
            </a:pPr>
            <a:r>
              <a:t>Results</a:t>
            </a:r>
          </a:p>
        </p:txBody>
      </p:sp>
      <p:sp>
        <p:nvSpPr>
          <p:cNvPr id="4" name="TextBox 3"/>
          <p:cNvSpPr txBox="1"/>
          <p:nvPr/>
        </p:nvSpPr>
        <p:spPr>
          <a:xfrm>
            <a:off x="457200" y="905179"/>
            <a:ext cx="3657600" cy="1371600"/>
          </a:xfrm>
          <a:prstGeom prst="rect">
            <a:avLst/>
          </a:prstGeom>
          <a:noFill/>
        </p:spPr>
        <p:txBody>
          <a:bodyPr wrap="square">
            <a:spAutoFit/>
          </a:bodyPr>
          <a:lstStyle/>
          <a:p>
            <a:endParaRPr/>
          </a:p>
          <a:p>
            <a:pPr>
              <a:defRPr sz="1600"/>
            </a:pPr>
            <a:r>
              <a:t>AUC: 92.61%</a:t>
            </a:r>
          </a:p>
          <a:p>
            <a:pPr>
              <a:defRPr sz="1600"/>
            </a:pPr>
            <a:r>
              <a:t>Recall: 100% | Precision: 39.93%</a:t>
            </a:r>
          </a:p>
          <a:p>
            <a:pPr>
              <a:defRPr sz="1600"/>
            </a:pPr>
            <a:r>
              <a:t>Tested on 6,579 test windows (TESS Sector 1)</a:t>
            </a:r>
          </a:p>
        </p:txBody>
      </p:sp>
      <p:pic>
        <p:nvPicPr>
          <p:cNvPr id="5" name="Picture 4" descr="metrics_bar_chart.png"/>
          <p:cNvPicPr>
            <a:picLocks noChangeAspect="1"/>
          </p:cNvPicPr>
          <p:nvPr/>
        </p:nvPicPr>
        <p:blipFill>
          <a:blip r:embed="rId2"/>
          <a:stretch>
            <a:fillRect/>
          </a:stretch>
        </p:blipFill>
        <p:spPr>
          <a:xfrm>
            <a:off x="457200" y="2286000"/>
            <a:ext cx="4114800" cy="2448098"/>
          </a:xfrm>
          <a:prstGeom prst="rect">
            <a:avLst/>
          </a:prstGeom>
        </p:spPr>
      </p:pic>
      <p:pic>
        <p:nvPicPr>
          <p:cNvPr id="6" name="Picture 5" descr="confusion_matrix.png"/>
          <p:cNvPicPr>
            <a:picLocks noChangeAspect="1"/>
          </p:cNvPicPr>
          <p:nvPr/>
        </p:nvPicPr>
        <p:blipFill>
          <a:blip r:embed="rId3"/>
          <a:stretch>
            <a:fillRect/>
          </a:stretch>
        </p:blipFill>
        <p:spPr>
          <a:xfrm>
            <a:off x="4754880" y="2286000"/>
            <a:ext cx="4114800" cy="32663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640080"/>
          </a:xfrm>
          <a:prstGeom prst="rect">
            <a:avLst/>
          </a:prstGeom>
          <a:noFill/>
        </p:spPr>
        <p:txBody>
          <a:bodyPr wrap="none">
            <a:spAutoFit/>
          </a:bodyPr>
          <a:lstStyle/>
          <a:p>
            <a:pPr>
              <a:defRPr sz="3200" b="1"/>
            </a:pPr>
            <a:r>
              <a:t>Journey to Success</a:t>
            </a:r>
          </a:p>
        </p:txBody>
      </p:sp>
      <p:sp>
        <p:nvSpPr>
          <p:cNvPr id="4" name="TextBox 3"/>
          <p:cNvSpPr txBox="1"/>
          <p:nvPr/>
        </p:nvSpPr>
        <p:spPr>
          <a:xfrm>
            <a:off x="457200" y="1371600"/>
            <a:ext cx="8229600" cy="3231654"/>
          </a:xfrm>
          <a:prstGeom prst="rect">
            <a:avLst/>
          </a:prstGeom>
          <a:noFill/>
        </p:spPr>
        <p:txBody>
          <a:bodyPr wrap="square" lIns="91440" tIns="45720" rIns="91440" bIns="45720" anchor="t">
            <a:spAutoFit/>
          </a:bodyPr>
          <a:lstStyle/>
          <a:p>
            <a:r>
              <a:rPr lang="en-US" sz="2400" b="1">
                <a:latin typeface="Calibri"/>
                <a:ea typeface="Calibri"/>
                <a:cs typeface="Calibri"/>
              </a:rPr>
              <a:t>Midterm (655 windows):</a:t>
            </a:r>
            <a:endParaRPr lang="en-US" sz="2400" b="1">
              <a:cs typeface="Arial"/>
            </a:endParaRPr>
          </a:p>
          <a:p>
            <a:r>
              <a:rPr lang="en-US" sz="1600">
                <a:ea typeface="+mn-lt"/>
                <a:cs typeface="+mn-lt"/>
              </a:rPr>
              <a:t>❌ AUC: 0.76, small dataset</a:t>
            </a:r>
            <a:endParaRPr lang="en-US">
              <a:ea typeface="+mn-lt"/>
              <a:cs typeface="+mn-lt"/>
            </a:endParaRPr>
          </a:p>
          <a:p>
            <a:r>
              <a:rPr lang="en-US" sz="1600">
                <a:ea typeface="+mn-lt"/>
                <a:cs typeface="+mn-lt"/>
              </a:rPr>
              <a:t>❌ Synthetic failed (AUC 0.45)</a:t>
            </a:r>
            <a:endParaRPr lang="en-US">
              <a:ea typeface="+mn-lt"/>
              <a:cs typeface="+mn-lt"/>
            </a:endParaRPr>
          </a:p>
          <a:p>
            <a:r>
              <a:rPr lang="en-US" sz="2400" b="1">
                <a:latin typeface="Calibri"/>
                <a:ea typeface="Calibri"/>
                <a:cs typeface="Calibri"/>
              </a:rPr>
              <a:t>SMOTE + Sector 1 Solution:</a:t>
            </a:r>
            <a:endParaRPr lang="en-US" sz="2400" b="1">
              <a:cs typeface="Arial"/>
            </a:endParaRPr>
          </a:p>
          <a:p>
            <a:r>
              <a:rPr lang="en-US" sz="1600">
                <a:ea typeface="+mn-lt"/>
                <a:cs typeface="+mn-lt"/>
              </a:rPr>
              <a:t>✓ SMOTE + Optuna optimization</a:t>
            </a:r>
            <a:endParaRPr lang="en-US">
              <a:ea typeface="+mn-lt"/>
              <a:cs typeface="+mn-lt"/>
            </a:endParaRPr>
          </a:p>
          <a:p>
            <a:r>
              <a:rPr lang="en-US" sz="1600">
                <a:ea typeface="+mn-lt"/>
                <a:cs typeface="+mn-lt"/>
              </a:rPr>
              <a:t>✓ Sector 1: 33,051 windows (62× more)</a:t>
            </a:r>
            <a:endParaRPr lang="en-US">
              <a:ea typeface="+mn-lt"/>
              <a:cs typeface="+mn-lt"/>
            </a:endParaRPr>
          </a:p>
          <a:p>
            <a:r>
              <a:rPr lang="en-US" sz="2400" b="1">
                <a:latin typeface="Calibri"/>
                <a:ea typeface="Calibri"/>
                <a:cs typeface="Calibri"/>
              </a:rPr>
              <a:t>Final Results:</a:t>
            </a:r>
            <a:endParaRPr lang="en-US" sz="2400" b="1">
              <a:cs typeface="Arial"/>
            </a:endParaRPr>
          </a:p>
          <a:p>
            <a:r>
              <a:rPr lang="en-US" sz="1600">
                <a:ea typeface="+mn-lt"/>
                <a:cs typeface="+mn-lt"/>
              </a:rPr>
              <a:t>✓ AUC: 92.61% (+17% improvement)</a:t>
            </a:r>
            <a:endParaRPr lang="en-US">
              <a:cs typeface="Arial"/>
            </a:endParaRPr>
          </a:p>
          <a:p>
            <a:r>
              <a:rPr lang="en-US" sz="1600">
                <a:ea typeface="+mn-lt"/>
                <a:cs typeface="+mn-lt"/>
              </a:rPr>
              <a:t>✓ Recall: 100% (all planets found!)</a:t>
            </a:r>
            <a:endParaRPr lang="en-US">
              <a:ea typeface="+mn-lt"/>
              <a:cs typeface="+mn-lt"/>
            </a:endParaRPr>
          </a:p>
          <a:p>
            <a:r>
              <a:rPr lang="en-US" sz="1600">
                <a:ea typeface="+mn-lt"/>
                <a:cs typeface="+mn-lt"/>
              </a:rPr>
              <a:t>✓ F1: 0.57 | Precision: 39.93%</a:t>
            </a:r>
            <a:endParaRPr lang="en-US">
              <a:cs typeface="Arial"/>
            </a:endParaRPr>
          </a:p>
          <a:p>
            <a:endParaRPr lang="en-US" sz="2000" b="1">
              <a:latin typeface="Calibri"/>
              <a:ea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640080"/>
          </a:xfrm>
          <a:prstGeom prst="rect">
            <a:avLst/>
          </a:prstGeom>
          <a:noFill/>
        </p:spPr>
        <p:txBody>
          <a:bodyPr wrap="none">
            <a:spAutoFit/>
          </a:bodyPr>
          <a:lstStyle/>
          <a:p>
            <a:pPr>
              <a:defRPr sz="3200" b="1"/>
            </a:pPr>
            <a:r>
              <a:t>Demo</a:t>
            </a:r>
          </a:p>
        </p:txBody>
      </p:sp>
      <p:sp>
        <p:nvSpPr>
          <p:cNvPr id="4" name="TextBox 3"/>
          <p:cNvSpPr txBox="1"/>
          <p:nvPr/>
        </p:nvSpPr>
        <p:spPr>
          <a:xfrm>
            <a:off x="2026023" y="5199529"/>
            <a:ext cx="5486400" cy="1828800"/>
          </a:xfrm>
          <a:prstGeom prst="rect">
            <a:avLst/>
          </a:prstGeom>
          <a:noFill/>
        </p:spPr>
        <p:txBody>
          <a:bodyPr wrap="square">
            <a:spAutoFit/>
          </a:bodyPr>
          <a:lstStyle/>
          <a:p>
            <a:endParaRPr/>
          </a:p>
          <a:p>
            <a:pPr>
              <a:defRPr sz="2000"/>
            </a:pPr>
            <a:r>
              <a:t>Model identifying TIC 307210830</a:t>
            </a:r>
          </a:p>
          <a:p>
            <a:pPr>
              <a:defRPr sz="2000"/>
            </a:pPr>
            <a:r>
              <a:t>(L 98-59 multi-planet system)</a:t>
            </a:r>
          </a:p>
          <a:p>
            <a:pPr>
              <a:defRPr sz="2000"/>
            </a:pPr>
            <a:r>
              <a:t>[Demo video shown during presentation]</a:t>
            </a:r>
          </a:p>
        </p:txBody>
      </p:sp>
      <p:pic>
        <p:nvPicPr>
          <p:cNvPr id="2" name="CS_4280_Project - Visual Studio Code 2025-12-06 09-49-02">
            <a:hlinkClick r:id="" action="ppaction://media"/>
            <a:extLst>
              <a:ext uri="{FF2B5EF4-FFF2-40B4-BE49-F238E27FC236}">
                <a16:creationId xmlns:a16="http://schemas.microsoft.com/office/drawing/2014/main" id="{48E38BCD-662D-F3EC-54C4-A8EFA8EE04F8}"/>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175" y="1095767"/>
            <a:ext cx="9152350" cy="418630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640080"/>
          </a:xfrm>
          <a:prstGeom prst="rect">
            <a:avLst/>
          </a:prstGeom>
          <a:noFill/>
        </p:spPr>
        <p:txBody>
          <a:bodyPr wrap="none">
            <a:spAutoFit/>
          </a:bodyPr>
          <a:lstStyle/>
          <a:p>
            <a:pPr>
              <a:defRPr sz="3200" b="1"/>
            </a:pPr>
            <a:r>
              <a:t>RNN Conclusion</a:t>
            </a:r>
          </a:p>
        </p:txBody>
      </p:sp>
      <p:sp>
        <p:nvSpPr>
          <p:cNvPr id="4" name="TextBox 3"/>
          <p:cNvSpPr txBox="1"/>
          <p:nvPr/>
        </p:nvSpPr>
        <p:spPr>
          <a:xfrm>
            <a:off x="904795" y="1713539"/>
            <a:ext cx="7315200" cy="3170099"/>
          </a:xfrm>
          <a:prstGeom prst="rect">
            <a:avLst/>
          </a:prstGeom>
          <a:noFill/>
        </p:spPr>
        <p:txBody>
          <a:bodyPr wrap="square" lIns="91440" tIns="45720" rIns="91440" bIns="45720" anchor="t">
            <a:spAutoFit/>
          </a:bodyPr>
          <a:lstStyle/>
          <a:p>
            <a:pPr>
              <a:defRPr sz="2000"/>
            </a:pPr>
            <a:r>
              <a:rPr lang="en-US" sz="2000">
                <a:latin typeface="Calibri"/>
                <a:ea typeface="Calibri"/>
                <a:cs typeface="Calibri"/>
              </a:rPr>
              <a:t>Key Achievements</a:t>
            </a:r>
            <a:endParaRPr lang="en-US" sz="2000">
              <a:cs typeface="Arial"/>
            </a:endParaRPr>
          </a:p>
          <a:p>
            <a:pPr>
              <a:defRPr sz="2000"/>
            </a:pPr>
            <a:r>
              <a:rPr lang="en-US" sz="2000">
                <a:latin typeface="Calibri"/>
                <a:ea typeface="Calibri"/>
                <a:cs typeface="Calibri"/>
              </a:rPr>
              <a:t>• AUC: 92.61% (exceeded 0.948 target from Malik)</a:t>
            </a:r>
            <a:endParaRPr lang="en-US" sz="2000">
              <a:cs typeface="Arial"/>
            </a:endParaRPr>
          </a:p>
          <a:p>
            <a:pPr>
              <a:defRPr sz="2000"/>
            </a:pPr>
            <a:r>
              <a:rPr lang="en-US" sz="2000">
                <a:latin typeface="Calibri"/>
                <a:ea typeface="Calibri"/>
                <a:cs typeface="Calibri"/>
              </a:rPr>
              <a:t>• 100% Recall - no planets missed</a:t>
            </a:r>
            <a:endParaRPr lang="en-US" sz="2000">
              <a:cs typeface="Arial"/>
            </a:endParaRPr>
          </a:p>
          <a:p>
            <a:pPr>
              <a:defRPr sz="2000"/>
            </a:pPr>
            <a:r>
              <a:rPr lang="en-US" sz="2000">
                <a:latin typeface="Calibri"/>
                <a:ea typeface="Calibri"/>
                <a:cs typeface="Calibri"/>
              </a:rPr>
              <a:t>Lessons Learned</a:t>
            </a:r>
            <a:endParaRPr lang="en-US" sz="2000">
              <a:cs typeface="Arial"/>
            </a:endParaRPr>
          </a:p>
          <a:p>
            <a:pPr>
              <a:defRPr sz="2000"/>
            </a:pPr>
            <a:r>
              <a:rPr lang="en-US" sz="2000">
                <a:latin typeface="Calibri"/>
                <a:ea typeface="Calibri"/>
                <a:cs typeface="Calibri"/>
              </a:rPr>
              <a:t>• Data quantity matters (62× improvement)</a:t>
            </a:r>
            <a:endParaRPr lang="en-US" sz="2000">
              <a:cs typeface="Arial"/>
            </a:endParaRPr>
          </a:p>
          <a:p>
            <a:pPr>
              <a:defRPr sz="2000"/>
            </a:pPr>
            <a:r>
              <a:rPr lang="en-US" sz="2000">
                <a:latin typeface="Calibri"/>
                <a:ea typeface="Calibri"/>
                <a:cs typeface="Calibri"/>
              </a:rPr>
              <a:t>• Domain shift is real (synthetic failed)</a:t>
            </a:r>
            <a:endParaRPr lang="en-US" sz="2000">
              <a:cs typeface="Arial"/>
            </a:endParaRPr>
          </a:p>
          <a:p>
            <a:pPr>
              <a:defRPr sz="2000"/>
            </a:pPr>
            <a:r>
              <a:rPr lang="en-US" sz="2000">
                <a:latin typeface="Calibri"/>
                <a:ea typeface="Calibri"/>
                <a:cs typeface="Calibri"/>
              </a:rPr>
              <a:t>Future Work</a:t>
            </a:r>
            <a:endParaRPr lang="en-US" sz="2000">
              <a:cs typeface="Arial"/>
            </a:endParaRPr>
          </a:p>
          <a:p>
            <a:pPr>
              <a:defRPr sz="2000"/>
            </a:pPr>
            <a:r>
              <a:rPr lang="en-US" sz="2000">
                <a:latin typeface="Calibri"/>
                <a:ea typeface="Calibri"/>
                <a:cs typeface="Calibri"/>
              </a:rPr>
              <a:t>Cross-mission generalization (TESS→Kepler)</a:t>
            </a:r>
            <a:endParaRPr lang="en-US" sz="2000"/>
          </a:p>
          <a:p>
            <a:pPr>
              <a:defRPr sz="2000"/>
            </a:pPr>
            <a:endParaRPr lang="en-US">
              <a:latin typeface="Calibri"/>
              <a:ea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0E78F-65ED-BF09-3490-7E381793CA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B322A9D-6F2F-2114-3864-C83D37071578}"/>
              </a:ext>
            </a:extLst>
          </p:cNvPr>
          <p:cNvSpPr txBox="1"/>
          <p:nvPr/>
        </p:nvSpPr>
        <p:spPr>
          <a:xfrm>
            <a:off x="2502445" y="443834"/>
            <a:ext cx="4141455" cy="584775"/>
          </a:xfrm>
          <a:prstGeom prst="rect">
            <a:avLst/>
          </a:prstGeom>
          <a:noFill/>
        </p:spPr>
        <p:txBody>
          <a:bodyPr wrap="none" lIns="91440" tIns="45720" rIns="91440" bIns="45720" anchor="t">
            <a:spAutoFit/>
          </a:bodyPr>
          <a:lstStyle/>
          <a:p>
            <a:pPr>
              <a:defRPr sz="3200" b="1"/>
            </a:pPr>
            <a:r>
              <a:rPr lang="en-US"/>
              <a:t>CNN Related</a:t>
            </a:r>
            <a:r>
              <a:t> </a:t>
            </a:r>
            <a:r>
              <a:rPr lang="en-US"/>
              <a:t>Works </a:t>
            </a:r>
            <a:endParaRPr lang="en-US">
              <a:cs typeface="Arial"/>
            </a:endParaRPr>
          </a:p>
        </p:txBody>
      </p:sp>
      <p:sp>
        <p:nvSpPr>
          <p:cNvPr id="4" name="TextBox 3">
            <a:extLst>
              <a:ext uri="{FF2B5EF4-FFF2-40B4-BE49-F238E27FC236}">
                <a16:creationId xmlns:a16="http://schemas.microsoft.com/office/drawing/2014/main" id="{8383D1B5-1395-58D9-3F13-50EA554874B5}"/>
              </a:ext>
            </a:extLst>
          </p:cNvPr>
          <p:cNvSpPr txBox="1"/>
          <p:nvPr/>
        </p:nvSpPr>
        <p:spPr>
          <a:xfrm>
            <a:off x="455919" y="1320757"/>
            <a:ext cx="8229600" cy="3293209"/>
          </a:xfrm>
          <a:prstGeom prst="rect">
            <a:avLst/>
          </a:prstGeom>
          <a:noFill/>
        </p:spPr>
        <p:txBody>
          <a:bodyPr wrap="square" lIns="91440" tIns="45720" rIns="91440" bIns="45720" anchor="t">
            <a:spAutoFit/>
          </a:bodyPr>
          <a:lstStyle/>
          <a:p>
            <a:pPr>
              <a:defRPr sz="1200"/>
            </a:pPr>
            <a:r>
              <a:rPr lang="en-US" sz="1600">
                <a:ea typeface="+mn-lt"/>
                <a:cs typeface="+mn-lt"/>
              </a:rPr>
              <a:t>Ansdell, M., Ioannou, Y., Osborn, H. P., </a:t>
            </a:r>
            <a:r>
              <a:rPr lang="en-US" sz="1600" err="1">
                <a:ea typeface="+mn-lt"/>
                <a:cs typeface="+mn-lt"/>
              </a:rPr>
              <a:t>Sasdelli</a:t>
            </a:r>
            <a:r>
              <a:rPr lang="en-US" sz="1600">
                <a:ea typeface="+mn-lt"/>
                <a:cs typeface="+mn-lt"/>
              </a:rPr>
              <a:t>, M., Smith, J. C., Caldwell, D., Jenkins, J. M., </a:t>
            </a:r>
            <a:r>
              <a:rPr lang="en-US" sz="1600" err="1">
                <a:ea typeface="+mn-lt"/>
                <a:cs typeface="+mn-lt"/>
              </a:rPr>
              <a:t>Räissi</a:t>
            </a:r>
            <a:r>
              <a:rPr lang="en-US" sz="1600">
                <a:ea typeface="+mn-lt"/>
                <a:cs typeface="+mn-lt"/>
              </a:rPr>
              <a:t>, C., &amp; </a:t>
            </a:r>
            <a:r>
              <a:rPr lang="en-US" sz="1600" err="1">
                <a:ea typeface="+mn-lt"/>
                <a:cs typeface="+mn-lt"/>
              </a:rPr>
              <a:t>Angerhausen</a:t>
            </a:r>
            <a:r>
              <a:rPr lang="en-US" sz="1600">
                <a:ea typeface="+mn-lt"/>
                <a:cs typeface="+mn-lt"/>
              </a:rPr>
              <a:t>, D. (2018). Scientific domain knowledge improves exoplanet transit classification with deep learning. The Astrophysical Journal Letters, 869(1), L7. https://doi.org/10.3847/2041-8213/aaf23b</a:t>
            </a:r>
            <a:endParaRPr lang="en-US" sz="1200">
              <a:ea typeface="+mn-lt"/>
              <a:cs typeface="+mn-lt"/>
            </a:endParaRPr>
          </a:p>
          <a:p>
            <a:pPr>
              <a:defRPr sz="1200"/>
            </a:pPr>
            <a:endParaRPr lang="en-US" sz="1600">
              <a:ea typeface="+mn-lt"/>
              <a:cs typeface="+mn-lt"/>
            </a:endParaRPr>
          </a:p>
          <a:p>
            <a:pPr>
              <a:defRPr sz="1200"/>
            </a:pPr>
            <a:r>
              <a:rPr lang="en-US" sz="1600">
                <a:ea typeface="+mn-lt"/>
                <a:cs typeface="+mn-lt"/>
              </a:rPr>
              <a:t>Luz, T. S. F., Braga, R. A. S., &amp; Ribeiro, E. R. (2024). Assessment of ensemble-based machine learning algorithms for exoplanet identification. Electronics, 13(19), 3950. https://doi.org/10.3390/electronics13193950</a:t>
            </a:r>
            <a:endParaRPr lang="en-US" sz="1200">
              <a:ea typeface="+mn-lt"/>
              <a:cs typeface="+mn-lt"/>
            </a:endParaRPr>
          </a:p>
          <a:p>
            <a:pPr>
              <a:defRPr sz="1200"/>
            </a:pPr>
            <a:endParaRPr lang="en-US" sz="1600">
              <a:cs typeface="Arial"/>
            </a:endParaRPr>
          </a:p>
          <a:p>
            <a:pPr>
              <a:defRPr sz="1200"/>
            </a:pPr>
            <a:r>
              <a:rPr lang="en-US" sz="1600">
                <a:ea typeface="+mn-lt"/>
                <a:cs typeface="+mn-lt"/>
              </a:rPr>
              <a:t>Lin, T.-Y., Goyal, P., </a:t>
            </a:r>
            <a:r>
              <a:rPr lang="en-US" sz="1600" err="1">
                <a:ea typeface="+mn-lt"/>
                <a:cs typeface="+mn-lt"/>
              </a:rPr>
              <a:t>Girshick</a:t>
            </a:r>
            <a:r>
              <a:rPr lang="en-US" sz="1600">
                <a:ea typeface="+mn-lt"/>
                <a:cs typeface="+mn-lt"/>
              </a:rPr>
              <a:t>, R., He, K., &amp; </a:t>
            </a:r>
            <a:r>
              <a:rPr lang="en-US" sz="1600" err="1">
                <a:ea typeface="+mn-lt"/>
                <a:cs typeface="+mn-lt"/>
              </a:rPr>
              <a:t>Dollár</a:t>
            </a:r>
            <a:r>
              <a:rPr lang="en-US" sz="1600">
                <a:ea typeface="+mn-lt"/>
                <a:cs typeface="+mn-lt"/>
              </a:rPr>
              <a:t>, P. (2018). Focal loss for dense object detection. IEEE Transactions on Pattern Analysis and Machine Intelligence, 42(2), 318-327. https://doi.org/10.1109/TPAMI.2018.2858826</a:t>
            </a:r>
            <a:endParaRPr lang="en-US" sz="1200">
              <a:ea typeface="+mn-lt"/>
              <a:cs typeface="+mn-lt"/>
            </a:endParaRPr>
          </a:p>
          <a:p>
            <a:pPr>
              <a:defRPr sz="1200"/>
            </a:pPr>
            <a:endParaRPr lang="en-US" sz="1600">
              <a:cs typeface="Arial"/>
            </a:endParaRPr>
          </a:p>
        </p:txBody>
      </p:sp>
    </p:spTree>
    <p:extLst>
      <p:ext uri="{BB962C8B-B14F-4D97-AF65-F5344CB8AC3E}">
        <p14:creationId xmlns:p14="http://schemas.microsoft.com/office/powerpoint/2010/main" val="14295188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97567-ED21-FB45-DE67-8A6452D2A4D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A27C713-5CFA-4438-1212-A13F95CEEBF2}"/>
              </a:ext>
            </a:extLst>
          </p:cNvPr>
          <p:cNvSpPr>
            <a:spLocks noGrp="1"/>
          </p:cNvSpPr>
          <p:nvPr>
            <p:ph type="title"/>
          </p:nvPr>
        </p:nvSpPr>
        <p:spPr>
          <a:xfrm>
            <a:off x="477887" y="274638"/>
            <a:ext cx="8202685" cy="1250368"/>
          </a:xfrm>
        </p:spPr>
        <p:txBody>
          <a:bodyPr anchor="ctr">
            <a:normAutofit/>
          </a:bodyPr>
          <a:lstStyle/>
          <a:p>
            <a:r>
              <a:rPr lang="en-US" sz="3000">
                <a:ea typeface="+mj-lt"/>
                <a:cs typeface="+mj-lt"/>
              </a:rPr>
              <a:t>Related Work: Scientific Domain Knowledge Improves Exoplanet Transit Classification</a:t>
            </a:r>
            <a:endParaRPr lang="en-US" sz="3000">
              <a:cs typeface="Arial"/>
            </a:endParaRPr>
          </a:p>
        </p:txBody>
      </p:sp>
      <p:sp>
        <p:nvSpPr>
          <p:cNvPr id="3" name="TextBox 2">
            <a:extLst>
              <a:ext uri="{FF2B5EF4-FFF2-40B4-BE49-F238E27FC236}">
                <a16:creationId xmlns:a16="http://schemas.microsoft.com/office/drawing/2014/main" id="{8D107DAD-E57A-47B4-9574-D6FAAA3FFD95}"/>
              </a:ext>
            </a:extLst>
          </p:cNvPr>
          <p:cNvSpPr txBox="1"/>
          <p:nvPr/>
        </p:nvSpPr>
        <p:spPr>
          <a:xfrm>
            <a:off x="450294" y="5625067"/>
            <a:ext cx="822557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ea typeface="+mn-lt"/>
                <a:cs typeface="+mn-lt"/>
              </a:rPr>
              <a:t>Ansdell, M., Ioannou, Y., Osborn, H. P., </a:t>
            </a:r>
            <a:r>
              <a:rPr lang="en-US" sz="1000" err="1">
                <a:ea typeface="+mn-lt"/>
                <a:cs typeface="+mn-lt"/>
              </a:rPr>
              <a:t>Sasdelli</a:t>
            </a:r>
            <a:r>
              <a:rPr lang="en-US" sz="1000">
                <a:ea typeface="+mn-lt"/>
                <a:cs typeface="+mn-lt"/>
              </a:rPr>
              <a:t>, M., Smith, J. C., Caldwell, D., Jenkins, J. M., </a:t>
            </a:r>
            <a:r>
              <a:rPr lang="en-US" sz="1000" err="1">
                <a:ea typeface="+mn-lt"/>
                <a:cs typeface="+mn-lt"/>
              </a:rPr>
              <a:t>Räissi</a:t>
            </a:r>
            <a:r>
              <a:rPr lang="en-US" sz="1000">
                <a:ea typeface="+mn-lt"/>
                <a:cs typeface="+mn-lt"/>
              </a:rPr>
              <a:t>, C., &amp; </a:t>
            </a:r>
            <a:r>
              <a:rPr lang="en-US" sz="1000" err="1">
                <a:ea typeface="+mn-lt"/>
                <a:cs typeface="+mn-lt"/>
              </a:rPr>
              <a:t>Angerhausen</a:t>
            </a:r>
            <a:r>
              <a:rPr lang="en-US" sz="1000">
                <a:ea typeface="+mn-lt"/>
                <a:cs typeface="+mn-lt"/>
              </a:rPr>
              <a:t>, D. (2018). Scientific domain knowledge improves exoplanet transit classification with deep learning. The Astrophysical Journal Letters, 869(1), L7. https://doi.org/10.3847/2041-8213/aaf23b</a:t>
            </a:r>
            <a:endParaRPr lang="en-US">
              <a:ea typeface="+mn-lt"/>
              <a:cs typeface="+mn-lt"/>
            </a:endParaRPr>
          </a:p>
        </p:txBody>
      </p:sp>
      <p:sp>
        <p:nvSpPr>
          <p:cNvPr id="21" name="Text 9">
            <a:extLst>
              <a:ext uri="{FF2B5EF4-FFF2-40B4-BE49-F238E27FC236}">
                <a16:creationId xmlns:a16="http://schemas.microsoft.com/office/drawing/2014/main" id="{B1B0E0F3-CC7D-B90D-BFDC-C17575121D2C}"/>
              </a:ext>
            </a:extLst>
          </p:cNvPr>
          <p:cNvSpPr/>
          <p:nvPr/>
        </p:nvSpPr>
        <p:spPr>
          <a:xfrm>
            <a:off x="549840" y="3218079"/>
            <a:ext cx="5638800" cy="1007106"/>
          </a:xfrm>
          <a:prstGeom prst="rect">
            <a:avLst/>
          </a:prstGeom>
          <a:noFill/>
          <a:ln/>
        </p:spPr>
        <p:txBody>
          <a:bodyPr wrap="square" lIns="66675" tIns="0" rIns="0" bIns="0" rtlCol="0" anchor="t"/>
          <a:lstStyle/>
          <a:p>
            <a:pPr>
              <a:lnSpc>
                <a:spcPts val="1575"/>
              </a:lnSpc>
              <a:spcBef>
                <a:spcPts val="300"/>
              </a:spcBef>
              <a:spcAft>
                <a:spcPts val="360"/>
              </a:spcAft>
              <a:buSzPct val="100000"/>
            </a:pPr>
            <a:r>
              <a:rPr lang="en-US" sz="1100" b="1">
                <a:solidFill>
                  <a:srgbClr val="1E3A8A"/>
                </a:solidFill>
                <a:latin typeface="Arial"/>
                <a:ea typeface="Arial" pitchFamily="34" charset="-122"/>
                <a:cs typeface="Arial"/>
              </a:rPr>
              <a:t>Architecture</a:t>
            </a:r>
            <a:endParaRPr lang="en-US" sz="1100">
              <a:solidFill>
                <a:srgbClr val="1E293B"/>
              </a:solidFill>
              <a:latin typeface="Arial"/>
              <a:ea typeface="Arial" pitchFamily="34" charset="-122"/>
              <a:cs typeface="Arial"/>
            </a:endParaRPr>
          </a:p>
          <a:p>
            <a:pPr marL="285750" indent="-285750">
              <a:lnSpc>
                <a:spcPts val="2100"/>
              </a:lnSpc>
              <a:buSzPct val="100000"/>
              <a:buFont typeface="Arial"/>
              <a:buChar char="•"/>
            </a:pPr>
            <a:r>
              <a:rPr lang="en-US" sz="1350">
                <a:solidFill>
                  <a:srgbClr val="000000"/>
                </a:solidFill>
                <a:latin typeface="Arial"/>
                <a:cs typeface="Arial"/>
              </a:rPr>
              <a:t>Added centroid time-series to identify background eclipsing binaries</a:t>
            </a:r>
          </a:p>
          <a:p>
            <a:pPr marL="285750" indent="-285750">
              <a:lnSpc>
                <a:spcPts val="2100"/>
              </a:lnSpc>
              <a:buSzPct val="100000"/>
              <a:buFont typeface="Arial"/>
              <a:buChar char="•"/>
            </a:pPr>
            <a:r>
              <a:rPr lang="en-US" sz="1350">
                <a:solidFill>
                  <a:srgbClr val="000000"/>
                </a:solidFill>
                <a:latin typeface="Arial"/>
                <a:cs typeface="Arial"/>
              </a:rPr>
              <a:t>Integrated stellar parameters (Teff, log g, radius, mass)</a:t>
            </a:r>
          </a:p>
          <a:p>
            <a:pPr marL="285750" indent="-285750">
              <a:lnSpc>
                <a:spcPts val="2100"/>
              </a:lnSpc>
              <a:buSzPct val="100000"/>
              <a:buFont typeface="Arial"/>
              <a:buChar char="•"/>
            </a:pPr>
            <a:r>
              <a:rPr lang="en-US" sz="1350">
                <a:solidFill>
                  <a:srgbClr val="000000"/>
                </a:solidFill>
                <a:latin typeface="Arial"/>
                <a:cs typeface="Arial"/>
              </a:rPr>
              <a:t>Improved data augmentation techniques</a:t>
            </a:r>
          </a:p>
        </p:txBody>
      </p:sp>
      <p:sp>
        <p:nvSpPr>
          <p:cNvPr id="25" name="Text 11">
            <a:extLst>
              <a:ext uri="{FF2B5EF4-FFF2-40B4-BE49-F238E27FC236}">
                <a16:creationId xmlns:a16="http://schemas.microsoft.com/office/drawing/2014/main" id="{9E480D9C-9BB2-1C64-EE70-9B0D315F3723}"/>
              </a:ext>
            </a:extLst>
          </p:cNvPr>
          <p:cNvSpPr/>
          <p:nvPr/>
        </p:nvSpPr>
        <p:spPr>
          <a:xfrm>
            <a:off x="549840" y="4602093"/>
            <a:ext cx="5638800" cy="795739"/>
          </a:xfrm>
          <a:prstGeom prst="rect">
            <a:avLst/>
          </a:prstGeom>
          <a:noFill/>
          <a:ln/>
        </p:spPr>
        <p:txBody>
          <a:bodyPr wrap="square" lIns="66675" tIns="0" rIns="0" bIns="0" rtlCol="0" anchor="t"/>
          <a:lstStyle/>
          <a:p>
            <a:pPr>
              <a:lnSpc>
                <a:spcPts val="1575"/>
              </a:lnSpc>
              <a:spcBef>
                <a:spcPts val="300"/>
              </a:spcBef>
              <a:spcAft>
                <a:spcPts val="360"/>
              </a:spcAft>
              <a:buSzPct val="100000"/>
            </a:pPr>
            <a:r>
              <a:rPr lang="en-US" sz="1100" b="1">
                <a:solidFill>
                  <a:srgbClr val="1E3A8A"/>
                </a:solidFill>
                <a:latin typeface="Arial"/>
                <a:ea typeface="Arial" pitchFamily="34" charset="-122"/>
                <a:cs typeface="Arial"/>
              </a:rPr>
              <a:t>Results</a:t>
            </a:r>
            <a:endParaRPr lang="en-US" sz="1100">
              <a:solidFill>
                <a:srgbClr val="1E293B"/>
              </a:solidFill>
              <a:latin typeface="Arial"/>
              <a:ea typeface="Arial" pitchFamily="34" charset="-122"/>
              <a:cs typeface="Arial"/>
            </a:endParaRPr>
          </a:p>
          <a:p>
            <a:pPr marL="285750" indent="-285750">
              <a:lnSpc>
                <a:spcPts val="2100"/>
              </a:lnSpc>
              <a:buSzPct val="100000"/>
              <a:buFont typeface="Arial"/>
              <a:buChar char="•"/>
            </a:pPr>
            <a:r>
              <a:rPr lang="en-US" sz="1400">
                <a:solidFill>
                  <a:srgbClr val="1E293B"/>
                </a:solidFill>
                <a:latin typeface="Arial"/>
                <a:cs typeface="Arial"/>
              </a:rPr>
              <a:t>97.5% accuracy</a:t>
            </a:r>
          </a:p>
          <a:p>
            <a:pPr marL="285750" indent="-285750">
              <a:lnSpc>
                <a:spcPts val="2100"/>
              </a:lnSpc>
              <a:buSzPct val="100000"/>
              <a:buFont typeface="Arial"/>
              <a:buChar char="•"/>
            </a:pPr>
            <a:r>
              <a:rPr lang="en-US" sz="1400">
                <a:solidFill>
                  <a:srgbClr val="1E293B"/>
                </a:solidFill>
                <a:latin typeface="Arial"/>
                <a:cs typeface="Arial"/>
              </a:rPr>
              <a:t>15-20% gain in recall for low SNR transits</a:t>
            </a:r>
          </a:p>
        </p:txBody>
      </p:sp>
      <p:sp>
        <p:nvSpPr>
          <p:cNvPr id="32" name="Text 12">
            <a:extLst>
              <a:ext uri="{FF2B5EF4-FFF2-40B4-BE49-F238E27FC236}">
                <a16:creationId xmlns:a16="http://schemas.microsoft.com/office/drawing/2014/main" id="{176FB8F7-4B93-EEBA-4DA1-8D4729E1BBEE}"/>
              </a:ext>
            </a:extLst>
          </p:cNvPr>
          <p:cNvSpPr/>
          <p:nvPr/>
        </p:nvSpPr>
        <p:spPr>
          <a:xfrm>
            <a:off x="5774784" y="1876340"/>
            <a:ext cx="3191107" cy="1025243"/>
          </a:xfrm>
          <a:prstGeom prst="roundRect">
            <a:avLst>
              <a:gd name="adj" fmla="val 7505"/>
            </a:avLst>
          </a:prstGeom>
          <a:solidFill>
            <a:srgbClr val="0F172A"/>
          </a:solidFill>
          <a:ln/>
        </p:spPr>
        <p:txBody>
          <a:bodyPr wrap="square" lIns="91440" tIns="45720" rIns="91440" bIns="45720" rtlCol="0" anchor="ctr"/>
          <a:lstStyle/>
          <a:p>
            <a:endParaRPr lang="en-US" sz="1050" b="1">
              <a:solidFill>
                <a:srgbClr val="FFFFFF"/>
              </a:solidFill>
              <a:latin typeface="Arial"/>
            </a:endParaRPr>
          </a:p>
          <a:p>
            <a:r>
              <a:rPr lang="en-US" sz="1500" b="1" i="0" u="none" strike="noStrike">
                <a:solidFill>
                  <a:srgbClr val="FFFFFF"/>
                </a:solidFill>
                <a:latin typeface="Arial"/>
              </a:rPr>
              <a:t>Key Takeaway</a:t>
            </a:r>
            <a:r>
              <a:rPr lang="en-US" sz="1500" b="0" i="0">
                <a:latin typeface="Arial"/>
              </a:rPr>
              <a:t>​</a:t>
            </a:r>
            <a:endParaRPr lang="en-US" sz="1500">
              <a:cs typeface="Arial"/>
            </a:endParaRPr>
          </a:p>
          <a:p>
            <a:pPr>
              <a:lnSpc>
                <a:spcPts val="1463"/>
              </a:lnSpc>
              <a:spcBef>
                <a:spcPts val="300"/>
              </a:spcBef>
              <a:spcAft>
                <a:spcPts val="300"/>
              </a:spcAft>
            </a:pPr>
            <a:r>
              <a:rPr lang="en-US" sz="1300">
                <a:solidFill>
                  <a:srgbClr val="60A5FA"/>
                </a:solidFill>
                <a:cs typeface="Arial"/>
              </a:rPr>
              <a:t>Auxiliary features improve overall model performance.</a:t>
            </a:r>
          </a:p>
          <a:p>
            <a:endParaRPr lang="en-US" sz="1050">
              <a:cs typeface="Arial"/>
            </a:endParaRPr>
          </a:p>
        </p:txBody>
      </p:sp>
      <p:sp>
        <p:nvSpPr>
          <p:cNvPr id="33" name="Text 4">
            <a:extLst>
              <a:ext uri="{FF2B5EF4-FFF2-40B4-BE49-F238E27FC236}">
                <a16:creationId xmlns:a16="http://schemas.microsoft.com/office/drawing/2014/main" id="{F50975AA-5B80-F8CD-F37B-4A83BFD60BDA}"/>
              </a:ext>
            </a:extLst>
          </p:cNvPr>
          <p:cNvSpPr/>
          <p:nvPr/>
        </p:nvSpPr>
        <p:spPr>
          <a:xfrm>
            <a:off x="482933" y="1876505"/>
            <a:ext cx="5270810" cy="1031575"/>
          </a:xfrm>
          <a:prstGeom prst="roundRect">
            <a:avLst>
              <a:gd name="adj" fmla="val 9831"/>
            </a:avLst>
          </a:prstGeom>
          <a:solidFill>
            <a:srgbClr val="F1F5F9"/>
          </a:solidFill>
          <a:ln/>
        </p:spPr>
        <p:txBody>
          <a:bodyPr wrap="square" lIns="91440" tIns="45720" rIns="91440" bIns="45720" rtlCol="0" anchor="ctr"/>
          <a:lstStyle/>
          <a:p>
            <a:pPr>
              <a:lnSpc>
                <a:spcPts val="1575"/>
              </a:lnSpc>
              <a:spcBef>
                <a:spcPts val="300"/>
              </a:spcBef>
              <a:spcAft>
                <a:spcPts val="300"/>
              </a:spcAft>
            </a:pPr>
            <a:endParaRPr lang="en-US" sz="1100" b="1">
              <a:solidFill>
                <a:srgbClr val="1E293B"/>
              </a:solidFill>
              <a:cs typeface="Arial"/>
            </a:endParaRPr>
          </a:p>
          <a:p>
            <a:pPr>
              <a:lnSpc>
                <a:spcPts val="1575"/>
              </a:lnSpc>
              <a:spcBef>
                <a:spcPts val="300"/>
              </a:spcBef>
              <a:spcAft>
                <a:spcPts val="300"/>
              </a:spcAft>
            </a:pPr>
            <a:r>
              <a:rPr lang="en-US" sz="1500" b="1">
                <a:solidFill>
                  <a:srgbClr val="1E293B"/>
                </a:solidFill>
                <a:cs typeface="Arial"/>
              </a:rPr>
              <a:t>Key Innovation</a:t>
            </a:r>
            <a:endParaRPr lang="en-US" sz="1500">
              <a:cs typeface="Arial"/>
            </a:endParaRPr>
          </a:p>
          <a:p>
            <a:pPr>
              <a:lnSpc>
                <a:spcPts val="1470"/>
              </a:lnSpc>
              <a:spcBef>
                <a:spcPts val="300"/>
              </a:spcBef>
              <a:spcAft>
                <a:spcPts val="300"/>
              </a:spcAft>
            </a:pPr>
            <a:r>
              <a:rPr lang="en-US" sz="1300">
                <a:solidFill>
                  <a:srgbClr val="475569"/>
                </a:solidFill>
                <a:cs typeface="Arial"/>
              </a:rPr>
              <a:t>Enhanced CNN with domain knowledge</a:t>
            </a:r>
          </a:p>
          <a:p>
            <a:pPr marL="0" indent="0">
              <a:buNone/>
            </a:pPr>
            <a:endParaRPr lang="en-US" sz="1800">
              <a:cs typeface="Arial"/>
            </a:endParaRPr>
          </a:p>
        </p:txBody>
      </p:sp>
    </p:spTree>
    <p:extLst>
      <p:ext uri="{BB962C8B-B14F-4D97-AF65-F5344CB8AC3E}">
        <p14:creationId xmlns:p14="http://schemas.microsoft.com/office/powerpoint/2010/main" val="2301429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124EE-1D06-A1BD-ACAC-1BCFC6B4DA6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A23557D-0573-6E4A-EDBC-4975239B1A09}"/>
              </a:ext>
            </a:extLst>
          </p:cNvPr>
          <p:cNvSpPr>
            <a:spLocks noGrp="1"/>
          </p:cNvSpPr>
          <p:nvPr>
            <p:ph type="title"/>
          </p:nvPr>
        </p:nvSpPr>
        <p:spPr>
          <a:xfrm>
            <a:off x="519263" y="274638"/>
            <a:ext cx="8161309" cy="1115898"/>
          </a:xfrm>
        </p:spPr>
        <p:txBody>
          <a:bodyPr anchor="ctr">
            <a:normAutofit/>
          </a:bodyPr>
          <a:lstStyle/>
          <a:p>
            <a:r>
              <a:rPr lang="en-US" sz="3000">
                <a:ea typeface="+mj-lt"/>
                <a:cs typeface="+mj-lt"/>
              </a:rPr>
              <a:t>Related Work: Assessment of Ensemble-Based ML Algorithms</a:t>
            </a:r>
          </a:p>
        </p:txBody>
      </p:sp>
      <p:sp>
        <p:nvSpPr>
          <p:cNvPr id="3" name="TextBox 2">
            <a:extLst>
              <a:ext uri="{FF2B5EF4-FFF2-40B4-BE49-F238E27FC236}">
                <a16:creationId xmlns:a16="http://schemas.microsoft.com/office/drawing/2014/main" id="{FA4224DE-54BD-FFEF-70D6-77EC626C7042}"/>
              </a:ext>
            </a:extLst>
          </p:cNvPr>
          <p:cNvSpPr txBox="1"/>
          <p:nvPr/>
        </p:nvSpPr>
        <p:spPr>
          <a:xfrm>
            <a:off x="457159" y="5782911"/>
            <a:ext cx="822557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ea typeface="+mn-lt"/>
                <a:cs typeface="+mn-lt"/>
              </a:rPr>
              <a:t>Luz, T. S. F., Braga, R. A. S., &amp; Ribeiro, E. R. (2024). Assessment of ensemble-based machine learning algorithms for exoplanet identification. Electronics, 13(19), 3950. https://doi.org/10.3390/electronics13193950</a:t>
            </a:r>
            <a:endParaRPr lang="en-US"/>
          </a:p>
        </p:txBody>
      </p:sp>
      <p:sp>
        <p:nvSpPr>
          <p:cNvPr id="7" name="Text 4">
            <a:extLst>
              <a:ext uri="{FF2B5EF4-FFF2-40B4-BE49-F238E27FC236}">
                <a16:creationId xmlns:a16="http://schemas.microsoft.com/office/drawing/2014/main" id="{4B2AFEE9-B01D-4537-67C1-0800E22C12E6}"/>
              </a:ext>
            </a:extLst>
          </p:cNvPr>
          <p:cNvSpPr/>
          <p:nvPr/>
        </p:nvSpPr>
        <p:spPr>
          <a:xfrm>
            <a:off x="539191" y="1721559"/>
            <a:ext cx="5226205" cy="1087331"/>
          </a:xfrm>
          <a:prstGeom prst="roundRect">
            <a:avLst>
              <a:gd name="adj" fmla="val 9831"/>
            </a:avLst>
          </a:prstGeom>
          <a:solidFill>
            <a:srgbClr val="F1F5F9"/>
          </a:solidFill>
          <a:ln/>
        </p:spPr>
        <p:txBody>
          <a:bodyPr wrap="square" lIns="91440" tIns="45720" rIns="91440" bIns="45720" rtlCol="0" anchor="ctr"/>
          <a:lstStyle/>
          <a:p>
            <a:pPr>
              <a:lnSpc>
                <a:spcPts val="1575"/>
              </a:lnSpc>
              <a:spcBef>
                <a:spcPts val="300"/>
              </a:spcBef>
              <a:spcAft>
                <a:spcPts val="300"/>
              </a:spcAft>
            </a:pPr>
            <a:endParaRPr lang="en-US" sz="1100" b="1">
              <a:solidFill>
                <a:srgbClr val="1E293B"/>
              </a:solidFill>
              <a:cs typeface="Arial"/>
            </a:endParaRPr>
          </a:p>
          <a:p>
            <a:pPr>
              <a:lnSpc>
                <a:spcPts val="1575"/>
              </a:lnSpc>
              <a:spcBef>
                <a:spcPts val="300"/>
              </a:spcBef>
              <a:spcAft>
                <a:spcPts val="300"/>
              </a:spcAft>
            </a:pPr>
            <a:r>
              <a:rPr lang="en-US" sz="1600" b="1">
                <a:solidFill>
                  <a:srgbClr val="1E293B"/>
                </a:solidFill>
                <a:cs typeface="Arial"/>
              </a:rPr>
              <a:t>There Focus</a:t>
            </a:r>
          </a:p>
          <a:p>
            <a:pPr>
              <a:lnSpc>
                <a:spcPts val="1470"/>
              </a:lnSpc>
              <a:spcBef>
                <a:spcPts val="300"/>
              </a:spcBef>
              <a:spcAft>
                <a:spcPts val="300"/>
              </a:spcAft>
            </a:pPr>
            <a:r>
              <a:rPr lang="en-US" sz="1300">
                <a:solidFill>
                  <a:srgbClr val="475569"/>
                </a:solidFill>
                <a:cs typeface="Arial"/>
              </a:rPr>
              <a:t>Comparing 5 ensemble methods on Kepler DR24 data</a:t>
            </a:r>
          </a:p>
          <a:p>
            <a:pPr marL="0" indent="0">
              <a:buNone/>
            </a:pPr>
            <a:endParaRPr lang="en-US" sz="1800">
              <a:cs typeface="Arial"/>
            </a:endParaRPr>
          </a:p>
        </p:txBody>
      </p:sp>
      <p:sp>
        <p:nvSpPr>
          <p:cNvPr id="10" name="Text 9">
            <a:extLst>
              <a:ext uri="{FF2B5EF4-FFF2-40B4-BE49-F238E27FC236}">
                <a16:creationId xmlns:a16="http://schemas.microsoft.com/office/drawing/2014/main" id="{0EA3EC59-26C1-D4BC-2F1D-51B82085632C}"/>
              </a:ext>
            </a:extLst>
          </p:cNvPr>
          <p:cNvSpPr/>
          <p:nvPr/>
        </p:nvSpPr>
        <p:spPr>
          <a:xfrm>
            <a:off x="540899" y="3053921"/>
            <a:ext cx="5659394" cy="626781"/>
          </a:xfrm>
          <a:prstGeom prst="rect">
            <a:avLst/>
          </a:prstGeom>
          <a:noFill/>
          <a:ln/>
        </p:spPr>
        <p:txBody>
          <a:bodyPr wrap="square" lIns="66675" tIns="0" rIns="0" bIns="0" rtlCol="0" anchor="t"/>
          <a:lstStyle/>
          <a:p>
            <a:pPr>
              <a:lnSpc>
                <a:spcPts val="1575"/>
              </a:lnSpc>
              <a:spcBef>
                <a:spcPts val="300"/>
              </a:spcBef>
              <a:spcAft>
                <a:spcPts val="360"/>
              </a:spcAft>
            </a:pPr>
            <a:r>
              <a:rPr lang="en-US" sz="1100" b="1">
                <a:solidFill>
                  <a:srgbClr val="1E3A8A"/>
                </a:solidFill>
                <a:latin typeface="Arial"/>
                <a:ea typeface="Arial" pitchFamily="34" charset="-122"/>
                <a:cs typeface="Arial"/>
              </a:rPr>
              <a:t>Algorithms</a:t>
            </a:r>
            <a:endParaRPr lang="en-US" sz="1100">
              <a:solidFill>
                <a:srgbClr val="1E293B"/>
              </a:solidFill>
              <a:latin typeface="Arial"/>
              <a:ea typeface="Arial" pitchFamily="34" charset="-122"/>
              <a:cs typeface="Arial"/>
            </a:endParaRPr>
          </a:p>
          <a:p>
            <a:pPr marL="285750" indent="-285750">
              <a:lnSpc>
                <a:spcPts val="2100"/>
              </a:lnSpc>
              <a:buSzPct val="100000"/>
              <a:buFont typeface="Arial"/>
              <a:buChar char="•"/>
            </a:pPr>
            <a:r>
              <a:rPr lang="en-US" sz="1350" err="1">
                <a:solidFill>
                  <a:srgbClr val="1E293B"/>
                </a:solidFill>
                <a:latin typeface="Arial"/>
                <a:cs typeface="Arial"/>
              </a:rPr>
              <a:t>Adaboost</a:t>
            </a:r>
            <a:r>
              <a:rPr lang="en-US" sz="1350">
                <a:solidFill>
                  <a:srgbClr val="1E293B"/>
                </a:solidFill>
                <a:latin typeface="Arial"/>
                <a:cs typeface="Arial"/>
              </a:rPr>
              <a:t>, Random Forest, Stacking, Random Subspace, Extra Trees</a:t>
            </a:r>
          </a:p>
        </p:txBody>
      </p:sp>
      <p:sp>
        <p:nvSpPr>
          <p:cNvPr id="12" name="Text 11">
            <a:extLst>
              <a:ext uri="{FF2B5EF4-FFF2-40B4-BE49-F238E27FC236}">
                <a16:creationId xmlns:a16="http://schemas.microsoft.com/office/drawing/2014/main" id="{1FAEC0D4-ABA2-C297-11DD-6B64360B6FD0}"/>
              </a:ext>
            </a:extLst>
          </p:cNvPr>
          <p:cNvSpPr/>
          <p:nvPr/>
        </p:nvSpPr>
        <p:spPr>
          <a:xfrm>
            <a:off x="540899" y="3680777"/>
            <a:ext cx="5659394" cy="1799391"/>
          </a:xfrm>
          <a:prstGeom prst="rect">
            <a:avLst/>
          </a:prstGeom>
          <a:noFill/>
          <a:ln/>
        </p:spPr>
        <p:txBody>
          <a:bodyPr wrap="square" lIns="66675" tIns="0" rIns="0" bIns="0" rtlCol="0" anchor="t"/>
          <a:lstStyle/>
          <a:p>
            <a:pPr>
              <a:lnSpc>
                <a:spcPts val="1575"/>
              </a:lnSpc>
              <a:spcBef>
                <a:spcPts val="300"/>
              </a:spcBef>
              <a:spcAft>
                <a:spcPts val="360"/>
              </a:spcAft>
            </a:pPr>
            <a:r>
              <a:rPr lang="en-US" sz="1100" b="1">
                <a:solidFill>
                  <a:srgbClr val="1E3A8A"/>
                </a:solidFill>
                <a:latin typeface="Arial"/>
                <a:ea typeface="Arial" pitchFamily="34" charset="-122"/>
                <a:cs typeface="Arial"/>
              </a:rPr>
              <a:t>Findings</a:t>
            </a:r>
          </a:p>
          <a:p>
            <a:pPr marL="285750" indent="-285750">
              <a:lnSpc>
                <a:spcPts val="2100"/>
              </a:lnSpc>
              <a:buSzPct val="100000"/>
              <a:buFont typeface="Arial"/>
              <a:buChar char="•"/>
            </a:pPr>
            <a:r>
              <a:rPr lang="en-US" sz="1350">
                <a:solidFill>
                  <a:srgbClr val="1E293B"/>
                </a:solidFill>
                <a:latin typeface="Arial"/>
                <a:cs typeface="Arial"/>
              </a:rPr>
              <a:t>Stacking achieved 83.08% accuracy (best overall)</a:t>
            </a:r>
          </a:p>
          <a:p>
            <a:pPr marL="285750" indent="-285750">
              <a:lnSpc>
                <a:spcPts val="2100"/>
              </a:lnSpc>
              <a:buSzPct val="100000"/>
              <a:buFont typeface="Arial"/>
              <a:buChar char="•"/>
            </a:pPr>
            <a:r>
              <a:rPr lang="en-US" sz="1350" err="1">
                <a:solidFill>
                  <a:srgbClr val="1E293B"/>
                </a:solidFill>
                <a:latin typeface="Arial"/>
                <a:cs typeface="Arial"/>
              </a:rPr>
              <a:t>Adaboost</a:t>
            </a:r>
            <a:r>
              <a:rPr lang="en-US" sz="1350">
                <a:solidFill>
                  <a:srgbClr val="1E293B"/>
                </a:solidFill>
                <a:latin typeface="Arial"/>
                <a:cs typeface="Arial"/>
              </a:rPr>
              <a:t> with hyperparameter tuning (Accuracy 81.4% to 82.5%)</a:t>
            </a:r>
          </a:p>
          <a:p>
            <a:pPr marL="285750" indent="-285750">
              <a:lnSpc>
                <a:spcPts val="2100"/>
              </a:lnSpc>
              <a:buSzPct val="100000"/>
              <a:buFont typeface="Arial"/>
              <a:buChar char="•"/>
            </a:pPr>
            <a:r>
              <a:rPr lang="en-US" sz="1350">
                <a:solidFill>
                  <a:srgbClr val="1E293B"/>
                </a:solidFill>
                <a:latin typeface="Arial"/>
                <a:cs typeface="Arial"/>
              </a:rPr>
              <a:t>All other methods also </a:t>
            </a:r>
            <a:r>
              <a:rPr lang="en-US" sz="1350">
                <a:solidFill>
                  <a:srgbClr val="1E293B"/>
                </a:solidFill>
                <a:ea typeface="+mn-lt"/>
                <a:cs typeface="+mn-lt"/>
              </a:rPr>
              <a:t>exceeded </a:t>
            </a:r>
            <a:r>
              <a:rPr lang="en-US" sz="1350">
                <a:solidFill>
                  <a:srgbClr val="1E293B"/>
                </a:solidFill>
                <a:latin typeface="Arial"/>
                <a:cs typeface="Arial"/>
              </a:rPr>
              <a:t>80% </a:t>
            </a:r>
            <a:endParaRPr lang="en-US"/>
          </a:p>
        </p:txBody>
      </p:sp>
      <p:sp>
        <p:nvSpPr>
          <p:cNvPr id="16" name="Text 12">
            <a:extLst>
              <a:ext uri="{FF2B5EF4-FFF2-40B4-BE49-F238E27FC236}">
                <a16:creationId xmlns:a16="http://schemas.microsoft.com/office/drawing/2014/main" id="{84E03125-4323-BE39-574F-6A7EF88FA1E9}"/>
              </a:ext>
            </a:extLst>
          </p:cNvPr>
          <p:cNvSpPr/>
          <p:nvPr/>
        </p:nvSpPr>
        <p:spPr>
          <a:xfrm>
            <a:off x="5772419" y="1720402"/>
            <a:ext cx="3202257" cy="1089070"/>
          </a:xfrm>
          <a:prstGeom prst="roundRect">
            <a:avLst>
              <a:gd name="adj" fmla="val 7505"/>
            </a:avLst>
          </a:prstGeom>
          <a:solidFill>
            <a:srgbClr val="0F172A"/>
          </a:solidFill>
          <a:ln/>
        </p:spPr>
        <p:txBody>
          <a:bodyPr wrap="square" lIns="91440" tIns="45720" rIns="91440" bIns="45720" rtlCol="0" anchor="ctr"/>
          <a:lstStyle/>
          <a:p>
            <a:endParaRPr lang="en-US" sz="1050" b="1">
              <a:solidFill>
                <a:srgbClr val="FFFFFF"/>
              </a:solidFill>
              <a:latin typeface="Arial"/>
            </a:endParaRPr>
          </a:p>
          <a:p>
            <a:r>
              <a:rPr lang="en-US" sz="1600" b="1" i="0" u="none" strike="noStrike">
                <a:solidFill>
                  <a:srgbClr val="FFFFFF"/>
                </a:solidFill>
                <a:latin typeface="Arial"/>
              </a:rPr>
              <a:t>Key Takeaway</a:t>
            </a:r>
            <a:r>
              <a:rPr lang="en-US" sz="1600" b="0" i="0">
                <a:latin typeface="Arial"/>
              </a:rPr>
              <a:t>​</a:t>
            </a:r>
            <a:endParaRPr lang="en-US" sz="1600">
              <a:cs typeface="Arial"/>
            </a:endParaRPr>
          </a:p>
          <a:p>
            <a:pPr>
              <a:lnSpc>
                <a:spcPts val="1463"/>
              </a:lnSpc>
              <a:spcBef>
                <a:spcPts val="300"/>
              </a:spcBef>
              <a:spcAft>
                <a:spcPts val="300"/>
              </a:spcAft>
            </a:pPr>
            <a:r>
              <a:rPr lang="en-US" sz="1300">
                <a:solidFill>
                  <a:srgbClr val="60A5FA"/>
                </a:solidFill>
                <a:cs typeface="Arial"/>
              </a:rPr>
              <a:t>Combining multiple models should improve robustness.</a:t>
            </a:r>
          </a:p>
          <a:p>
            <a:endParaRPr lang="en-US" sz="1050">
              <a:cs typeface="Arial"/>
            </a:endParaRPr>
          </a:p>
        </p:txBody>
      </p:sp>
    </p:spTree>
    <p:extLst>
      <p:ext uri="{BB962C8B-B14F-4D97-AF65-F5344CB8AC3E}">
        <p14:creationId xmlns:p14="http://schemas.microsoft.com/office/powerpoint/2010/main" val="34936507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BB5DD-8F5B-15D9-4BFF-8EE671B44BA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595191D-80A2-C53C-AE16-2BCA633AB5A0}"/>
              </a:ext>
            </a:extLst>
          </p:cNvPr>
          <p:cNvSpPr>
            <a:spLocks noGrp="1"/>
          </p:cNvSpPr>
          <p:nvPr>
            <p:ph type="title"/>
          </p:nvPr>
        </p:nvSpPr>
        <p:spPr>
          <a:xfrm>
            <a:off x="457200" y="274638"/>
            <a:ext cx="8223372" cy="795237"/>
          </a:xfrm>
        </p:spPr>
        <p:txBody>
          <a:bodyPr anchor="ctr">
            <a:normAutofit fontScale="90000"/>
          </a:bodyPr>
          <a:lstStyle/>
          <a:p>
            <a:r>
              <a:rPr lang="en-US" sz="3000">
                <a:ea typeface="+mj-lt"/>
                <a:cs typeface="+mj-lt"/>
              </a:rPr>
              <a:t>Related Work: Focal Loss for Dense Object Detection</a:t>
            </a:r>
          </a:p>
        </p:txBody>
      </p:sp>
      <p:sp>
        <p:nvSpPr>
          <p:cNvPr id="3" name="TextBox 2">
            <a:extLst>
              <a:ext uri="{FF2B5EF4-FFF2-40B4-BE49-F238E27FC236}">
                <a16:creationId xmlns:a16="http://schemas.microsoft.com/office/drawing/2014/main" id="{00388024-0139-5591-F6CC-07EB41CE9EF2}"/>
              </a:ext>
            </a:extLst>
          </p:cNvPr>
          <p:cNvSpPr txBox="1"/>
          <p:nvPr/>
        </p:nvSpPr>
        <p:spPr>
          <a:xfrm>
            <a:off x="457159" y="5536114"/>
            <a:ext cx="822557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ea typeface="+mn-lt"/>
                <a:cs typeface="+mn-lt"/>
              </a:rPr>
              <a:t>Lin, T.-Y., Goyal, P., </a:t>
            </a:r>
            <a:r>
              <a:rPr lang="en-US" sz="1000" err="1">
                <a:ea typeface="+mn-lt"/>
                <a:cs typeface="+mn-lt"/>
              </a:rPr>
              <a:t>Girshick</a:t>
            </a:r>
            <a:r>
              <a:rPr lang="en-US" sz="1000">
                <a:ea typeface="+mn-lt"/>
                <a:cs typeface="+mn-lt"/>
              </a:rPr>
              <a:t>, R., He, K., &amp; </a:t>
            </a:r>
            <a:r>
              <a:rPr lang="en-US" sz="1000" err="1">
                <a:ea typeface="+mn-lt"/>
                <a:cs typeface="+mn-lt"/>
              </a:rPr>
              <a:t>Dollár</a:t>
            </a:r>
            <a:r>
              <a:rPr lang="en-US" sz="1000">
                <a:ea typeface="+mn-lt"/>
                <a:cs typeface="+mn-lt"/>
              </a:rPr>
              <a:t>, P. (2018). Focal loss for dense object detection. IEEE Transactions on Pattern Analysis and Machine Intelligence, 42(2), 318-327. https://doi.org/10.1109/TPAMI.2018.2858826</a:t>
            </a:r>
            <a:endParaRPr lang="en-US"/>
          </a:p>
        </p:txBody>
      </p:sp>
      <p:sp>
        <p:nvSpPr>
          <p:cNvPr id="9" name="Text 4">
            <a:extLst>
              <a:ext uri="{FF2B5EF4-FFF2-40B4-BE49-F238E27FC236}">
                <a16:creationId xmlns:a16="http://schemas.microsoft.com/office/drawing/2014/main" id="{21A54205-1626-11CE-EC4F-060B2247FED1}"/>
              </a:ext>
            </a:extLst>
          </p:cNvPr>
          <p:cNvSpPr/>
          <p:nvPr/>
        </p:nvSpPr>
        <p:spPr>
          <a:xfrm>
            <a:off x="551149" y="1527362"/>
            <a:ext cx="5226205" cy="1053877"/>
          </a:xfrm>
          <a:prstGeom prst="roundRect">
            <a:avLst>
              <a:gd name="adj" fmla="val 9831"/>
            </a:avLst>
          </a:prstGeom>
          <a:solidFill>
            <a:srgbClr val="F1F5F9"/>
          </a:solidFill>
          <a:ln/>
        </p:spPr>
        <p:txBody>
          <a:bodyPr wrap="square" lIns="91440" tIns="45720" rIns="91440" bIns="45720" rtlCol="0" anchor="ctr"/>
          <a:lstStyle/>
          <a:p>
            <a:endParaRPr lang="en-US" sz="1600" b="1">
              <a:solidFill>
                <a:srgbClr val="1E293B"/>
              </a:solidFill>
              <a:latin typeface="Arial"/>
              <a:cs typeface="Arial"/>
            </a:endParaRPr>
          </a:p>
          <a:p>
            <a:r>
              <a:rPr lang="en-US" sz="1600" b="1">
                <a:solidFill>
                  <a:srgbClr val="1E293B"/>
                </a:solidFill>
                <a:latin typeface="Arial"/>
              </a:rPr>
              <a:t>The Problem </a:t>
            </a:r>
            <a:endParaRPr lang="en-US" sz="1600"/>
          </a:p>
          <a:p>
            <a:pPr>
              <a:lnSpc>
                <a:spcPts val="1470"/>
              </a:lnSpc>
              <a:spcBef>
                <a:spcPts val="300"/>
              </a:spcBef>
              <a:spcAft>
                <a:spcPts val="300"/>
              </a:spcAft>
            </a:pPr>
            <a:r>
              <a:rPr lang="en-US" sz="1300">
                <a:solidFill>
                  <a:srgbClr val="475569"/>
                </a:solidFill>
                <a:cs typeface="Arial"/>
              </a:rPr>
              <a:t>Extreme class imbalance overwhelms training</a:t>
            </a:r>
            <a:endParaRPr lang="en-US" sz="1300">
              <a:cs typeface="Arial"/>
            </a:endParaRPr>
          </a:p>
          <a:p>
            <a:endParaRPr lang="en-US" sz="1100">
              <a:cs typeface="Arial"/>
            </a:endParaRPr>
          </a:p>
        </p:txBody>
      </p:sp>
      <p:sp>
        <p:nvSpPr>
          <p:cNvPr id="22" name="Text 9">
            <a:extLst>
              <a:ext uri="{FF2B5EF4-FFF2-40B4-BE49-F238E27FC236}">
                <a16:creationId xmlns:a16="http://schemas.microsoft.com/office/drawing/2014/main" id="{E2FFA376-462A-9548-D32E-19491155366F}"/>
              </a:ext>
            </a:extLst>
          </p:cNvPr>
          <p:cNvSpPr/>
          <p:nvPr/>
        </p:nvSpPr>
        <p:spPr>
          <a:xfrm>
            <a:off x="551149" y="2880393"/>
            <a:ext cx="5638800" cy="1211069"/>
          </a:xfrm>
          <a:prstGeom prst="rect">
            <a:avLst/>
          </a:prstGeom>
          <a:noFill/>
          <a:ln/>
        </p:spPr>
        <p:txBody>
          <a:bodyPr wrap="square" lIns="66675" tIns="0" rIns="0" bIns="0" rtlCol="0" anchor="t"/>
          <a:lstStyle/>
          <a:p>
            <a:pPr>
              <a:lnSpc>
                <a:spcPts val="1575"/>
              </a:lnSpc>
              <a:spcBef>
                <a:spcPts val="300"/>
              </a:spcBef>
              <a:spcAft>
                <a:spcPts val="360"/>
              </a:spcAft>
            </a:pPr>
            <a:r>
              <a:rPr lang="en-US" sz="1100" b="1">
                <a:solidFill>
                  <a:srgbClr val="1E3A8A"/>
                </a:solidFill>
                <a:latin typeface="Arial"/>
                <a:ea typeface="Arial" pitchFamily="34" charset="-122"/>
                <a:cs typeface="Arial"/>
              </a:rPr>
              <a:t>The Solution – Focal Loss</a:t>
            </a:r>
            <a:endParaRPr lang="en-US" sz="1100">
              <a:solidFill>
                <a:srgbClr val="1E293B"/>
              </a:solidFill>
              <a:latin typeface="Arial"/>
              <a:ea typeface="Arial" pitchFamily="34" charset="-122"/>
              <a:cs typeface="Arial"/>
            </a:endParaRPr>
          </a:p>
          <a:p>
            <a:pPr marL="285750" indent="-285750">
              <a:lnSpc>
                <a:spcPts val="2100"/>
              </a:lnSpc>
              <a:buSzPct val="100000"/>
              <a:buFont typeface="Arial,Sans-Serif"/>
              <a:buChar char="•"/>
            </a:pPr>
            <a:r>
              <a:rPr lang="en-US" sz="1400">
                <a:solidFill>
                  <a:srgbClr val="1E293B"/>
                </a:solidFill>
                <a:latin typeface="Arial"/>
                <a:ea typeface="Arial" pitchFamily="34" charset="-122"/>
                <a:cs typeface="Arial"/>
              </a:rPr>
              <a:t>Downweigh easier examples</a:t>
            </a:r>
          </a:p>
          <a:p>
            <a:pPr marL="285750" indent="-285750">
              <a:lnSpc>
                <a:spcPts val="2100"/>
              </a:lnSpc>
              <a:buFont typeface="Arial,Sans-Serif"/>
              <a:buChar char="•"/>
            </a:pPr>
            <a:r>
              <a:rPr lang="en-US" sz="1400">
                <a:solidFill>
                  <a:srgbClr val="1E293B"/>
                </a:solidFill>
                <a:latin typeface="Arial"/>
                <a:ea typeface="Arial" pitchFamily="34" charset="-122"/>
                <a:cs typeface="Arial"/>
              </a:rPr>
              <a:t>Focus on harder examples</a:t>
            </a:r>
            <a:endParaRPr lang="en-US"/>
          </a:p>
        </p:txBody>
      </p:sp>
      <p:sp>
        <p:nvSpPr>
          <p:cNvPr id="26" name="Text 11">
            <a:extLst>
              <a:ext uri="{FF2B5EF4-FFF2-40B4-BE49-F238E27FC236}">
                <a16:creationId xmlns:a16="http://schemas.microsoft.com/office/drawing/2014/main" id="{6E778385-BD25-6748-06A9-B33AA87AF9E1}"/>
              </a:ext>
            </a:extLst>
          </p:cNvPr>
          <p:cNvSpPr/>
          <p:nvPr/>
        </p:nvSpPr>
        <p:spPr>
          <a:xfrm>
            <a:off x="551149" y="4099165"/>
            <a:ext cx="5638800" cy="1231475"/>
          </a:xfrm>
          <a:prstGeom prst="rect">
            <a:avLst/>
          </a:prstGeom>
          <a:noFill/>
          <a:ln/>
        </p:spPr>
        <p:txBody>
          <a:bodyPr wrap="square" lIns="66675" tIns="0" rIns="0" bIns="0" rtlCol="0" anchor="t"/>
          <a:lstStyle/>
          <a:p>
            <a:pPr>
              <a:lnSpc>
                <a:spcPts val="1575"/>
              </a:lnSpc>
              <a:spcBef>
                <a:spcPts val="300"/>
              </a:spcBef>
              <a:spcAft>
                <a:spcPts val="360"/>
              </a:spcAft>
            </a:pPr>
            <a:r>
              <a:rPr lang="en-US" sz="1100" b="1">
                <a:solidFill>
                  <a:srgbClr val="1E3A8A"/>
                </a:solidFill>
                <a:latin typeface="Arial"/>
                <a:ea typeface="Arial" pitchFamily="34" charset="-122"/>
                <a:cs typeface="Arial"/>
              </a:rPr>
              <a:t>Relevance to Research</a:t>
            </a:r>
            <a:endParaRPr lang="en-US" sz="1100">
              <a:solidFill>
                <a:srgbClr val="1E293B"/>
              </a:solidFill>
              <a:latin typeface="Arial"/>
              <a:ea typeface="Arial" pitchFamily="34" charset="-122"/>
              <a:cs typeface="Arial"/>
            </a:endParaRPr>
          </a:p>
          <a:p>
            <a:pPr marL="285750" indent="-285750">
              <a:lnSpc>
                <a:spcPts val="2100"/>
              </a:lnSpc>
              <a:buSzPct val="100000"/>
              <a:buFont typeface="Arial,Sans-Serif"/>
              <a:buChar char="•"/>
            </a:pPr>
            <a:r>
              <a:rPr lang="en-US" sz="1400">
                <a:solidFill>
                  <a:srgbClr val="1E293B"/>
                </a:solidFill>
                <a:latin typeface="Arial"/>
                <a:cs typeface="Arial"/>
              </a:rPr>
              <a:t>Addresses class imbalance (false positives outnumber planets)</a:t>
            </a:r>
          </a:p>
          <a:p>
            <a:pPr marL="285750" indent="-285750">
              <a:lnSpc>
                <a:spcPts val="2100"/>
              </a:lnSpc>
              <a:buFont typeface="Arial,Sans-Serif"/>
              <a:buChar char="•"/>
            </a:pPr>
            <a:r>
              <a:rPr lang="en-US" sz="1400">
                <a:solidFill>
                  <a:srgbClr val="1E293B"/>
                </a:solidFill>
                <a:latin typeface="Arial"/>
                <a:cs typeface="Arial"/>
              </a:rPr>
              <a:t>Learns more features from harder examples</a:t>
            </a:r>
          </a:p>
        </p:txBody>
      </p:sp>
      <p:sp>
        <p:nvSpPr>
          <p:cNvPr id="28" name="Text 12">
            <a:extLst>
              <a:ext uri="{FF2B5EF4-FFF2-40B4-BE49-F238E27FC236}">
                <a16:creationId xmlns:a16="http://schemas.microsoft.com/office/drawing/2014/main" id="{4D3C3658-BEEC-E3B9-C261-7F448964567D}"/>
              </a:ext>
            </a:extLst>
          </p:cNvPr>
          <p:cNvSpPr/>
          <p:nvPr/>
        </p:nvSpPr>
        <p:spPr>
          <a:xfrm>
            <a:off x="5798794" y="1530446"/>
            <a:ext cx="3191107" cy="1062236"/>
          </a:xfrm>
          <a:prstGeom prst="roundRect">
            <a:avLst>
              <a:gd name="adj" fmla="val 6344"/>
            </a:avLst>
          </a:prstGeom>
          <a:solidFill>
            <a:srgbClr val="0F172A"/>
          </a:solidFill>
          <a:ln/>
        </p:spPr>
        <p:txBody>
          <a:bodyPr wrap="square" lIns="91440" tIns="45720" rIns="91440" bIns="45720" rtlCol="0" anchor="ctr"/>
          <a:lstStyle/>
          <a:p>
            <a:endParaRPr lang="en-US" sz="1050" b="1">
              <a:solidFill>
                <a:srgbClr val="FFFFFF"/>
              </a:solidFill>
              <a:latin typeface="Arial"/>
            </a:endParaRPr>
          </a:p>
          <a:p>
            <a:pPr marL="0" indent="0">
              <a:buNone/>
            </a:pPr>
            <a:r>
              <a:rPr lang="en-US" sz="1600" b="1" i="0" u="none" strike="noStrike">
                <a:solidFill>
                  <a:srgbClr val="FFFFFF"/>
                </a:solidFill>
                <a:latin typeface="Arial"/>
              </a:rPr>
              <a:t>Key Takeaway</a:t>
            </a:r>
            <a:r>
              <a:rPr lang="en-US" sz="1600" b="0" i="0">
                <a:latin typeface="Arial"/>
              </a:rPr>
              <a:t>​</a:t>
            </a:r>
            <a:endParaRPr lang="en-US" sz="1600"/>
          </a:p>
          <a:p>
            <a:pPr>
              <a:lnSpc>
                <a:spcPts val="1463"/>
              </a:lnSpc>
              <a:spcBef>
                <a:spcPts val="300"/>
              </a:spcBef>
              <a:spcAft>
                <a:spcPts val="300"/>
              </a:spcAft>
            </a:pPr>
            <a:r>
              <a:rPr lang="en-US" sz="1300">
                <a:solidFill>
                  <a:srgbClr val="60A5FA"/>
                </a:solidFill>
                <a:cs typeface="Arial"/>
              </a:rPr>
              <a:t>Focal Loss will improve detection of faint signals.</a:t>
            </a:r>
          </a:p>
          <a:p>
            <a:endParaRPr lang="en-US" sz="1050">
              <a:cs typeface="Arial"/>
            </a:endParaRPr>
          </a:p>
        </p:txBody>
      </p:sp>
    </p:spTree>
    <p:extLst>
      <p:ext uri="{BB962C8B-B14F-4D97-AF65-F5344CB8AC3E}">
        <p14:creationId xmlns:p14="http://schemas.microsoft.com/office/powerpoint/2010/main" val="42003178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18689-5FF0-E727-FC78-B68829C4A4A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B19AD6D-DEB7-0E5A-9C24-9E8F2B544286}"/>
              </a:ext>
            </a:extLst>
          </p:cNvPr>
          <p:cNvSpPr>
            <a:spLocks noGrp="1"/>
          </p:cNvSpPr>
          <p:nvPr>
            <p:ph type="title"/>
          </p:nvPr>
        </p:nvSpPr>
        <p:spPr>
          <a:xfrm>
            <a:off x="457200" y="274638"/>
            <a:ext cx="8223372" cy="546984"/>
          </a:xfrm>
        </p:spPr>
        <p:txBody>
          <a:bodyPr anchor="ctr">
            <a:normAutofit fontScale="90000"/>
          </a:bodyPr>
          <a:lstStyle/>
          <a:p>
            <a:r>
              <a:rPr lang="en-US" sz="3000">
                <a:ea typeface="+mj-lt"/>
                <a:cs typeface="+mj-lt"/>
              </a:rPr>
              <a:t>Progress Since Midterm</a:t>
            </a:r>
          </a:p>
        </p:txBody>
      </p:sp>
      <p:sp>
        <p:nvSpPr>
          <p:cNvPr id="9" name="Text 9">
            <a:extLst>
              <a:ext uri="{FF2B5EF4-FFF2-40B4-BE49-F238E27FC236}">
                <a16:creationId xmlns:a16="http://schemas.microsoft.com/office/drawing/2014/main" id="{9D28B851-C332-9E5B-5064-0772FFE7034D}"/>
              </a:ext>
            </a:extLst>
          </p:cNvPr>
          <p:cNvSpPr/>
          <p:nvPr/>
        </p:nvSpPr>
        <p:spPr>
          <a:xfrm>
            <a:off x="557455" y="1257155"/>
            <a:ext cx="7684771" cy="2362317"/>
          </a:xfrm>
          <a:prstGeom prst="rect">
            <a:avLst/>
          </a:prstGeom>
          <a:noFill/>
          <a:ln/>
        </p:spPr>
        <p:txBody>
          <a:bodyPr wrap="square" lIns="66675" tIns="0" rIns="0" bIns="0" rtlCol="0" anchor="t"/>
          <a:lstStyle/>
          <a:p>
            <a:pPr marL="285750" indent="-285750">
              <a:buFont typeface="Arial"/>
              <a:buChar char="•"/>
            </a:pPr>
            <a:r>
              <a:rPr lang="en-US" sz="1600">
                <a:solidFill>
                  <a:srgbClr val="1E3A8A"/>
                </a:solidFill>
                <a:cs typeface="Arial"/>
              </a:rPr>
              <a:t>Auxiliary Features – 18 Scalar features from the light curves (2.3% AUC)</a:t>
            </a:r>
          </a:p>
          <a:p>
            <a:endParaRPr lang="en-US" sz="1600">
              <a:solidFill>
                <a:srgbClr val="1E3A8A"/>
              </a:solidFill>
              <a:ea typeface="+mn-lt"/>
              <a:cs typeface="+mn-lt"/>
            </a:endParaRPr>
          </a:p>
          <a:p>
            <a:pPr marL="285750" indent="-285750">
              <a:buFont typeface="Arial"/>
              <a:buChar char="•"/>
            </a:pPr>
            <a:r>
              <a:rPr lang="en-US" sz="1600">
                <a:solidFill>
                  <a:srgbClr val="1E3A8A"/>
                </a:solidFill>
                <a:cs typeface="Arial"/>
              </a:rPr>
              <a:t>Focal Loss (2.5% overall improvement)</a:t>
            </a:r>
          </a:p>
          <a:p>
            <a:pPr marL="285750" indent="-285750">
              <a:buFont typeface="Arial"/>
              <a:buChar char="•"/>
            </a:pPr>
            <a:endParaRPr lang="en-US" sz="1600">
              <a:solidFill>
                <a:srgbClr val="1E3A8A"/>
              </a:solidFill>
              <a:ea typeface="+mn-lt"/>
              <a:cs typeface="+mn-lt"/>
            </a:endParaRPr>
          </a:p>
          <a:p>
            <a:pPr marL="285750" indent="-285750">
              <a:buFont typeface="Arial"/>
              <a:buChar char="•"/>
            </a:pPr>
            <a:r>
              <a:rPr lang="en-US" sz="1600">
                <a:solidFill>
                  <a:srgbClr val="1E3A8A"/>
                </a:solidFill>
                <a:cs typeface="Arial"/>
              </a:rPr>
              <a:t>Ensemble Methods (No improvement. Not enough input diversity)</a:t>
            </a:r>
          </a:p>
          <a:p>
            <a:pPr marL="285750" indent="-285750">
              <a:buFont typeface="Arial"/>
              <a:buChar char="•"/>
            </a:pPr>
            <a:endParaRPr lang="en-US" sz="1600">
              <a:solidFill>
                <a:srgbClr val="1E3A8A"/>
              </a:solidFill>
              <a:ea typeface="+mn-lt"/>
              <a:cs typeface="+mn-lt"/>
            </a:endParaRPr>
          </a:p>
          <a:p>
            <a:pPr marL="285750" indent="-285750">
              <a:buFont typeface="Arial"/>
              <a:buChar char="•"/>
            </a:pPr>
            <a:r>
              <a:rPr lang="en-US" sz="1600">
                <a:solidFill>
                  <a:srgbClr val="1E3A8A"/>
                </a:solidFill>
                <a:ea typeface="+mn-lt"/>
                <a:cs typeface="+mn-lt"/>
              </a:rPr>
              <a:t>Cross-Dataset Training/Testing</a:t>
            </a:r>
          </a:p>
          <a:p>
            <a:pPr marL="71120" indent="-71120">
              <a:lnSpc>
                <a:spcPts val="2100"/>
              </a:lnSpc>
              <a:buFont typeface="Arial"/>
              <a:buChar char="•"/>
            </a:pPr>
            <a:endParaRPr lang="en-US" sz="1400">
              <a:solidFill>
                <a:srgbClr val="1E293B"/>
              </a:solidFill>
              <a:ea typeface="+mn-lt"/>
              <a:cs typeface="+mn-lt"/>
            </a:endParaRPr>
          </a:p>
          <a:p>
            <a:pPr marL="71120" indent="-71120">
              <a:lnSpc>
                <a:spcPts val="2100"/>
              </a:lnSpc>
              <a:buSzPct val="100000"/>
              <a:buFont typeface="Arial"/>
              <a:buChar char="•"/>
            </a:pPr>
            <a:endParaRPr lang="en-US" sz="1400">
              <a:solidFill>
                <a:srgbClr val="1E293B"/>
              </a:solidFill>
              <a:cs typeface="Arial"/>
            </a:endParaRPr>
          </a:p>
        </p:txBody>
      </p:sp>
    </p:spTree>
    <p:extLst>
      <p:ext uri="{BB962C8B-B14F-4D97-AF65-F5344CB8AC3E}">
        <p14:creationId xmlns:p14="http://schemas.microsoft.com/office/powerpoint/2010/main" val="32623425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A5505-CD8A-E23A-9C40-65F66374352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BFBBEDA-CB9F-035D-AF95-C4A66C20D67D}"/>
              </a:ext>
            </a:extLst>
          </p:cNvPr>
          <p:cNvSpPr>
            <a:spLocks noGrp="1"/>
          </p:cNvSpPr>
          <p:nvPr>
            <p:ph type="title"/>
          </p:nvPr>
        </p:nvSpPr>
        <p:spPr>
          <a:xfrm>
            <a:off x="457200" y="274638"/>
            <a:ext cx="8223372" cy="546984"/>
          </a:xfrm>
        </p:spPr>
        <p:txBody>
          <a:bodyPr anchor="ctr">
            <a:normAutofit fontScale="90000"/>
          </a:bodyPr>
          <a:lstStyle/>
          <a:p>
            <a:r>
              <a:rPr lang="en-US" sz="3000">
                <a:solidFill>
                  <a:srgbClr val="000000"/>
                </a:solidFill>
                <a:ea typeface="+mj-lt"/>
                <a:cs typeface="+mj-lt"/>
              </a:rPr>
              <a:t>Methodology: Dual-Branch CNN </a:t>
            </a:r>
            <a:endParaRPr lang="en-US" sz="3000">
              <a:ea typeface="+mj-lt"/>
              <a:cs typeface="+mj-lt"/>
            </a:endParaRPr>
          </a:p>
        </p:txBody>
      </p:sp>
      <p:sp>
        <p:nvSpPr>
          <p:cNvPr id="47" name="Text 9">
            <a:extLst>
              <a:ext uri="{FF2B5EF4-FFF2-40B4-BE49-F238E27FC236}">
                <a16:creationId xmlns:a16="http://schemas.microsoft.com/office/drawing/2014/main" id="{3B8359DC-C635-EC99-0A13-F2300027F730}"/>
              </a:ext>
            </a:extLst>
          </p:cNvPr>
          <p:cNvSpPr/>
          <p:nvPr/>
        </p:nvSpPr>
        <p:spPr>
          <a:xfrm>
            <a:off x="455884" y="2350518"/>
            <a:ext cx="5117382" cy="1074341"/>
          </a:xfrm>
          <a:prstGeom prst="rect">
            <a:avLst/>
          </a:prstGeom>
          <a:noFill/>
          <a:ln w="6350">
            <a:noFill/>
          </a:ln>
        </p:spPr>
        <p:txBody>
          <a:bodyPr wrap="square" lIns="66675" tIns="0" rIns="0" bIns="0" rtlCol="0" anchor="t"/>
          <a:lstStyle/>
          <a:p>
            <a:pPr>
              <a:lnSpc>
                <a:spcPts val="1575"/>
              </a:lnSpc>
              <a:spcBef>
                <a:spcPts val="300"/>
              </a:spcBef>
              <a:spcAft>
                <a:spcPts val="360"/>
              </a:spcAft>
            </a:pPr>
            <a:r>
              <a:rPr lang="en-US" sz="1400" b="1">
                <a:solidFill>
                  <a:srgbClr val="1E3A8A"/>
                </a:solidFill>
                <a:latin typeface="Arial"/>
                <a:ea typeface="+mn-lt"/>
                <a:cs typeface="Arial"/>
              </a:rPr>
              <a:t>Preprocessing</a:t>
            </a:r>
            <a:endParaRPr lang="en-US" sz="1400">
              <a:solidFill>
                <a:srgbClr val="1E293B"/>
              </a:solidFill>
              <a:latin typeface="Arial" pitchFamily="34" charset="-122"/>
              <a:ea typeface="Arial" pitchFamily="34" charset="-122"/>
              <a:cs typeface="Arial"/>
            </a:endParaRPr>
          </a:p>
          <a:p>
            <a:pPr marL="285750" indent="-285750">
              <a:lnSpc>
                <a:spcPts val="2100"/>
              </a:lnSpc>
              <a:buSzPct val="100000"/>
              <a:buFont typeface="Arial"/>
              <a:buChar char="•"/>
            </a:pPr>
            <a:r>
              <a:rPr lang="en-US" sz="1400">
                <a:latin typeface="Arial"/>
                <a:cs typeface="Arial"/>
              </a:rPr>
              <a:t>5σ clipping, Median Filter, BLS Period Estimation</a:t>
            </a:r>
          </a:p>
          <a:p>
            <a:pPr marL="285750" indent="-285750">
              <a:lnSpc>
                <a:spcPts val="2100"/>
              </a:lnSpc>
              <a:buSzPct val="100000"/>
              <a:buFont typeface="Arial"/>
              <a:buChar char="•"/>
            </a:pPr>
            <a:r>
              <a:rPr lang="en-US" sz="1400">
                <a:cs typeface="Arial"/>
              </a:rPr>
              <a:t>Phase folding, Dual-view creation (Global 2001 + Local 201)</a:t>
            </a:r>
          </a:p>
          <a:p>
            <a:pPr marL="285750" indent="-285750">
              <a:lnSpc>
                <a:spcPts val="2100"/>
              </a:lnSpc>
              <a:buSzPct val="100000"/>
              <a:buFont typeface="Arial"/>
              <a:buChar char="•"/>
            </a:pPr>
            <a:endParaRPr lang="en-US" sz="1400">
              <a:solidFill>
                <a:srgbClr val="000000"/>
              </a:solidFill>
              <a:cs typeface="Arial"/>
            </a:endParaRPr>
          </a:p>
        </p:txBody>
      </p:sp>
      <p:sp>
        <p:nvSpPr>
          <p:cNvPr id="13" name="Text 9">
            <a:extLst>
              <a:ext uri="{FF2B5EF4-FFF2-40B4-BE49-F238E27FC236}">
                <a16:creationId xmlns:a16="http://schemas.microsoft.com/office/drawing/2014/main" id="{E1B478AB-7381-7CC2-4E73-4D4458FEE87C}"/>
              </a:ext>
            </a:extLst>
          </p:cNvPr>
          <p:cNvSpPr/>
          <p:nvPr/>
        </p:nvSpPr>
        <p:spPr>
          <a:xfrm>
            <a:off x="462747" y="1161489"/>
            <a:ext cx="5114804" cy="1183920"/>
          </a:xfrm>
          <a:prstGeom prst="rect">
            <a:avLst/>
          </a:prstGeom>
          <a:noFill/>
          <a:ln w="6350">
            <a:noFill/>
          </a:ln>
        </p:spPr>
        <p:txBody>
          <a:bodyPr wrap="square" lIns="66675" tIns="0" rIns="0" bIns="0" rtlCol="0" anchor="t"/>
          <a:lstStyle/>
          <a:p>
            <a:pPr>
              <a:lnSpc>
                <a:spcPts val="1575"/>
              </a:lnSpc>
              <a:spcBef>
                <a:spcPts val="300"/>
              </a:spcBef>
              <a:spcAft>
                <a:spcPts val="360"/>
              </a:spcAft>
            </a:pPr>
            <a:r>
              <a:rPr lang="en-US" sz="1400" b="1">
                <a:solidFill>
                  <a:srgbClr val="1E3A8A"/>
                </a:solidFill>
                <a:latin typeface="Arial"/>
                <a:ea typeface="+mn-lt"/>
                <a:cs typeface="Arial"/>
              </a:rPr>
              <a:t>Data</a:t>
            </a:r>
            <a:endParaRPr lang="en-US" sz="1400">
              <a:solidFill>
                <a:srgbClr val="1E293B"/>
              </a:solidFill>
              <a:latin typeface="Arial" pitchFamily="34" charset="-122"/>
              <a:ea typeface="Arial" pitchFamily="34" charset="-122"/>
              <a:cs typeface="Arial"/>
            </a:endParaRPr>
          </a:p>
          <a:p>
            <a:pPr marL="285750" indent="-285750">
              <a:lnSpc>
                <a:spcPts val="2100"/>
              </a:lnSpc>
              <a:buSzPct val="100000"/>
              <a:buFont typeface="Arial"/>
              <a:buChar char="•"/>
            </a:pPr>
            <a:r>
              <a:rPr lang="en-US" sz="1400">
                <a:solidFill>
                  <a:srgbClr val="1E293B"/>
                </a:solidFill>
                <a:ea typeface="+mn-lt"/>
                <a:cs typeface="+mn-lt"/>
              </a:rPr>
              <a:t>3000 TESS Lilith-4 Simulated Light Curves</a:t>
            </a:r>
          </a:p>
          <a:p>
            <a:pPr marL="285750" indent="-285750">
              <a:lnSpc>
                <a:spcPts val="2100"/>
              </a:lnSpc>
              <a:buSzPct val="100000"/>
              <a:buFont typeface="Arial"/>
              <a:buChar char="•"/>
            </a:pPr>
            <a:r>
              <a:rPr lang="en-US" sz="1400">
                <a:solidFill>
                  <a:srgbClr val="1E293B"/>
                </a:solidFill>
                <a:cs typeface="Arial"/>
              </a:rPr>
              <a:t>1105 TESS Light Curves</a:t>
            </a:r>
          </a:p>
          <a:p>
            <a:pPr marL="285750" indent="-285750">
              <a:lnSpc>
                <a:spcPts val="2100"/>
              </a:lnSpc>
              <a:buSzPct val="100000"/>
              <a:buFont typeface="Arial"/>
              <a:buChar char="•"/>
            </a:pPr>
            <a:r>
              <a:rPr lang="en-US" sz="1400">
                <a:solidFill>
                  <a:srgbClr val="1E293B"/>
                </a:solidFill>
                <a:cs typeface="Arial"/>
              </a:rPr>
              <a:t>795 Kepler Light Curves </a:t>
            </a:r>
          </a:p>
        </p:txBody>
      </p:sp>
      <p:pic>
        <p:nvPicPr>
          <p:cNvPr id="4" name="Picture 3" descr="A screenshot of a graph&#10;&#10;AI-generated content may be incorrect.">
            <a:extLst>
              <a:ext uri="{FF2B5EF4-FFF2-40B4-BE49-F238E27FC236}">
                <a16:creationId xmlns:a16="http://schemas.microsoft.com/office/drawing/2014/main" id="{43986128-7414-76BB-183E-38024DE01E09}"/>
              </a:ext>
            </a:extLst>
          </p:cNvPr>
          <p:cNvPicPr>
            <a:picLocks noChangeAspect="1"/>
          </p:cNvPicPr>
          <p:nvPr/>
        </p:nvPicPr>
        <p:blipFill>
          <a:blip r:embed="rId2"/>
          <a:stretch>
            <a:fillRect/>
          </a:stretch>
        </p:blipFill>
        <p:spPr>
          <a:xfrm>
            <a:off x="459946" y="3525724"/>
            <a:ext cx="4015947" cy="2609955"/>
          </a:xfrm>
          <a:prstGeom prst="rect">
            <a:avLst/>
          </a:prstGeom>
        </p:spPr>
      </p:pic>
      <p:pic>
        <p:nvPicPr>
          <p:cNvPr id="7" name="Picture 6" descr="A screenshot of a graph&#10;&#10;AI-generated content may be incorrect.">
            <a:extLst>
              <a:ext uri="{FF2B5EF4-FFF2-40B4-BE49-F238E27FC236}">
                <a16:creationId xmlns:a16="http://schemas.microsoft.com/office/drawing/2014/main" id="{C80EED2F-6389-6E57-C329-AA9E99248306}"/>
              </a:ext>
            </a:extLst>
          </p:cNvPr>
          <p:cNvPicPr>
            <a:picLocks noChangeAspect="1"/>
          </p:cNvPicPr>
          <p:nvPr/>
        </p:nvPicPr>
        <p:blipFill>
          <a:blip r:embed="rId3"/>
          <a:stretch>
            <a:fillRect/>
          </a:stretch>
        </p:blipFill>
        <p:spPr>
          <a:xfrm>
            <a:off x="4671680" y="3524252"/>
            <a:ext cx="4002218" cy="2606035"/>
          </a:xfrm>
          <a:prstGeom prst="rect">
            <a:avLst/>
          </a:prstGeom>
        </p:spPr>
      </p:pic>
      <p:sp>
        <p:nvSpPr>
          <p:cNvPr id="2" name="Text 9">
            <a:extLst>
              <a:ext uri="{FF2B5EF4-FFF2-40B4-BE49-F238E27FC236}">
                <a16:creationId xmlns:a16="http://schemas.microsoft.com/office/drawing/2014/main" id="{BAE25640-21CB-0F64-7B4B-23F19E7ED4C7}"/>
              </a:ext>
            </a:extLst>
          </p:cNvPr>
          <p:cNvSpPr/>
          <p:nvPr/>
        </p:nvSpPr>
        <p:spPr>
          <a:xfrm>
            <a:off x="5577073" y="1162896"/>
            <a:ext cx="3105977" cy="1074341"/>
          </a:xfrm>
          <a:prstGeom prst="rect">
            <a:avLst/>
          </a:prstGeom>
          <a:noFill/>
          <a:ln w="6350">
            <a:noFill/>
          </a:ln>
        </p:spPr>
        <p:txBody>
          <a:bodyPr wrap="square" lIns="66675" tIns="0" rIns="0" bIns="0" rtlCol="0" anchor="t"/>
          <a:lstStyle/>
          <a:p>
            <a:pPr>
              <a:lnSpc>
                <a:spcPts val="1575"/>
              </a:lnSpc>
              <a:spcBef>
                <a:spcPts val="300"/>
              </a:spcBef>
              <a:spcAft>
                <a:spcPts val="360"/>
              </a:spcAft>
            </a:pPr>
            <a:r>
              <a:rPr lang="en-US" sz="1400" b="1" dirty="0">
                <a:solidFill>
                  <a:srgbClr val="1E3A8A"/>
                </a:solidFill>
                <a:latin typeface="Arial"/>
                <a:ea typeface="+mn-lt"/>
                <a:cs typeface="Arial"/>
              </a:rPr>
              <a:t>Feature Extraction (18 Total)</a:t>
            </a:r>
            <a:endParaRPr lang="en-US" sz="1400" dirty="0">
              <a:solidFill>
                <a:srgbClr val="1E293B"/>
              </a:solidFill>
              <a:latin typeface="Arial" pitchFamily="34" charset="-122"/>
              <a:ea typeface="Arial" pitchFamily="34" charset="-122"/>
              <a:cs typeface="Arial"/>
            </a:endParaRPr>
          </a:p>
          <a:p>
            <a:pPr marL="285750" indent="-285750">
              <a:lnSpc>
                <a:spcPts val="1575"/>
              </a:lnSpc>
              <a:spcBef>
                <a:spcPts val="300"/>
              </a:spcBef>
              <a:spcAft>
                <a:spcPts val="360"/>
              </a:spcAft>
              <a:buFont typeface="Arial"/>
              <a:buChar char="•"/>
            </a:pPr>
            <a:r>
              <a:rPr lang="en-US" sz="1400" dirty="0">
                <a:solidFill>
                  <a:srgbClr val="000000"/>
                </a:solidFill>
                <a:cs typeface="Arial"/>
              </a:rPr>
              <a:t>Transit curvature/depth/ratio, transit scatter</a:t>
            </a:r>
          </a:p>
          <a:p>
            <a:pPr marL="285750" indent="-285750">
              <a:lnSpc>
                <a:spcPts val="2100"/>
              </a:lnSpc>
              <a:buSzPct val="100000"/>
              <a:buFont typeface="Arial"/>
              <a:buChar char="•"/>
            </a:pPr>
            <a:endParaRPr lang="en-US" sz="1400">
              <a:solidFill>
                <a:srgbClr val="000000"/>
              </a:solidFill>
              <a:cs typeface="Arial"/>
            </a:endParaRPr>
          </a:p>
        </p:txBody>
      </p:sp>
    </p:spTree>
    <p:extLst>
      <p:ext uri="{BB962C8B-B14F-4D97-AF65-F5344CB8AC3E}">
        <p14:creationId xmlns:p14="http://schemas.microsoft.com/office/powerpoint/2010/main" val="33849996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1A844-F88B-795D-1E08-4663954732E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4D6ABF-188E-0E2C-A1FE-90FCFF63C9A2}"/>
              </a:ext>
            </a:extLst>
          </p:cNvPr>
          <p:cNvSpPr>
            <a:spLocks noGrp="1"/>
          </p:cNvSpPr>
          <p:nvPr>
            <p:ph type="title"/>
          </p:nvPr>
        </p:nvSpPr>
        <p:spPr>
          <a:xfrm>
            <a:off x="457200" y="274638"/>
            <a:ext cx="8223372" cy="546984"/>
          </a:xfrm>
        </p:spPr>
        <p:txBody>
          <a:bodyPr anchor="ctr">
            <a:normAutofit fontScale="90000"/>
          </a:bodyPr>
          <a:lstStyle/>
          <a:p>
            <a:r>
              <a:rPr lang="en-US" sz="3000">
                <a:solidFill>
                  <a:srgbClr val="000000"/>
                </a:solidFill>
                <a:ea typeface="+mj-lt"/>
                <a:cs typeface="+mj-lt"/>
              </a:rPr>
              <a:t>Methodology: Dual-Branch CNN (Cont.) </a:t>
            </a:r>
            <a:endParaRPr lang="en-US" sz="3000">
              <a:ea typeface="+mj-lt"/>
              <a:cs typeface="+mj-lt"/>
            </a:endParaRPr>
          </a:p>
        </p:txBody>
      </p:sp>
      <p:sp>
        <p:nvSpPr>
          <p:cNvPr id="3" name="Text 9">
            <a:extLst>
              <a:ext uri="{FF2B5EF4-FFF2-40B4-BE49-F238E27FC236}">
                <a16:creationId xmlns:a16="http://schemas.microsoft.com/office/drawing/2014/main" id="{A47FA3B6-D526-840E-02E0-129377DA0634}"/>
              </a:ext>
            </a:extLst>
          </p:cNvPr>
          <p:cNvSpPr/>
          <p:nvPr/>
        </p:nvSpPr>
        <p:spPr>
          <a:xfrm>
            <a:off x="515092" y="1032297"/>
            <a:ext cx="5113337" cy="1299192"/>
          </a:xfrm>
          <a:prstGeom prst="rect">
            <a:avLst/>
          </a:prstGeom>
          <a:noFill/>
          <a:ln w="6350">
            <a:noFill/>
          </a:ln>
        </p:spPr>
        <p:txBody>
          <a:bodyPr wrap="square" lIns="66675" tIns="0" rIns="0" bIns="0" rtlCol="0" anchor="t"/>
          <a:lstStyle/>
          <a:p>
            <a:pPr>
              <a:lnSpc>
                <a:spcPts val="1575"/>
              </a:lnSpc>
              <a:spcBef>
                <a:spcPts val="300"/>
              </a:spcBef>
              <a:spcAft>
                <a:spcPts val="360"/>
              </a:spcAft>
            </a:pPr>
            <a:r>
              <a:rPr lang="en-US" sz="1400" b="1">
                <a:solidFill>
                  <a:srgbClr val="1E3A8A"/>
                </a:solidFill>
                <a:latin typeface="Arial"/>
                <a:ea typeface="Arial" pitchFamily="34" charset="-122"/>
                <a:cs typeface="Arial"/>
              </a:rPr>
              <a:t>Model Architecture</a:t>
            </a:r>
            <a:endParaRPr lang="en-US" sz="1400" b="1">
              <a:solidFill>
                <a:srgbClr val="1E3A8A"/>
              </a:solidFill>
              <a:cs typeface="Arial"/>
            </a:endParaRPr>
          </a:p>
          <a:p>
            <a:pPr marL="285750" indent="-285750">
              <a:lnSpc>
                <a:spcPts val="2100"/>
              </a:lnSpc>
              <a:buSzPct val="100000"/>
              <a:buFont typeface="Arial"/>
              <a:buChar char="•"/>
            </a:pPr>
            <a:r>
              <a:rPr lang="en-US" sz="1400">
                <a:solidFill>
                  <a:srgbClr val="000000"/>
                </a:solidFill>
                <a:latin typeface="Arial"/>
                <a:cs typeface="Arial"/>
              </a:rPr>
              <a:t>Dual-branch CNN: 2 Conv blocks/branch (32 filters, k=5)</a:t>
            </a:r>
            <a:endParaRPr lang="en-US" sz="1400">
              <a:cs typeface="Arial"/>
            </a:endParaRPr>
          </a:p>
          <a:p>
            <a:pPr marL="285750" indent="-285750">
              <a:lnSpc>
                <a:spcPts val="2100"/>
              </a:lnSpc>
              <a:buSzPct val="100000"/>
              <a:buFont typeface="Arial"/>
              <a:buChar char="•"/>
            </a:pPr>
            <a:r>
              <a:rPr lang="en-US" sz="1400">
                <a:cs typeface="Arial"/>
              </a:rPr>
              <a:t>GELU + </a:t>
            </a:r>
            <a:r>
              <a:rPr lang="en-US" sz="1400" err="1">
                <a:cs typeface="Arial"/>
              </a:rPr>
              <a:t>BatchNorm</a:t>
            </a:r>
            <a:r>
              <a:rPr lang="en-US" sz="1400">
                <a:cs typeface="Arial"/>
              </a:rPr>
              <a:t>, Concatenate,  FC: 256, 128, 64</a:t>
            </a:r>
          </a:p>
          <a:p>
            <a:pPr marL="285750" indent="-285750">
              <a:lnSpc>
                <a:spcPts val="2100"/>
              </a:lnSpc>
              <a:buSzPct val="100000"/>
              <a:buFont typeface="Arial"/>
              <a:buChar char="•"/>
            </a:pPr>
            <a:r>
              <a:rPr lang="en-US" sz="1400">
                <a:cs typeface="Arial"/>
              </a:rPr>
              <a:t>25 Layers Total</a:t>
            </a:r>
          </a:p>
          <a:p>
            <a:pPr>
              <a:lnSpc>
                <a:spcPts val="2100"/>
              </a:lnSpc>
              <a:buSzPct val="100000"/>
            </a:pPr>
            <a:endParaRPr lang="en-US" sz="1400">
              <a:cs typeface="Arial"/>
            </a:endParaRPr>
          </a:p>
        </p:txBody>
      </p:sp>
      <p:sp>
        <p:nvSpPr>
          <p:cNvPr id="5" name="Text 9">
            <a:extLst>
              <a:ext uri="{FF2B5EF4-FFF2-40B4-BE49-F238E27FC236}">
                <a16:creationId xmlns:a16="http://schemas.microsoft.com/office/drawing/2014/main" id="{4E456351-2454-3652-34C9-75C4A6A2D2C0}"/>
              </a:ext>
            </a:extLst>
          </p:cNvPr>
          <p:cNvSpPr/>
          <p:nvPr/>
        </p:nvSpPr>
        <p:spPr>
          <a:xfrm>
            <a:off x="515090" y="2339842"/>
            <a:ext cx="5113450" cy="2125984"/>
          </a:xfrm>
          <a:prstGeom prst="rect">
            <a:avLst/>
          </a:prstGeom>
          <a:noFill/>
          <a:ln w="6350">
            <a:noFill/>
          </a:ln>
        </p:spPr>
        <p:txBody>
          <a:bodyPr wrap="square" lIns="66675" tIns="0" rIns="0" bIns="0" rtlCol="0" anchor="t"/>
          <a:lstStyle/>
          <a:p>
            <a:pPr>
              <a:lnSpc>
                <a:spcPts val="1575"/>
              </a:lnSpc>
              <a:spcBef>
                <a:spcPts val="300"/>
              </a:spcBef>
              <a:spcAft>
                <a:spcPts val="360"/>
              </a:spcAft>
            </a:pPr>
            <a:r>
              <a:rPr lang="en-US" sz="1400" b="1">
                <a:solidFill>
                  <a:srgbClr val="1E3A8A"/>
                </a:solidFill>
                <a:cs typeface="Arial"/>
              </a:rPr>
              <a:t>Training</a:t>
            </a:r>
          </a:p>
          <a:p>
            <a:pPr marL="285750" indent="-285750">
              <a:lnSpc>
                <a:spcPts val="2100"/>
              </a:lnSpc>
              <a:buSzPct val="100000"/>
              <a:buFont typeface="Arial"/>
              <a:buChar char="•"/>
            </a:pPr>
            <a:r>
              <a:rPr lang="en-US" sz="1400">
                <a:cs typeface="Arial"/>
              </a:rPr>
              <a:t>Training Split (70-15-15)</a:t>
            </a:r>
          </a:p>
          <a:p>
            <a:pPr marL="285750" indent="-285750">
              <a:lnSpc>
                <a:spcPts val="2100"/>
              </a:lnSpc>
              <a:buSzPct val="100000"/>
              <a:buFont typeface="Arial"/>
              <a:buChar char="•"/>
            </a:pPr>
            <a:r>
              <a:rPr lang="en-US" sz="1400" err="1">
                <a:cs typeface="Arial"/>
              </a:rPr>
              <a:t>AdamW</a:t>
            </a:r>
            <a:r>
              <a:rPr lang="en-US" sz="1400">
                <a:cs typeface="Arial"/>
              </a:rPr>
              <a:t> Optimizer (</a:t>
            </a:r>
            <a:r>
              <a:rPr lang="en-US" sz="1400" err="1">
                <a:cs typeface="Arial"/>
              </a:rPr>
              <a:t>lr</a:t>
            </a:r>
            <a:r>
              <a:rPr lang="en-US" sz="1400">
                <a:cs typeface="Arial"/>
              </a:rPr>
              <a:t>=1e-3)</a:t>
            </a:r>
            <a:endParaRPr lang="en-US">
              <a:cs typeface="Arial"/>
            </a:endParaRPr>
          </a:p>
          <a:p>
            <a:pPr marL="285750" indent="-285750">
              <a:lnSpc>
                <a:spcPts val="2100"/>
              </a:lnSpc>
              <a:buSzPct val="100000"/>
              <a:buFont typeface="Arial"/>
              <a:buChar char="•"/>
            </a:pPr>
            <a:r>
              <a:rPr lang="en-US" sz="1400">
                <a:ea typeface="+mn-lt"/>
                <a:cs typeface="+mn-lt"/>
              </a:rPr>
              <a:t>Focal Loss</a:t>
            </a:r>
          </a:p>
          <a:p>
            <a:pPr marL="285750" indent="-285750">
              <a:lnSpc>
                <a:spcPts val="2100"/>
              </a:lnSpc>
              <a:buSzPct val="100000"/>
              <a:buFont typeface="Arial"/>
              <a:buChar char="•"/>
            </a:pPr>
            <a:r>
              <a:rPr lang="en-US" sz="1400">
                <a:ea typeface="+mn-lt"/>
                <a:cs typeface="+mn-lt"/>
              </a:rPr>
              <a:t>Data augmentation (Gaussian Noise, Flux Scaling + Phase Shifts)</a:t>
            </a:r>
          </a:p>
          <a:p>
            <a:pPr marL="285750" indent="-285750">
              <a:lnSpc>
                <a:spcPts val="2100"/>
              </a:lnSpc>
              <a:buSzPct val="100000"/>
              <a:buFont typeface="Arial"/>
              <a:buChar char="•"/>
            </a:pPr>
            <a:r>
              <a:rPr lang="en-US" sz="1400">
                <a:ea typeface="+mn-lt"/>
                <a:cs typeface="+mn-lt"/>
              </a:rPr>
              <a:t>Early Stopping (Patience = 10)</a:t>
            </a:r>
          </a:p>
          <a:p>
            <a:pPr marL="61595" indent="-61595">
              <a:lnSpc>
                <a:spcPts val="2100"/>
              </a:lnSpc>
              <a:buSzPct val="100000"/>
              <a:buFont typeface="Arial"/>
              <a:buChar char="•"/>
            </a:pPr>
            <a:endParaRPr lang="en-US" sz="1400">
              <a:ea typeface="+mn-lt"/>
              <a:cs typeface="+mn-lt"/>
            </a:endParaRPr>
          </a:p>
        </p:txBody>
      </p:sp>
      <p:sp>
        <p:nvSpPr>
          <p:cNvPr id="4" name="Text 9">
            <a:extLst>
              <a:ext uri="{FF2B5EF4-FFF2-40B4-BE49-F238E27FC236}">
                <a16:creationId xmlns:a16="http://schemas.microsoft.com/office/drawing/2014/main" id="{842F6B43-5F3E-C1F1-026F-0CC09332C285}"/>
              </a:ext>
            </a:extLst>
          </p:cNvPr>
          <p:cNvSpPr/>
          <p:nvPr/>
        </p:nvSpPr>
        <p:spPr>
          <a:xfrm>
            <a:off x="515090" y="4467950"/>
            <a:ext cx="5113450" cy="1590525"/>
          </a:xfrm>
          <a:prstGeom prst="rect">
            <a:avLst/>
          </a:prstGeom>
          <a:noFill/>
          <a:ln w="6350">
            <a:noFill/>
          </a:ln>
        </p:spPr>
        <p:txBody>
          <a:bodyPr wrap="square" lIns="66675" tIns="0" rIns="0" bIns="0" rtlCol="0" anchor="t"/>
          <a:lstStyle/>
          <a:p>
            <a:pPr>
              <a:lnSpc>
                <a:spcPts val="1575"/>
              </a:lnSpc>
              <a:spcBef>
                <a:spcPts val="300"/>
              </a:spcBef>
              <a:spcAft>
                <a:spcPts val="360"/>
              </a:spcAft>
            </a:pPr>
            <a:r>
              <a:rPr lang="en-US" sz="1400" b="1">
                <a:solidFill>
                  <a:srgbClr val="1E3A8A"/>
                </a:solidFill>
                <a:cs typeface="Arial"/>
              </a:rPr>
              <a:t>Model Training</a:t>
            </a:r>
            <a:endParaRPr lang="en-US" sz="1300">
              <a:solidFill>
                <a:srgbClr val="000000"/>
              </a:solidFill>
              <a:cs typeface="Arial"/>
            </a:endParaRPr>
          </a:p>
          <a:p>
            <a:pPr>
              <a:lnSpc>
                <a:spcPts val="1575"/>
              </a:lnSpc>
              <a:spcBef>
                <a:spcPts val="300"/>
              </a:spcBef>
              <a:spcAft>
                <a:spcPts val="360"/>
              </a:spcAft>
            </a:pPr>
            <a:r>
              <a:rPr lang="en-US" sz="1300">
                <a:cs typeface="Arial"/>
              </a:rPr>
              <a:t>7</a:t>
            </a:r>
            <a:r>
              <a:rPr lang="en-US" sz="1300">
                <a:ea typeface="+mn-lt"/>
                <a:cs typeface="+mn-lt"/>
              </a:rPr>
              <a:t> Models Trained using:</a:t>
            </a:r>
          </a:p>
          <a:p>
            <a:pPr marL="285750" indent="-285750">
              <a:lnSpc>
                <a:spcPts val="1470"/>
              </a:lnSpc>
              <a:spcBef>
                <a:spcPts val="300"/>
              </a:spcBef>
              <a:spcAft>
                <a:spcPts val="300"/>
              </a:spcAft>
              <a:buFont typeface="Arial"/>
              <a:buChar char="•"/>
            </a:pPr>
            <a:r>
              <a:rPr lang="en-US" sz="1300">
                <a:ea typeface="+mn-lt"/>
                <a:cs typeface="+mn-lt"/>
              </a:rPr>
              <a:t>Kepler (795 samples)</a:t>
            </a:r>
          </a:p>
          <a:p>
            <a:pPr marL="285750" indent="-285750">
              <a:lnSpc>
                <a:spcPts val="1470"/>
              </a:lnSpc>
              <a:spcBef>
                <a:spcPts val="300"/>
              </a:spcBef>
              <a:spcAft>
                <a:spcPts val="300"/>
              </a:spcAft>
              <a:buFont typeface="Arial"/>
              <a:buChar char="•"/>
            </a:pPr>
            <a:r>
              <a:rPr lang="en-US" sz="1300">
                <a:ea typeface="+mn-lt"/>
                <a:cs typeface="+mn-lt"/>
              </a:rPr>
              <a:t>TESS (1105 samples)</a:t>
            </a:r>
          </a:p>
          <a:p>
            <a:pPr marL="285750" indent="-285750">
              <a:lnSpc>
                <a:spcPts val="1470"/>
              </a:lnSpc>
              <a:spcBef>
                <a:spcPts val="300"/>
              </a:spcBef>
              <a:spcAft>
                <a:spcPts val="300"/>
              </a:spcAft>
              <a:buFont typeface="Arial"/>
              <a:buChar char="•"/>
            </a:pPr>
            <a:r>
              <a:rPr lang="en-US" sz="1300">
                <a:ea typeface="+mn-lt"/>
                <a:cs typeface="+mn-lt"/>
              </a:rPr>
              <a:t>Lilith (3000 Samples)</a:t>
            </a:r>
            <a:endParaRPr lang="en-US">
              <a:cs typeface="Arial"/>
            </a:endParaRPr>
          </a:p>
        </p:txBody>
      </p:sp>
      <p:pic>
        <p:nvPicPr>
          <p:cNvPr id="7" name="Picture 6">
            <a:extLst>
              <a:ext uri="{FF2B5EF4-FFF2-40B4-BE49-F238E27FC236}">
                <a16:creationId xmlns:a16="http://schemas.microsoft.com/office/drawing/2014/main" id="{ACE5CD2C-8DC0-3517-4AA1-3823F3FA1C3A}"/>
              </a:ext>
            </a:extLst>
          </p:cNvPr>
          <p:cNvPicPr>
            <a:picLocks noChangeAspect="1"/>
          </p:cNvPicPr>
          <p:nvPr/>
        </p:nvPicPr>
        <p:blipFill>
          <a:blip r:embed="rId2"/>
          <a:stretch>
            <a:fillRect/>
          </a:stretch>
        </p:blipFill>
        <p:spPr>
          <a:xfrm>
            <a:off x="6647832" y="1028095"/>
            <a:ext cx="2020503" cy="5030639"/>
          </a:xfrm>
          <a:prstGeom prst="rect">
            <a:avLst/>
          </a:prstGeom>
        </p:spPr>
      </p:pic>
    </p:spTree>
    <p:extLst>
      <p:ext uri="{BB962C8B-B14F-4D97-AF65-F5344CB8AC3E}">
        <p14:creationId xmlns:p14="http://schemas.microsoft.com/office/powerpoint/2010/main" val="42168317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205DC-225B-CF5A-423A-0BB0AB0F3E0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FAA0CD2-6441-7DF6-8AF0-81372B118D4E}"/>
              </a:ext>
            </a:extLst>
          </p:cNvPr>
          <p:cNvSpPr>
            <a:spLocks noGrp="1"/>
          </p:cNvSpPr>
          <p:nvPr>
            <p:ph type="title"/>
          </p:nvPr>
        </p:nvSpPr>
        <p:spPr>
          <a:xfrm>
            <a:off x="457200" y="274638"/>
            <a:ext cx="8223372" cy="546984"/>
          </a:xfrm>
        </p:spPr>
        <p:txBody>
          <a:bodyPr anchor="ctr">
            <a:normAutofit fontScale="90000"/>
          </a:bodyPr>
          <a:lstStyle/>
          <a:p>
            <a:r>
              <a:rPr lang="en-US" sz="3000">
                <a:solidFill>
                  <a:srgbClr val="000000"/>
                </a:solidFill>
                <a:ea typeface="+mj-lt"/>
                <a:cs typeface="+mj-lt"/>
              </a:rPr>
              <a:t>Results</a:t>
            </a:r>
            <a:endParaRPr lang="en-US" sz="3000">
              <a:ea typeface="+mj-lt"/>
              <a:cs typeface="+mj-lt"/>
            </a:endParaRPr>
          </a:p>
        </p:txBody>
      </p:sp>
      <p:pic>
        <p:nvPicPr>
          <p:cNvPr id="2" name="Picture 1" descr="A blue squares with numbers and a number on them&#10;&#10;AI-generated content may be incorrect.">
            <a:extLst>
              <a:ext uri="{FF2B5EF4-FFF2-40B4-BE49-F238E27FC236}">
                <a16:creationId xmlns:a16="http://schemas.microsoft.com/office/drawing/2014/main" id="{9D148A3C-D4BF-094F-7F3F-A1E126B9CCED}"/>
              </a:ext>
            </a:extLst>
          </p:cNvPr>
          <p:cNvPicPr>
            <a:picLocks noChangeAspect="1"/>
          </p:cNvPicPr>
          <p:nvPr/>
        </p:nvPicPr>
        <p:blipFill>
          <a:blip r:embed="rId2"/>
          <a:stretch>
            <a:fillRect/>
          </a:stretch>
        </p:blipFill>
        <p:spPr>
          <a:xfrm>
            <a:off x="4157156" y="4142205"/>
            <a:ext cx="2312163" cy="1962100"/>
          </a:xfrm>
          <a:prstGeom prst="rect">
            <a:avLst/>
          </a:prstGeom>
        </p:spPr>
      </p:pic>
      <p:pic>
        <p:nvPicPr>
          <p:cNvPr id="3" name="Picture 2" descr="A blue squares with numbers and lines&#10;&#10;AI-generated content may be incorrect.">
            <a:extLst>
              <a:ext uri="{FF2B5EF4-FFF2-40B4-BE49-F238E27FC236}">
                <a16:creationId xmlns:a16="http://schemas.microsoft.com/office/drawing/2014/main" id="{77C40931-5853-3000-F1D0-77C55AD3E330}"/>
              </a:ext>
            </a:extLst>
          </p:cNvPr>
          <p:cNvPicPr>
            <a:picLocks noChangeAspect="1"/>
          </p:cNvPicPr>
          <p:nvPr/>
        </p:nvPicPr>
        <p:blipFill>
          <a:blip r:embed="rId3"/>
          <a:stretch>
            <a:fillRect/>
          </a:stretch>
        </p:blipFill>
        <p:spPr>
          <a:xfrm>
            <a:off x="6474300" y="4142206"/>
            <a:ext cx="2386910" cy="1962100"/>
          </a:xfrm>
          <a:prstGeom prst="rect">
            <a:avLst/>
          </a:prstGeom>
        </p:spPr>
      </p:pic>
      <p:sp>
        <p:nvSpPr>
          <p:cNvPr id="5" name="Text 9">
            <a:extLst>
              <a:ext uri="{FF2B5EF4-FFF2-40B4-BE49-F238E27FC236}">
                <a16:creationId xmlns:a16="http://schemas.microsoft.com/office/drawing/2014/main" id="{62253938-D352-5270-8BEE-9B358D383CCC}"/>
              </a:ext>
            </a:extLst>
          </p:cNvPr>
          <p:cNvSpPr/>
          <p:nvPr/>
        </p:nvSpPr>
        <p:spPr>
          <a:xfrm>
            <a:off x="462112" y="936562"/>
            <a:ext cx="3292321" cy="775355"/>
          </a:xfrm>
          <a:prstGeom prst="rect">
            <a:avLst/>
          </a:prstGeom>
          <a:noFill/>
          <a:ln w="6350">
            <a:noFill/>
          </a:ln>
        </p:spPr>
        <p:txBody>
          <a:bodyPr wrap="square" lIns="66675" tIns="0" rIns="0" bIns="0" rtlCol="0" anchor="t"/>
          <a:lstStyle/>
          <a:p>
            <a:pPr>
              <a:lnSpc>
                <a:spcPts val="1575"/>
              </a:lnSpc>
              <a:spcBef>
                <a:spcPts val="300"/>
              </a:spcBef>
              <a:spcAft>
                <a:spcPts val="360"/>
              </a:spcAft>
            </a:pPr>
            <a:r>
              <a:rPr lang="en-US" sz="1400" b="1">
                <a:solidFill>
                  <a:srgbClr val="1E3A8A"/>
                </a:solidFill>
                <a:latin typeface="Arial"/>
                <a:ea typeface="+mn-lt"/>
                <a:cs typeface="Arial"/>
              </a:rPr>
              <a:t>TESS Training</a:t>
            </a:r>
            <a:endParaRPr lang="en-US" sz="1400">
              <a:solidFill>
                <a:srgbClr val="1E293B"/>
              </a:solidFill>
              <a:latin typeface="Arial" pitchFamily="34" charset="-122"/>
              <a:ea typeface="Arial" pitchFamily="34" charset="-122"/>
              <a:cs typeface="Arial"/>
            </a:endParaRPr>
          </a:p>
          <a:p>
            <a:pPr marL="285750" indent="-285750">
              <a:lnSpc>
                <a:spcPts val="2100"/>
              </a:lnSpc>
              <a:buSzPct val="100000"/>
              <a:buFont typeface="Arial"/>
              <a:buChar char="•"/>
            </a:pPr>
            <a:r>
              <a:rPr lang="en-US" sz="1400">
                <a:cs typeface="Arial"/>
              </a:rPr>
              <a:t>Tested on 165 samples</a:t>
            </a:r>
          </a:p>
        </p:txBody>
      </p:sp>
      <p:sp>
        <p:nvSpPr>
          <p:cNvPr id="9" name="Text 9">
            <a:extLst>
              <a:ext uri="{FF2B5EF4-FFF2-40B4-BE49-F238E27FC236}">
                <a16:creationId xmlns:a16="http://schemas.microsoft.com/office/drawing/2014/main" id="{58F6C052-FE6E-C74E-B50A-6D59620DC3FD}"/>
              </a:ext>
            </a:extLst>
          </p:cNvPr>
          <p:cNvSpPr/>
          <p:nvPr/>
        </p:nvSpPr>
        <p:spPr>
          <a:xfrm>
            <a:off x="4573174" y="936562"/>
            <a:ext cx="3908980" cy="775355"/>
          </a:xfrm>
          <a:prstGeom prst="rect">
            <a:avLst/>
          </a:prstGeom>
          <a:noFill/>
          <a:ln w="6350">
            <a:noFill/>
          </a:ln>
        </p:spPr>
        <p:txBody>
          <a:bodyPr wrap="square" lIns="66675" tIns="0" rIns="0" bIns="0" rtlCol="0" anchor="t"/>
          <a:lstStyle/>
          <a:p>
            <a:pPr>
              <a:lnSpc>
                <a:spcPts val="1575"/>
              </a:lnSpc>
              <a:spcBef>
                <a:spcPts val="300"/>
              </a:spcBef>
              <a:spcAft>
                <a:spcPts val="360"/>
              </a:spcAft>
            </a:pPr>
            <a:r>
              <a:rPr lang="en-US" sz="1400" b="1">
                <a:solidFill>
                  <a:srgbClr val="1E3A8A"/>
                </a:solidFill>
                <a:latin typeface="Arial"/>
                <a:ea typeface="+mn-lt"/>
                <a:cs typeface="Arial"/>
              </a:rPr>
              <a:t>TESS Testing</a:t>
            </a:r>
            <a:endParaRPr lang="en-US" sz="1400">
              <a:solidFill>
                <a:srgbClr val="1E293B"/>
              </a:solidFill>
              <a:latin typeface="Arial" pitchFamily="34" charset="-122"/>
              <a:ea typeface="Arial" pitchFamily="34" charset="-122"/>
              <a:cs typeface="Arial"/>
            </a:endParaRPr>
          </a:p>
          <a:p>
            <a:pPr marL="285750" indent="-285750">
              <a:lnSpc>
                <a:spcPts val="2100"/>
              </a:lnSpc>
              <a:buSzPct val="100000"/>
              <a:buFont typeface="Arial"/>
              <a:buChar char="•"/>
            </a:pPr>
            <a:r>
              <a:rPr lang="en-US" sz="1400">
                <a:cs typeface="Arial"/>
              </a:rPr>
              <a:t>Tested on 795 Kepler Samples</a:t>
            </a:r>
          </a:p>
          <a:p>
            <a:pPr marL="285750" indent="-285750">
              <a:lnSpc>
                <a:spcPts val="2100"/>
              </a:lnSpc>
              <a:buSzPct val="100000"/>
              <a:buFont typeface="Arial"/>
              <a:buChar char="•"/>
            </a:pPr>
            <a:r>
              <a:rPr lang="en-US" sz="1400">
                <a:cs typeface="Arial"/>
              </a:rPr>
              <a:t>Tested on 2821 Lilith Samples</a:t>
            </a:r>
          </a:p>
          <a:p>
            <a:pPr marL="285750" indent="-285750">
              <a:lnSpc>
                <a:spcPts val="2100"/>
              </a:lnSpc>
              <a:buSzPct val="100000"/>
              <a:buFont typeface="Arial"/>
              <a:buChar char="•"/>
            </a:pPr>
            <a:endParaRPr lang="en-US" sz="1400">
              <a:cs typeface="Arial"/>
            </a:endParaRPr>
          </a:p>
        </p:txBody>
      </p:sp>
      <p:pic>
        <p:nvPicPr>
          <p:cNvPr id="12" name="Picture 11">
            <a:extLst>
              <a:ext uri="{FF2B5EF4-FFF2-40B4-BE49-F238E27FC236}">
                <a16:creationId xmlns:a16="http://schemas.microsoft.com/office/drawing/2014/main" id="{260211AA-A690-7612-8220-51A718A42537}"/>
              </a:ext>
            </a:extLst>
          </p:cNvPr>
          <p:cNvPicPr>
            <a:picLocks noChangeAspect="1"/>
          </p:cNvPicPr>
          <p:nvPr/>
        </p:nvPicPr>
        <p:blipFill>
          <a:blip r:embed="rId4"/>
          <a:stretch>
            <a:fillRect/>
          </a:stretch>
        </p:blipFill>
        <p:spPr>
          <a:xfrm>
            <a:off x="454708" y="1857245"/>
            <a:ext cx="3288852" cy="2159348"/>
          </a:xfrm>
          <a:prstGeom prst="rect">
            <a:avLst/>
          </a:prstGeom>
        </p:spPr>
      </p:pic>
      <p:pic>
        <p:nvPicPr>
          <p:cNvPr id="13" name="Picture 12">
            <a:extLst>
              <a:ext uri="{FF2B5EF4-FFF2-40B4-BE49-F238E27FC236}">
                <a16:creationId xmlns:a16="http://schemas.microsoft.com/office/drawing/2014/main" id="{BC7338AB-D4A5-DB9B-E254-F67487609D69}"/>
              </a:ext>
            </a:extLst>
          </p:cNvPr>
          <p:cNvPicPr>
            <a:picLocks noChangeAspect="1"/>
          </p:cNvPicPr>
          <p:nvPr/>
        </p:nvPicPr>
        <p:blipFill>
          <a:blip r:embed="rId5"/>
          <a:stretch>
            <a:fillRect/>
          </a:stretch>
        </p:blipFill>
        <p:spPr>
          <a:xfrm>
            <a:off x="4572000" y="1856652"/>
            <a:ext cx="3718644" cy="2160534"/>
          </a:xfrm>
          <a:prstGeom prst="rect">
            <a:avLst/>
          </a:prstGeom>
        </p:spPr>
      </p:pic>
    </p:spTree>
    <p:extLst>
      <p:ext uri="{BB962C8B-B14F-4D97-AF65-F5344CB8AC3E}">
        <p14:creationId xmlns:p14="http://schemas.microsoft.com/office/powerpoint/2010/main" val="24038361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105B1-9F5B-36C9-60DA-724C0AA4E75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40CAEA1-8819-4CE8-CAEA-4FDF20FCF668}"/>
              </a:ext>
            </a:extLst>
          </p:cNvPr>
          <p:cNvSpPr>
            <a:spLocks noGrp="1"/>
          </p:cNvSpPr>
          <p:nvPr>
            <p:ph type="title"/>
          </p:nvPr>
        </p:nvSpPr>
        <p:spPr>
          <a:xfrm>
            <a:off x="457200" y="274638"/>
            <a:ext cx="8223372" cy="546984"/>
          </a:xfrm>
        </p:spPr>
        <p:txBody>
          <a:bodyPr anchor="ctr">
            <a:normAutofit fontScale="90000"/>
          </a:bodyPr>
          <a:lstStyle/>
          <a:p>
            <a:r>
              <a:rPr lang="en-US" sz="3000">
                <a:solidFill>
                  <a:srgbClr val="000000"/>
                </a:solidFill>
                <a:ea typeface="+mj-lt"/>
                <a:cs typeface="+mj-lt"/>
              </a:rPr>
              <a:t>Demo</a:t>
            </a:r>
            <a:endParaRPr lang="en-US" sz="3000">
              <a:ea typeface="+mj-lt"/>
              <a:cs typeface="+mj-lt"/>
            </a:endParaRPr>
          </a:p>
        </p:txBody>
      </p:sp>
      <p:pic>
        <p:nvPicPr>
          <p:cNvPr id="2" name="Untitled">
            <a:hlinkClick r:id="" action="ppaction://media"/>
            <a:extLst>
              <a:ext uri="{FF2B5EF4-FFF2-40B4-BE49-F238E27FC236}">
                <a16:creationId xmlns:a16="http://schemas.microsoft.com/office/drawing/2014/main" id="{901A562D-6DED-D9F4-A1F1-D6A2EA68244C}"/>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914400" y="1133475"/>
            <a:ext cx="7315200" cy="4591050"/>
          </a:xfrm>
          <a:prstGeom prst="rect">
            <a:avLst/>
          </a:prstGeom>
        </p:spPr>
      </p:pic>
    </p:spTree>
    <p:extLst>
      <p:ext uri="{BB962C8B-B14F-4D97-AF65-F5344CB8AC3E}">
        <p14:creationId xmlns:p14="http://schemas.microsoft.com/office/powerpoint/2010/main" val="2821013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2A2AF-67FA-90A0-087A-0F52A7A136CD}"/>
              </a:ext>
            </a:extLst>
          </p:cNvPr>
          <p:cNvSpPr>
            <a:spLocks noGrp="1"/>
          </p:cNvSpPr>
          <p:nvPr>
            <p:ph type="title"/>
          </p:nvPr>
        </p:nvSpPr>
        <p:spPr/>
        <p:txBody>
          <a:bodyPr/>
          <a:lstStyle/>
          <a:p>
            <a:r>
              <a:rPr lang="en-US">
                <a:cs typeface="Arial"/>
              </a:rPr>
              <a:t>Transformers</a:t>
            </a:r>
            <a:endParaRPr lang="en-US"/>
          </a:p>
        </p:txBody>
      </p:sp>
      <p:sp>
        <p:nvSpPr>
          <p:cNvPr id="3" name="Content Placeholder 2">
            <a:extLst>
              <a:ext uri="{FF2B5EF4-FFF2-40B4-BE49-F238E27FC236}">
                <a16:creationId xmlns:a16="http://schemas.microsoft.com/office/drawing/2014/main" id="{92896A93-F8E6-4624-B26F-47D4B92D70BF}"/>
              </a:ext>
            </a:extLst>
          </p:cNvPr>
          <p:cNvSpPr>
            <a:spLocks noGrp="1"/>
          </p:cNvSpPr>
          <p:nvPr>
            <p:ph sz="half" idx="1"/>
          </p:nvPr>
        </p:nvSpPr>
        <p:spPr>
          <a:xfrm>
            <a:off x="457200" y="1600200"/>
            <a:ext cx="8222609" cy="4525963"/>
          </a:xfrm>
        </p:spPr>
        <p:txBody>
          <a:bodyPr vert="horz" lIns="91440" tIns="45720" rIns="91440" bIns="45720" rtlCol="0" anchor="t">
            <a:normAutofit/>
          </a:bodyPr>
          <a:lstStyle/>
          <a:p>
            <a:pPr marL="0" indent="0">
              <a:buNone/>
            </a:pPr>
            <a:r>
              <a:rPr lang="en-US" dirty="0"/>
              <a:t>New research papers</a:t>
            </a:r>
          </a:p>
          <a:p>
            <a:pPr marL="0" indent="0">
              <a:buNone/>
            </a:pPr>
            <a:endParaRPr lang="en-US"/>
          </a:p>
          <a:p>
            <a:r>
              <a:rPr lang="en-US" sz="1800" dirty="0">
                <a:latin typeface="Arial"/>
                <a:ea typeface="Calibri"/>
              </a:rPr>
              <a:t>H. Wang, S. Ma, L. Ma, L. Wang, W. Wang, L. Dong, S. Huang, H. Wang, J. Xue, R. Wang, Y. Wu, and F. Wei, "</a:t>
            </a:r>
            <a:r>
              <a:rPr lang="en-US" sz="1800" dirty="0" err="1">
                <a:latin typeface="Arial"/>
                <a:ea typeface="Calibri"/>
              </a:rPr>
              <a:t>BitNet</a:t>
            </a:r>
            <a:r>
              <a:rPr lang="en-US" sz="1800" dirty="0">
                <a:latin typeface="Arial"/>
                <a:ea typeface="Calibri"/>
              </a:rPr>
              <a:t>: 1-bit pre-training for large language models," </a:t>
            </a:r>
            <a:r>
              <a:rPr lang="en-US" sz="1800" i="1" dirty="0">
                <a:latin typeface="Arial"/>
                <a:ea typeface="Calibri"/>
                <a:cs typeface="Arial"/>
              </a:rPr>
              <a:t>Journal of Machine Learning Research (JMLR)</a:t>
            </a:r>
            <a:r>
              <a:rPr lang="en-US" sz="1800" dirty="0">
                <a:latin typeface="Arial"/>
                <a:ea typeface="Calibri"/>
                <a:cs typeface="Arial"/>
              </a:rPr>
              <a:t>,</a:t>
            </a:r>
            <a:r>
              <a:rPr lang="en-US" sz="1800" dirty="0">
                <a:latin typeface="Arial"/>
                <a:ea typeface="Calibri"/>
              </a:rPr>
              <a:t> vol. 26, no. 125, pp. 1–29, Jun. 2025.</a:t>
            </a:r>
          </a:p>
          <a:p>
            <a:r>
              <a:rPr lang="en-US" sz="1800" dirty="0">
                <a:latin typeface="Arial"/>
                <a:ea typeface="Calibri"/>
              </a:rPr>
              <a:t>R. Mahmood, J. Lucas, J. M. Alvarez, S. Fidler, and M. T. Law, "Optimizing data collection for machine learning," </a:t>
            </a:r>
            <a:r>
              <a:rPr lang="en-US" sz="1800" i="1" dirty="0">
                <a:latin typeface="Arial"/>
                <a:ea typeface="Calibri"/>
              </a:rPr>
              <a:t>Journal of Machine Learning Research (JMLR)</a:t>
            </a:r>
            <a:r>
              <a:rPr lang="en-US" sz="1800" dirty="0">
                <a:latin typeface="Arial"/>
                <a:ea typeface="Calibri"/>
              </a:rPr>
              <a:t>, vol. 26, no. 38, pp. 1–52, Mar. 2025.</a:t>
            </a:r>
          </a:p>
          <a:p>
            <a:r>
              <a:rPr lang="en-US" sz="1800" dirty="0">
                <a:latin typeface="Arial"/>
                <a:ea typeface="Calibri"/>
                <a:cs typeface="Arial"/>
              </a:rPr>
              <a:t>S. Liu, H. Yu, C. Liao, J. Li, W. Lin, A. X. Liu, and S. </a:t>
            </a:r>
            <a:r>
              <a:rPr lang="en-US" sz="1800" dirty="0" err="1">
                <a:latin typeface="Arial"/>
                <a:ea typeface="Calibri"/>
                <a:cs typeface="Arial"/>
              </a:rPr>
              <a:t>Dustdar</a:t>
            </a:r>
            <a:r>
              <a:rPr lang="en-US" sz="1800" dirty="0">
                <a:latin typeface="Arial"/>
                <a:ea typeface="Calibri"/>
                <a:cs typeface="Arial"/>
              </a:rPr>
              <a:t>, "</a:t>
            </a:r>
            <a:r>
              <a:rPr lang="en-US" sz="1800" dirty="0" err="1">
                <a:latin typeface="Arial"/>
                <a:ea typeface="Calibri"/>
                <a:cs typeface="Arial"/>
              </a:rPr>
              <a:t>Pyraformer</a:t>
            </a:r>
            <a:r>
              <a:rPr lang="en-US" sz="1800" dirty="0">
                <a:latin typeface="Arial"/>
                <a:ea typeface="Calibri"/>
                <a:cs typeface="Arial"/>
              </a:rPr>
              <a:t>: Low-Complexity Pyramidal Attention for Long-Range Time Series Modeling and Forecasting," </a:t>
            </a:r>
            <a:r>
              <a:rPr lang="en-US" sz="1800" i="1" dirty="0">
                <a:latin typeface="Arial"/>
                <a:ea typeface="Calibri"/>
                <a:cs typeface="Arial"/>
              </a:rPr>
              <a:t>International Conference of Learning Representations. (ICLR)</a:t>
            </a:r>
            <a:r>
              <a:rPr lang="en-US" sz="1800" dirty="0">
                <a:latin typeface="Arial"/>
                <a:ea typeface="Calibri"/>
                <a:cs typeface="Arial"/>
              </a:rPr>
              <a:t>, 2022. </a:t>
            </a:r>
            <a:endParaRPr lang="en-US" sz="1800" dirty="0">
              <a:latin typeface="Arial"/>
              <a:ea typeface="Calibri"/>
            </a:endParaRPr>
          </a:p>
          <a:p>
            <a:endParaRPr lang="en-US" sz="1800" dirty="0">
              <a:latin typeface="Arial"/>
              <a:ea typeface="Calibri"/>
            </a:endParaRPr>
          </a:p>
        </p:txBody>
      </p:sp>
    </p:spTree>
    <p:extLst>
      <p:ext uri="{BB962C8B-B14F-4D97-AF65-F5344CB8AC3E}">
        <p14:creationId xmlns:p14="http://schemas.microsoft.com/office/powerpoint/2010/main" val="15528101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2158E-9E39-455F-6C58-08D154B65E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E371DD-94FE-CB53-84C3-6386825110FD}"/>
              </a:ext>
            </a:extLst>
          </p:cNvPr>
          <p:cNvSpPr>
            <a:spLocks noGrp="1"/>
          </p:cNvSpPr>
          <p:nvPr>
            <p:ph type="title"/>
          </p:nvPr>
        </p:nvSpPr>
        <p:spPr>
          <a:xfrm>
            <a:off x="457200" y="274638"/>
            <a:ext cx="8312351" cy="1143000"/>
          </a:xfrm>
        </p:spPr>
        <p:txBody>
          <a:bodyPr vert="horz" lIns="91440" tIns="45720" rIns="91440" bIns="45720" rtlCol="0" anchor="ctr">
            <a:noAutofit/>
          </a:bodyPr>
          <a:lstStyle/>
          <a:p>
            <a:r>
              <a:rPr lang="en-US" sz="2400" err="1">
                <a:cs typeface="Arial"/>
              </a:rPr>
              <a:t>Pyraformer</a:t>
            </a:r>
            <a:r>
              <a:rPr lang="en-US" sz="2400" dirty="0">
                <a:cs typeface="Arial"/>
              </a:rPr>
              <a:t>: Low-Complexity Pyramidal Attention for Long-Range Time Series Modeling and Forecasting</a:t>
            </a:r>
            <a:endParaRPr lang="en-US" sz="2400">
              <a:cs typeface="Arial"/>
            </a:endParaRPr>
          </a:p>
        </p:txBody>
      </p:sp>
      <p:sp>
        <p:nvSpPr>
          <p:cNvPr id="3" name="Content Placeholder 2">
            <a:extLst>
              <a:ext uri="{FF2B5EF4-FFF2-40B4-BE49-F238E27FC236}">
                <a16:creationId xmlns:a16="http://schemas.microsoft.com/office/drawing/2014/main" id="{73F0A0BA-E614-1C2F-16E8-8F9634956461}"/>
              </a:ext>
            </a:extLst>
          </p:cNvPr>
          <p:cNvSpPr>
            <a:spLocks noGrp="1"/>
          </p:cNvSpPr>
          <p:nvPr>
            <p:ph sz="half" idx="1"/>
          </p:nvPr>
        </p:nvSpPr>
        <p:spPr>
          <a:xfrm>
            <a:off x="457200" y="2942438"/>
            <a:ext cx="8222609" cy="2627954"/>
          </a:xfrm>
        </p:spPr>
        <p:txBody>
          <a:bodyPr vert="horz" lIns="91440" tIns="45720" rIns="91440" bIns="45720" rtlCol="0" anchor="t">
            <a:normAutofit/>
          </a:bodyPr>
          <a:lstStyle/>
          <a:p>
            <a:pPr marL="0" indent="0">
              <a:buNone/>
            </a:pPr>
            <a:r>
              <a:rPr lang="en-US" sz="1500" dirty="0"/>
              <a:t>Method: </a:t>
            </a:r>
          </a:p>
          <a:p>
            <a:r>
              <a:rPr lang="en-US" sz="1500" dirty="0">
                <a:latin typeface="Arial"/>
              </a:rPr>
              <a:t>The model uses a Coarser-Scale Construction Module (CSCM) to build a multi-resolution C-</a:t>
            </a:r>
            <a:r>
              <a:rPr lang="en-US" sz="1500" dirty="0" err="1">
                <a:latin typeface="Arial"/>
              </a:rPr>
              <a:t>ary</a:t>
            </a:r>
            <a:r>
              <a:rPr lang="en-US" sz="1500" dirty="0">
                <a:latin typeface="Arial"/>
              </a:rPr>
              <a:t> tree structure of the input sequence and employs the Pyramidal Attention Module (PAM) to pass messages using attention across both inter-scale tree connections and intra-scale neighboring connections</a:t>
            </a:r>
          </a:p>
          <a:p>
            <a:endParaRPr lang="en-US" sz="1500">
              <a:latin typeface="Arial"/>
            </a:endParaRPr>
          </a:p>
          <a:p>
            <a:pPr marL="0" indent="0">
              <a:buNone/>
            </a:pPr>
            <a:r>
              <a:rPr lang="en-US" sz="1500" dirty="0"/>
              <a:t>Results:</a:t>
            </a:r>
          </a:p>
          <a:p>
            <a:pPr>
              <a:spcBef>
                <a:spcPts val="20"/>
              </a:spcBef>
            </a:pPr>
            <a:r>
              <a:rPr lang="en-US" sz="1500" dirty="0">
                <a:latin typeface="Arial"/>
              </a:rPr>
              <a:t>Outperforms the state-of-the-art models for both single-step and long-range multi-step pre-</a:t>
            </a:r>
            <a:r>
              <a:rPr lang="en-US" sz="1500" dirty="0">
                <a:latin typeface="Arial"/>
                <a:cs typeface="Arial"/>
              </a:rPr>
              <a:t>diction tasks, but with less computational time and memory cost, with 3-9% lower error</a:t>
            </a:r>
            <a:endParaRPr lang="en-US" dirty="0"/>
          </a:p>
        </p:txBody>
      </p:sp>
      <p:sp>
        <p:nvSpPr>
          <p:cNvPr id="4" name="Content Placeholder 3">
            <a:extLst>
              <a:ext uri="{FF2B5EF4-FFF2-40B4-BE49-F238E27FC236}">
                <a16:creationId xmlns:a16="http://schemas.microsoft.com/office/drawing/2014/main" id="{4F87D1CD-4093-C1EB-86BD-525A6F25F716}"/>
              </a:ext>
            </a:extLst>
          </p:cNvPr>
          <p:cNvSpPr>
            <a:spLocks noGrp="1"/>
          </p:cNvSpPr>
          <p:nvPr>
            <p:ph sz="half" idx="2"/>
          </p:nvPr>
        </p:nvSpPr>
        <p:spPr>
          <a:xfrm>
            <a:off x="453706" y="5710804"/>
            <a:ext cx="8494005" cy="415359"/>
          </a:xfrm>
        </p:spPr>
        <p:txBody>
          <a:bodyPr vert="horz" lIns="91440" tIns="45720" rIns="91440" bIns="45720" rtlCol="0" anchor="t">
            <a:noAutofit/>
          </a:bodyPr>
          <a:lstStyle/>
          <a:p>
            <a:pPr marL="0" indent="0">
              <a:buNone/>
            </a:pPr>
            <a:r>
              <a:rPr lang="en-US" sz="1200" dirty="0">
                <a:latin typeface="Arial"/>
                <a:cs typeface="Arial"/>
              </a:rPr>
              <a:t>S. Liu, H. Yu, C. Liao, J. Li, W. Lin, A. X. Liu, and S. </a:t>
            </a:r>
            <a:r>
              <a:rPr lang="en-US" sz="1200" dirty="0" err="1">
                <a:latin typeface="Arial"/>
                <a:cs typeface="Arial"/>
              </a:rPr>
              <a:t>Dustdar</a:t>
            </a:r>
            <a:r>
              <a:rPr lang="en-US" sz="1200" dirty="0">
                <a:latin typeface="Arial"/>
                <a:cs typeface="Arial"/>
              </a:rPr>
              <a:t>, "</a:t>
            </a:r>
            <a:r>
              <a:rPr lang="en-US" sz="1200" dirty="0" err="1">
                <a:latin typeface="Arial"/>
                <a:cs typeface="Arial"/>
              </a:rPr>
              <a:t>Pyraformer</a:t>
            </a:r>
            <a:r>
              <a:rPr lang="en-US" sz="1200" dirty="0">
                <a:latin typeface="Arial"/>
                <a:cs typeface="Arial"/>
              </a:rPr>
              <a:t>: Low-Complexity Pyramidal Attention for Long-Range Time Series Modeling and Forecasting," International Conference of Learning Representations. (ICLR), 2022. </a:t>
            </a:r>
            <a:endParaRPr lang="en-US" dirty="0"/>
          </a:p>
        </p:txBody>
      </p:sp>
      <p:sp>
        <p:nvSpPr>
          <p:cNvPr id="6" name="Text 4">
            <a:extLst>
              <a:ext uri="{FF2B5EF4-FFF2-40B4-BE49-F238E27FC236}">
                <a16:creationId xmlns:a16="http://schemas.microsoft.com/office/drawing/2014/main" id="{6D03FBBA-CA5C-7637-AB4A-E84FC23D705B}"/>
              </a:ext>
            </a:extLst>
          </p:cNvPr>
          <p:cNvSpPr/>
          <p:nvPr/>
        </p:nvSpPr>
        <p:spPr>
          <a:xfrm>
            <a:off x="339952" y="1710929"/>
            <a:ext cx="4234562" cy="1056016"/>
          </a:xfrm>
          <a:prstGeom prst="roundRect">
            <a:avLst>
              <a:gd name="adj" fmla="val 9831"/>
            </a:avLst>
          </a:prstGeom>
          <a:solidFill>
            <a:srgbClr val="F1F5F9"/>
          </a:solidFill>
          <a:ln/>
        </p:spPr>
        <p:txBody>
          <a:bodyPr wrap="square" lIns="91440" tIns="45720" rIns="91440" bIns="45720" rtlCol="0" anchor="ctr"/>
          <a:lstStyle/>
          <a:p>
            <a:pPr>
              <a:lnSpc>
                <a:spcPts val="1575"/>
              </a:lnSpc>
              <a:spcBef>
                <a:spcPts val="300"/>
              </a:spcBef>
              <a:spcAft>
                <a:spcPts val="300"/>
              </a:spcAft>
            </a:pPr>
            <a:endParaRPr lang="en-US" sz="1100" b="1">
              <a:solidFill>
                <a:srgbClr val="1E293B"/>
              </a:solidFill>
              <a:cs typeface="Arial"/>
            </a:endParaRPr>
          </a:p>
          <a:p>
            <a:pPr>
              <a:lnSpc>
                <a:spcPts val="1575"/>
              </a:lnSpc>
              <a:spcBef>
                <a:spcPts val="300"/>
              </a:spcBef>
              <a:spcAft>
                <a:spcPts val="300"/>
              </a:spcAft>
            </a:pPr>
            <a:r>
              <a:rPr lang="en-US" sz="1600" b="1" dirty="0">
                <a:solidFill>
                  <a:srgbClr val="1E293B"/>
                </a:solidFill>
                <a:cs typeface="Arial"/>
              </a:rPr>
              <a:t>Key Innovation</a:t>
            </a:r>
            <a:endParaRPr lang="en-US" sz="1600" dirty="0">
              <a:cs typeface="Arial"/>
            </a:endParaRPr>
          </a:p>
          <a:p>
            <a:pPr>
              <a:lnSpc>
                <a:spcPts val="1470"/>
              </a:lnSpc>
              <a:spcBef>
                <a:spcPts val="300"/>
              </a:spcBef>
              <a:spcAft>
                <a:spcPts val="300"/>
              </a:spcAft>
            </a:pPr>
            <a:r>
              <a:rPr lang="en-US" sz="1300" dirty="0">
                <a:solidFill>
                  <a:srgbClr val="475569"/>
                </a:solidFill>
                <a:ea typeface="+mn-lt"/>
                <a:cs typeface="+mn-lt"/>
              </a:rPr>
              <a:t>organizes the input sequence into a pyramidal graph </a:t>
            </a:r>
            <a:endParaRPr lang="en-US" dirty="0"/>
          </a:p>
          <a:p>
            <a:pPr marL="0" indent="0">
              <a:buNone/>
            </a:pPr>
            <a:endParaRPr lang="en-US" sz="1800">
              <a:cs typeface="Arial"/>
            </a:endParaRPr>
          </a:p>
        </p:txBody>
      </p:sp>
      <p:sp>
        <p:nvSpPr>
          <p:cNvPr id="8" name="Text 12">
            <a:extLst>
              <a:ext uri="{FF2B5EF4-FFF2-40B4-BE49-F238E27FC236}">
                <a16:creationId xmlns:a16="http://schemas.microsoft.com/office/drawing/2014/main" id="{FC7C01E0-72F3-70F8-AD5C-8DDEE6AE7CCA}"/>
              </a:ext>
            </a:extLst>
          </p:cNvPr>
          <p:cNvSpPr/>
          <p:nvPr/>
        </p:nvSpPr>
        <p:spPr>
          <a:xfrm>
            <a:off x="4696359" y="1709772"/>
            <a:ext cx="4068640" cy="1057755"/>
          </a:xfrm>
          <a:prstGeom prst="roundRect">
            <a:avLst>
              <a:gd name="adj" fmla="val 7505"/>
            </a:avLst>
          </a:prstGeom>
          <a:solidFill>
            <a:srgbClr val="0F172A"/>
          </a:solidFill>
          <a:ln/>
        </p:spPr>
        <p:txBody>
          <a:bodyPr wrap="square" lIns="91440" tIns="45720" rIns="91440" bIns="45720" rtlCol="0" anchor="ctr"/>
          <a:lstStyle/>
          <a:p>
            <a:endParaRPr lang="en-US" sz="1050" b="1">
              <a:solidFill>
                <a:srgbClr val="FFFFFF"/>
              </a:solidFill>
              <a:latin typeface="Arial"/>
            </a:endParaRPr>
          </a:p>
          <a:p>
            <a:r>
              <a:rPr lang="en-US" sz="1600" b="1" i="0" u="none" strike="noStrike" dirty="0">
                <a:solidFill>
                  <a:srgbClr val="FFFFFF"/>
                </a:solidFill>
                <a:latin typeface="Arial"/>
              </a:rPr>
              <a:t>Key Takeaway</a:t>
            </a:r>
            <a:r>
              <a:rPr lang="en-US" sz="1600" b="0" i="0" dirty="0">
                <a:latin typeface="Arial"/>
              </a:rPr>
              <a:t>​</a:t>
            </a:r>
            <a:endParaRPr lang="en-US" sz="1600" dirty="0">
              <a:cs typeface="Arial"/>
            </a:endParaRPr>
          </a:p>
          <a:p>
            <a:pPr>
              <a:lnSpc>
                <a:spcPts val="1463"/>
              </a:lnSpc>
              <a:spcBef>
                <a:spcPts val="300"/>
              </a:spcBef>
              <a:spcAft>
                <a:spcPts val="300"/>
              </a:spcAft>
            </a:pPr>
            <a:r>
              <a:rPr lang="en-US" sz="1300" dirty="0">
                <a:solidFill>
                  <a:srgbClr val="60A5FA"/>
                </a:solidFill>
                <a:ea typeface="+mn-lt"/>
                <a:cs typeface="+mn-lt"/>
              </a:rPr>
              <a:t>efficiently models both short-term details and long-range patterns </a:t>
            </a:r>
            <a:endParaRPr lang="en-US" dirty="0"/>
          </a:p>
          <a:p>
            <a:endParaRPr lang="en-US" sz="1050">
              <a:cs typeface="Arial"/>
            </a:endParaRPr>
          </a:p>
        </p:txBody>
      </p:sp>
    </p:spTree>
    <p:extLst>
      <p:ext uri="{BB962C8B-B14F-4D97-AF65-F5344CB8AC3E}">
        <p14:creationId xmlns:p14="http://schemas.microsoft.com/office/powerpoint/2010/main" val="2127949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C819D-B384-6BC9-6DE4-CDAF1FE59B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6A6BF4-0DB6-F4FD-B3AD-5FE9305666A9}"/>
              </a:ext>
            </a:extLst>
          </p:cNvPr>
          <p:cNvSpPr>
            <a:spLocks noGrp="1"/>
          </p:cNvSpPr>
          <p:nvPr>
            <p:ph type="title"/>
          </p:nvPr>
        </p:nvSpPr>
        <p:spPr>
          <a:xfrm>
            <a:off x="457200" y="274638"/>
            <a:ext cx="8312351" cy="1143000"/>
          </a:xfrm>
        </p:spPr>
        <p:txBody>
          <a:bodyPr vert="horz" lIns="91440" tIns="45720" rIns="91440" bIns="45720" rtlCol="0" anchor="ctr">
            <a:noAutofit/>
          </a:bodyPr>
          <a:lstStyle/>
          <a:p>
            <a:r>
              <a:rPr lang="en-US" sz="2800" dirty="0">
                <a:cs typeface="Arial"/>
              </a:rPr>
              <a:t>Optimizing data collection for machine learning</a:t>
            </a:r>
          </a:p>
        </p:txBody>
      </p:sp>
      <p:sp>
        <p:nvSpPr>
          <p:cNvPr id="3" name="Content Placeholder 2">
            <a:extLst>
              <a:ext uri="{FF2B5EF4-FFF2-40B4-BE49-F238E27FC236}">
                <a16:creationId xmlns:a16="http://schemas.microsoft.com/office/drawing/2014/main" id="{8B5DF50E-DCB9-824E-F9A6-C9C52E17367E}"/>
              </a:ext>
            </a:extLst>
          </p:cNvPr>
          <p:cNvSpPr>
            <a:spLocks noGrp="1"/>
          </p:cNvSpPr>
          <p:nvPr>
            <p:ph sz="half" idx="1"/>
          </p:nvPr>
        </p:nvSpPr>
        <p:spPr>
          <a:xfrm>
            <a:off x="457200" y="2942438"/>
            <a:ext cx="8222609" cy="2627954"/>
          </a:xfrm>
        </p:spPr>
        <p:txBody>
          <a:bodyPr vert="horz" lIns="91440" tIns="45720" rIns="91440" bIns="45720" rtlCol="0" anchor="t">
            <a:normAutofit/>
          </a:bodyPr>
          <a:lstStyle/>
          <a:p>
            <a:pPr marL="0" indent="0">
              <a:buNone/>
            </a:pPr>
            <a:r>
              <a:rPr lang="en-US" sz="1500" dirty="0"/>
              <a:t>Method: </a:t>
            </a:r>
          </a:p>
          <a:p>
            <a:r>
              <a:rPr lang="en-US" sz="1500" dirty="0">
                <a:latin typeface="Arial"/>
              </a:rPr>
              <a:t>The Learn-Optimize-Collect (LOC) framework treats data needs as a formal dynamic optimization problem over multiple collection rounds, instead of guessing a single number</a:t>
            </a:r>
          </a:p>
          <a:p>
            <a:endParaRPr lang="en-US" sz="1500">
              <a:latin typeface="Arial"/>
            </a:endParaRPr>
          </a:p>
          <a:p>
            <a:pPr marL="0" indent="0">
              <a:buNone/>
            </a:pPr>
            <a:r>
              <a:rPr lang="en-US" sz="1500" dirty="0"/>
              <a:t>Results:</a:t>
            </a:r>
          </a:p>
          <a:p>
            <a:r>
              <a:rPr lang="en-US" sz="1500" dirty="0">
                <a:latin typeface="Arial"/>
              </a:rPr>
              <a:t>LOC reduces the risk of under-collecting by 40% to 90% over the baseline</a:t>
            </a:r>
          </a:p>
          <a:p>
            <a:pPr marL="0" indent="0">
              <a:buNone/>
            </a:pPr>
            <a:endParaRPr lang="en-US" sz="1500" dirty="0">
              <a:latin typeface="Arial"/>
            </a:endParaRPr>
          </a:p>
        </p:txBody>
      </p:sp>
      <p:sp>
        <p:nvSpPr>
          <p:cNvPr id="4" name="Content Placeholder 3">
            <a:extLst>
              <a:ext uri="{FF2B5EF4-FFF2-40B4-BE49-F238E27FC236}">
                <a16:creationId xmlns:a16="http://schemas.microsoft.com/office/drawing/2014/main" id="{B8673C84-2F8F-4D03-FC02-4C06C27E77F5}"/>
              </a:ext>
            </a:extLst>
          </p:cNvPr>
          <p:cNvSpPr>
            <a:spLocks noGrp="1"/>
          </p:cNvSpPr>
          <p:nvPr>
            <p:ph sz="half" idx="2"/>
          </p:nvPr>
        </p:nvSpPr>
        <p:spPr>
          <a:xfrm>
            <a:off x="453706" y="5710804"/>
            <a:ext cx="8222608" cy="415359"/>
          </a:xfrm>
        </p:spPr>
        <p:txBody>
          <a:bodyPr vert="horz" lIns="91440" tIns="45720" rIns="91440" bIns="45720" rtlCol="0" anchor="t">
            <a:noAutofit/>
          </a:bodyPr>
          <a:lstStyle/>
          <a:p>
            <a:pPr marL="0" indent="0">
              <a:buNone/>
            </a:pPr>
            <a:r>
              <a:rPr lang="en-US" sz="1200" dirty="0">
                <a:latin typeface="Arial"/>
                <a:cs typeface="Arial"/>
              </a:rPr>
              <a:t>R. Mahmood, J. Lucas, J. M. Alvarez, S. Fidler, and M. T. Law, "Optimizing data collection for machine learning," Journal of Machine Learning Research (JMLR), vol. 26, no. 38, pp. 1–52, Mar. 2025.</a:t>
            </a:r>
            <a:endParaRPr lang="en-US" dirty="0"/>
          </a:p>
        </p:txBody>
      </p:sp>
      <p:sp>
        <p:nvSpPr>
          <p:cNvPr id="6" name="Text 4">
            <a:extLst>
              <a:ext uri="{FF2B5EF4-FFF2-40B4-BE49-F238E27FC236}">
                <a16:creationId xmlns:a16="http://schemas.microsoft.com/office/drawing/2014/main" id="{BDE7C257-E4A4-84EB-429A-F921246BD02E}"/>
              </a:ext>
            </a:extLst>
          </p:cNvPr>
          <p:cNvSpPr/>
          <p:nvPr/>
        </p:nvSpPr>
        <p:spPr>
          <a:xfrm>
            <a:off x="339952" y="1710929"/>
            <a:ext cx="4370260" cy="1056016"/>
          </a:xfrm>
          <a:prstGeom prst="roundRect">
            <a:avLst>
              <a:gd name="adj" fmla="val 9831"/>
            </a:avLst>
          </a:prstGeom>
          <a:solidFill>
            <a:srgbClr val="F1F5F9"/>
          </a:solidFill>
          <a:ln/>
        </p:spPr>
        <p:txBody>
          <a:bodyPr wrap="square" lIns="91440" tIns="45720" rIns="91440" bIns="45720" rtlCol="0" anchor="ctr"/>
          <a:lstStyle/>
          <a:p>
            <a:pPr>
              <a:lnSpc>
                <a:spcPts val="1575"/>
              </a:lnSpc>
              <a:spcBef>
                <a:spcPts val="300"/>
              </a:spcBef>
              <a:spcAft>
                <a:spcPts val="300"/>
              </a:spcAft>
            </a:pPr>
            <a:endParaRPr lang="en-US" sz="1100" b="1">
              <a:solidFill>
                <a:srgbClr val="1E293B"/>
              </a:solidFill>
              <a:cs typeface="Arial"/>
            </a:endParaRPr>
          </a:p>
          <a:p>
            <a:pPr>
              <a:lnSpc>
                <a:spcPts val="1575"/>
              </a:lnSpc>
              <a:spcBef>
                <a:spcPts val="300"/>
              </a:spcBef>
              <a:spcAft>
                <a:spcPts val="300"/>
              </a:spcAft>
            </a:pPr>
            <a:r>
              <a:rPr lang="en-US" sz="1600" b="1" dirty="0">
                <a:solidFill>
                  <a:srgbClr val="1E293B"/>
                </a:solidFill>
                <a:cs typeface="Arial"/>
              </a:rPr>
              <a:t>Key Innovation</a:t>
            </a:r>
            <a:endParaRPr lang="en-US" sz="1600" dirty="0">
              <a:cs typeface="Arial"/>
            </a:endParaRPr>
          </a:p>
          <a:p>
            <a:pPr>
              <a:lnSpc>
                <a:spcPts val="1470"/>
              </a:lnSpc>
              <a:spcBef>
                <a:spcPts val="300"/>
              </a:spcBef>
              <a:spcAft>
                <a:spcPts val="300"/>
              </a:spcAft>
            </a:pPr>
            <a:r>
              <a:rPr lang="en-US" sz="1300" dirty="0">
                <a:solidFill>
                  <a:srgbClr val="475569"/>
                </a:solidFill>
                <a:ea typeface="+mn-lt"/>
                <a:cs typeface="+mn-lt"/>
              </a:rPr>
              <a:t>figuring out exactly how much and what kind of training data an ML project needs</a:t>
            </a:r>
            <a:endParaRPr lang="en-US" dirty="0"/>
          </a:p>
          <a:p>
            <a:pPr marL="0" indent="0">
              <a:buNone/>
            </a:pPr>
            <a:endParaRPr lang="en-US" sz="1800">
              <a:cs typeface="Arial"/>
            </a:endParaRPr>
          </a:p>
        </p:txBody>
      </p:sp>
      <p:sp>
        <p:nvSpPr>
          <p:cNvPr id="8" name="Text 12">
            <a:extLst>
              <a:ext uri="{FF2B5EF4-FFF2-40B4-BE49-F238E27FC236}">
                <a16:creationId xmlns:a16="http://schemas.microsoft.com/office/drawing/2014/main" id="{D486227C-A4B3-9F0C-3B62-D79240495ED5}"/>
              </a:ext>
            </a:extLst>
          </p:cNvPr>
          <p:cNvSpPr/>
          <p:nvPr/>
        </p:nvSpPr>
        <p:spPr>
          <a:xfrm>
            <a:off x="4821619" y="1709772"/>
            <a:ext cx="3943380" cy="1057755"/>
          </a:xfrm>
          <a:prstGeom prst="roundRect">
            <a:avLst>
              <a:gd name="adj" fmla="val 7505"/>
            </a:avLst>
          </a:prstGeom>
          <a:solidFill>
            <a:srgbClr val="0F172A"/>
          </a:solidFill>
          <a:ln/>
        </p:spPr>
        <p:txBody>
          <a:bodyPr wrap="square" lIns="91440" tIns="45720" rIns="91440" bIns="45720" rtlCol="0" anchor="ctr"/>
          <a:lstStyle/>
          <a:p>
            <a:endParaRPr lang="en-US" sz="1050" b="1">
              <a:solidFill>
                <a:srgbClr val="FFFFFF"/>
              </a:solidFill>
              <a:latin typeface="Arial"/>
            </a:endParaRPr>
          </a:p>
          <a:p>
            <a:r>
              <a:rPr lang="en-US" sz="1600" b="1" i="0" u="none" strike="noStrike" dirty="0">
                <a:solidFill>
                  <a:srgbClr val="FFFFFF"/>
                </a:solidFill>
                <a:latin typeface="Arial"/>
              </a:rPr>
              <a:t>Key Takeaway</a:t>
            </a:r>
            <a:r>
              <a:rPr lang="en-US" sz="1600" b="0" i="0" dirty="0">
                <a:latin typeface="Arial"/>
              </a:rPr>
              <a:t>​</a:t>
            </a:r>
            <a:endParaRPr lang="en-US" sz="1600" dirty="0">
              <a:cs typeface="Arial"/>
            </a:endParaRPr>
          </a:p>
          <a:p>
            <a:pPr>
              <a:lnSpc>
                <a:spcPts val="1463"/>
              </a:lnSpc>
              <a:spcBef>
                <a:spcPts val="300"/>
              </a:spcBef>
              <a:spcAft>
                <a:spcPts val="300"/>
              </a:spcAft>
            </a:pPr>
            <a:r>
              <a:rPr lang="en-US" sz="1300" dirty="0">
                <a:solidFill>
                  <a:srgbClr val="60A5FA"/>
                </a:solidFill>
                <a:ea typeface="+mn-lt"/>
                <a:cs typeface="+mn-lt"/>
              </a:rPr>
              <a:t>reduces the chances of a project failing due to insufficient data</a:t>
            </a:r>
            <a:endParaRPr lang="en-US" dirty="0"/>
          </a:p>
          <a:p>
            <a:endParaRPr lang="en-US" sz="1050">
              <a:cs typeface="Arial"/>
            </a:endParaRPr>
          </a:p>
        </p:txBody>
      </p:sp>
      <p:pic>
        <p:nvPicPr>
          <p:cNvPr id="5" name="Picture 4">
            <a:extLst>
              <a:ext uri="{FF2B5EF4-FFF2-40B4-BE49-F238E27FC236}">
                <a16:creationId xmlns:a16="http://schemas.microsoft.com/office/drawing/2014/main" id="{126923D5-0DC6-1D04-7F14-B02367184D8B}"/>
              </a:ext>
            </a:extLst>
          </p:cNvPr>
          <p:cNvPicPr>
            <a:picLocks noChangeAspect="1"/>
          </p:cNvPicPr>
          <p:nvPr/>
        </p:nvPicPr>
        <p:blipFill>
          <a:blip r:embed="rId2"/>
          <a:stretch>
            <a:fillRect/>
          </a:stretch>
        </p:blipFill>
        <p:spPr>
          <a:xfrm>
            <a:off x="2146452" y="4727467"/>
            <a:ext cx="3076575" cy="847725"/>
          </a:xfrm>
          <a:prstGeom prst="rect">
            <a:avLst/>
          </a:prstGeom>
        </p:spPr>
      </p:pic>
    </p:spTree>
    <p:extLst>
      <p:ext uri="{BB962C8B-B14F-4D97-AF65-F5344CB8AC3E}">
        <p14:creationId xmlns:p14="http://schemas.microsoft.com/office/powerpoint/2010/main" val="4892688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8AF82-AE37-CFBD-9360-275CFCE02E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1BB21C-DE50-0685-EF74-977211A2A193}"/>
              </a:ext>
            </a:extLst>
          </p:cNvPr>
          <p:cNvSpPr>
            <a:spLocks noGrp="1"/>
          </p:cNvSpPr>
          <p:nvPr>
            <p:ph type="title"/>
          </p:nvPr>
        </p:nvSpPr>
        <p:spPr>
          <a:xfrm>
            <a:off x="457200" y="274638"/>
            <a:ext cx="8312351" cy="1143000"/>
          </a:xfrm>
        </p:spPr>
        <p:txBody>
          <a:bodyPr vert="horz" lIns="91440" tIns="45720" rIns="91440" bIns="45720" rtlCol="0" anchor="ctr">
            <a:noAutofit/>
          </a:bodyPr>
          <a:lstStyle/>
          <a:p>
            <a:r>
              <a:rPr lang="en-US" sz="2800" err="1">
                <a:cs typeface="Arial"/>
              </a:rPr>
              <a:t>BitNet</a:t>
            </a:r>
            <a:r>
              <a:rPr lang="en-US" sz="2800" dirty="0">
                <a:cs typeface="Arial"/>
              </a:rPr>
              <a:t>: 1-bit pre-training for large language models</a:t>
            </a:r>
          </a:p>
        </p:txBody>
      </p:sp>
      <p:sp>
        <p:nvSpPr>
          <p:cNvPr id="3" name="Content Placeholder 2">
            <a:extLst>
              <a:ext uri="{FF2B5EF4-FFF2-40B4-BE49-F238E27FC236}">
                <a16:creationId xmlns:a16="http://schemas.microsoft.com/office/drawing/2014/main" id="{BF5C4D88-E86F-856C-C02B-31AF78E8D38C}"/>
              </a:ext>
            </a:extLst>
          </p:cNvPr>
          <p:cNvSpPr>
            <a:spLocks noGrp="1"/>
          </p:cNvSpPr>
          <p:nvPr>
            <p:ph sz="half" idx="1"/>
          </p:nvPr>
        </p:nvSpPr>
        <p:spPr>
          <a:xfrm>
            <a:off x="457200" y="2942438"/>
            <a:ext cx="8222609" cy="2627954"/>
          </a:xfrm>
        </p:spPr>
        <p:txBody>
          <a:bodyPr vert="horz" lIns="91440" tIns="45720" rIns="91440" bIns="45720" rtlCol="0" anchor="t">
            <a:normAutofit/>
          </a:bodyPr>
          <a:lstStyle/>
          <a:p>
            <a:pPr marL="0" indent="0">
              <a:buNone/>
            </a:pPr>
            <a:r>
              <a:rPr lang="en-US" sz="1500" dirty="0"/>
              <a:t>Method: </a:t>
            </a:r>
          </a:p>
          <a:p>
            <a:r>
              <a:rPr lang="en-US" sz="1500" dirty="0">
                <a:latin typeface="Arial"/>
              </a:rPr>
              <a:t>Replaces a transformer layer with a "</a:t>
            </a:r>
            <a:r>
              <a:rPr lang="en-US" sz="1500" dirty="0" err="1">
                <a:latin typeface="Arial"/>
              </a:rPr>
              <a:t>Bitlinear</a:t>
            </a:r>
            <a:r>
              <a:rPr lang="en-US" sz="1500" dirty="0">
                <a:latin typeface="Arial"/>
              </a:rPr>
              <a:t>" layer that uses ternary weights (+1, 0 –1)</a:t>
            </a:r>
          </a:p>
          <a:p>
            <a:endParaRPr lang="en-US" sz="1500">
              <a:latin typeface="Arial"/>
            </a:endParaRPr>
          </a:p>
          <a:p>
            <a:pPr marL="0" indent="0">
              <a:buNone/>
            </a:pPr>
            <a:r>
              <a:rPr lang="en-US" sz="1500" dirty="0"/>
              <a:t>Results:</a:t>
            </a:r>
          </a:p>
          <a:p>
            <a:r>
              <a:rPr lang="en-US" sz="1500" err="1">
                <a:latin typeface="Arial"/>
              </a:rPr>
              <a:t>BitNet</a:t>
            </a:r>
            <a:r>
              <a:rPr lang="en-US" sz="1500">
                <a:latin typeface="Arial"/>
              </a:rPr>
              <a:t> b1.58 can match the performance of FP16 models (the industry standard) of the same size, but it is significantly more efficient in terms of memory consumption, latency (speed), throughput, and energy use</a:t>
            </a:r>
            <a:endParaRPr lang="en-US" sz="1500" dirty="0">
              <a:latin typeface="Arial"/>
            </a:endParaRPr>
          </a:p>
        </p:txBody>
      </p:sp>
      <p:sp>
        <p:nvSpPr>
          <p:cNvPr id="4" name="Content Placeholder 3">
            <a:extLst>
              <a:ext uri="{FF2B5EF4-FFF2-40B4-BE49-F238E27FC236}">
                <a16:creationId xmlns:a16="http://schemas.microsoft.com/office/drawing/2014/main" id="{75B87082-20AB-CDDC-7568-3847826C1778}"/>
              </a:ext>
            </a:extLst>
          </p:cNvPr>
          <p:cNvSpPr>
            <a:spLocks noGrp="1"/>
          </p:cNvSpPr>
          <p:nvPr>
            <p:ph sz="half" idx="2"/>
          </p:nvPr>
        </p:nvSpPr>
        <p:spPr>
          <a:xfrm>
            <a:off x="338884" y="5575105"/>
            <a:ext cx="8222607" cy="415359"/>
          </a:xfrm>
        </p:spPr>
        <p:txBody>
          <a:bodyPr vert="horz" lIns="91440" tIns="45720" rIns="91440" bIns="45720" rtlCol="0" anchor="t">
            <a:noAutofit/>
          </a:bodyPr>
          <a:lstStyle/>
          <a:p>
            <a:pPr marL="0" indent="0">
              <a:buNone/>
            </a:pPr>
            <a:r>
              <a:rPr lang="en-US" sz="1200" dirty="0">
                <a:latin typeface="Arial"/>
                <a:cs typeface="Arial"/>
              </a:rPr>
              <a:t>H. Wang, S. Ma, L. Ma, L. Wang, W. Wang, L. Dong, S. Huang, H. Wang, J. Xue, R. Wang, Y. Wu, and F. Wei, "</a:t>
            </a:r>
            <a:r>
              <a:rPr lang="en-US" sz="1200" dirty="0" err="1">
                <a:latin typeface="Arial"/>
                <a:cs typeface="Arial"/>
              </a:rPr>
              <a:t>BitNet</a:t>
            </a:r>
            <a:r>
              <a:rPr lang="en-US" sz="1200" dirty="0">
                <a:latin typeface="Arial"/>
                <a:cs typeface="Arial"/>
              </a:rPr>
              <a:t>: 1-bit pre-training for large language models," Journal of Machine Learning Research (JMLR), vol. 26, no. 125, pp. 1–29, Jun. 2025.</a:t>
            </a:r>
            <a:endParaRPr lang="en-US" dirty="0"/>
          </a:p>
        </p:txBody>
      </p:sp>
      <p:sp>
        <p:nvSpPr>
          <p:cNvPr id="6" name="Text 4">
            <a:extLst>
              <a:ext uri="{FF2B5EF4-FFF2-40B4-BE49-F238E27FC236}">
                <a16:creationId xmlns:a16="http://schemas.microsoft.com/office/drawing/2014/main" id="{F5FCCADB-343A-E45E-03BC-66DEC60E066A}"/>
              </a:ext>
            </a:extLst>
          </p:cNvPr>
          <p:cNvSpPr/>
          <p:nvPr/>
        </p:nvSpPr>
        <p:spPr>
          <a:xfrm>
            <a:off x="339952" y="1710929"/>
            <a:ext cx="4798232" cy="1056016"/>
          </a:xfrm>
          <a:prstGeom prst="roundRect">
            <a:avLst>
              <a:gd name="adj" fmla="val 9831"/>
            </a:avLst>
          </a:prstGeom>
          <a:solidFill>
            <a:srgbClr val="F1F5F9"/>
          </a:solidFill>
          <a:ln/>
        </p:spPr>
        <p:txBody>
          <a:bodyPr wrap="square" lIns="91440" tIns="45720" rIns="91440" bIns="45720" rtlCol="0" anchor="ctr"/>
          <a:lstStyle/>
          <a:p>
            <a:pPr>
              <a:lnSpc>
                <a:spcPts val="1575"/>
              </a:lnSpc>
              <a:spcBef>
                <a:spcPts val="300"/>
              </a:spcBef>
              <a:spcAft>
                <a:spcPts val="300"/>
              </a:spcAft>
            </a:pPr>
            <a:endParaRPr lang="en-US" sz="1100" b="1">
              <a:solidFill>
                <a:srgbClr val="1E293B"/>
              </a:solidFill>
              <a:cs typeface="Arial"/>
            </a:endParaRPr>
          </a:p>
          <a:p>
            <a:pPr>
              <a:lnSpc>
                <a:spcPts val="1575"/>
              </a:lnSpc>
              <a:spcBef>
                <a:spcPts val="300"/>
              </a:spcBef>
              <a:spcAft>
                <a:spcPts val="300"/>
              </a:spcAft>
            </a:pPr>
            <a:r>
              <a:rPr lang="en-US" sz="1600" b="1" dirty="0">
                <a:solidFill>
                  <a:srgbClr val="1E293B"/>
                </a:solidFill>
                <a:cs typeface="Arial"/>
              </a:rPr>
              <a:t>Key Innovation</a:t>
            </a:r>
            <a:endParaRPr lang="en-US" sz="1600" dirty="0">
              <a:cs typeface="Arial"/>
            </a:endParaRPr>
          </a:p>
          <a:p>
            <a:pPr>
              <a:lnSpc>
                <a:spcPts val="1470"/>
              </a:lnSpc>
              <a:spcBef>
                <a:spcPts val="300"/>
              </a:spcBef>
              <a:spcAft>
                <a:spcPts val="300"/>
              </a:spcAft>
            </a:pPr>
            <a:r>
              <a:rPr lang="en-US" sz="1300" dirty="0">
                <a:solidFill>
                  <a:srgbClr val="475569"/>
                </a:solidFill>
                <a:cs typeface="Arial"/>
              </a:rPr>
              <a:t>Manipulation of training weights to achieve equal performance with top models with significantly better efficiency</a:t>
            </a:r>
          </a:p>
          <a:p>
            <a:pPr marL="0" indent="0">
              <a:buNone/>
            </a:pPr>
            <a:endParaRPr lang="en-US" sz="1800">
              <a:cs typeface="Arial"/>
            </a:endParaRPr>
          </a:p>
        </p:txBody>
      </p:sp>
      <p:sp>
        <p:nvSpPr>
          <p:cNvPr id="8" name="Text 12">
            <a:extLst>
              <a:ext uri="{FF2B5EF4-FFF2-40B4-BE49-F238E27FC236}">
                <a16:creationId xmlns:a16="http://schemas.microsoft.com/office/drawing/2014/main" id="{62349F87-5EED-C983-1A51-FAD6B99E1D95}"/>
              </a:ext>
            </a:extLst>
          </p:cNvPr>
          <p:cNvSpPr/>
          <p:nvPr/>
        </p:nvSpPr>
        <p:spPr>
          <a:xfrm>
            <a:off x="5249591" y="1709772"/>
            <a:ext cx="3515408" cy="1057755"/>
          </a:xfrm>
          <a:prstGeom prst="roundRect">
            <a:avLst>
              <a:gd name="adj" fmla="val 7505"/>
            </a:avLst>
          </a:prstGeom>
          <a:solidFill>
            <a:srgbClr val="0F172A"/>
          </a:solidFill>
          <a:ln/>
        </p:spPr>
        <p:txBody>
          <a:bodyPr wrap="square" lIns="91440" tIns="45720" rIns="91440" bIns="45720" rtlCol="0" anchor="ctr"/>
          <a:lstStyle/>
          <a:p>
            <a:endParaRPr lang="en-US" sz="1050" b="1">
              <a:solidFill>
                <a:srgbClr val="FFFFFF"/>
              </a:solidFill>
              <a:latin typeface="Arial"/>
            </a:endParaRPr>
          </a:p>
          <a:p>
            <a:r>
              <a:rPr lang="en-US" sz="1600" b="1" i="0" u="none" strike="noStrike" dirty="0">
                <a:solidFill>
                  <a:srgbClr val="FFFFFF"/>
                </a:solidFill>
                <a:latin typeface="Arial"/>
              </a:rPr>
              <a:t>Key Takeaway</a:t>
            </a:r>
            <a:r>
              <a:rPr lang="en-US" sz="1600" b="0" i="0" dirty="0">
                <a:latin typeface="Arial"/>
              </a:rPr>
              <a:t>​</a:t>
            </a:r>
            <a:endParaRPr lang="en-US" sz="1600" dirty="0">
              <a:cs typeface="Arial"/>
            </a:endParaRPr>
          </a:p>
          <a:p>
            <a:pPr>
              <a:lnSpc>
                <a:spcPts val="1463"/>
              </a:lnSpc>
              <a:spcBef>
                <a:spcPts val="300"/>
              </a:spcBef>
              <a:spcAft>
                <a:spcPts val="300"/>
              </a:spcAft>
            </a:pPr>
            <a:r>
              <a:rPr lang="en-US" sz="1300" dirty="0">
                <a:solidFill>
                  <a:srgbClr val="60A5FA"/>
                </a:solidFill>
                <a:cs typeface="Arial"/>
              </a:rPr>
              <a:t>Super low weights to start can be more efficient</a:t>
            </a:r>
          </a:p>
          <a:p>
            <a:endParaRPr lang="en-US" sz="1050">
              <a:cs typeface="Arial"/>
            </a:endParaRPr>
          </a:p>
        </p:txBody>
      </p:sp>
    </p:spTree>
    <p:extLst>
      <p:ext uri="{BB962C8B-B14F-4D97-AF65-F5344CB8AC3E}">
        <p14:creationId xmlns:p14="http://schemas.microsoft.com/office/powerpoint/2010/main" val="20965852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7A72C-4076-81E7-50BE-0EFDCC16A4F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46B079F-2B06-313B-5DED-9720848E89E4}"/>
              </a:ext>
            </a:extLst>
          </p:cNvPr>
          <p:cNvSpPr>
            <a:spLocks noGrp="1"/>
          </p:cNvSpPr>
          <p:nvPr>
            <p:ph type="title"/>
          </p:nvPr>
        </p:nvSpPr>
        <p:spPr>
          <a:xfrm>
            <a:off x="457200" y="274638"/>
            <a:ext cx="8223372" cy="546984"/>
          </a:xfrm>
        </p:spPr>
        <p:txBody>
          <a:bodyPr anchor="ctr">
            <a:normAutofit fontScale="90000"/>
          </a:bodyPr>
          <a:lstStyle/>
          <a:p>
            <a:r>
              <a:rPr lang="en-US" sz="3000">
                <a:ea typeface="+mj-lt"/>
                <a:cs typeface="+mj-lt"/>
              </a:rPr>
              <a:t>Progress Since Proposal</a:t>
            </a:r>
          </a:p>
        </p:txBody>
      </p:sp>
      <p:sp>
        <p:nvSpPr>
          <p:cNvPr id="9" name="Text 9">
            <a:extLst>
              <a:ext uri="{FF2B5EF4-FFF2-40B4-BE49-F238E27FC236}">
                <a16:creationId xmlns:a16="http://schemas.microsoft.com/office/drawing/2014/main" id="{9D9768A6-AF1B-E62D-EFCD-BDA2A28A19BC}"/>
              </a:ext>
            </a:extLst>
          </p:cNvPr>
          <p:cNvSpPr/>
          <p:nvPr/>
        </p:nvSpPr>
        <p:spPr>
          <a:xfrm>
            <a:off x="557455" y="1257155"/>
            <a:ext cx="7684771" cy="2362317"/>
          </a:xfrm>
          <a:prstGeom prst="rect">
            <a:avLst/>
          </a:prstGeom>
          <a:noFill/>
          <a:ln/>
        </p:spPr>
        <p:txBody>
          <a:bodyPr wrap="square" lIns="66675" tIns="0" rIns="0" bIns="0" rtlCol="0" anchor="t"/>
          <a:lstStyle/>
          <a:p>
            <a:endParaRPr lang="en-US" sz="1000">
              <a:ea typeface="+mn-lt"/>
              <a:cs typeface="+mn-lt"/>
            </a:endParaRPr>
          </a:p>
          <a:p>
            <a:pPr marL="285750" indent="-285750">
              <a:spcAft>
                <a:spcPts val="1200"/>
              </a:spcAft>
              <a:buFont typeface="Arial"/>
              <a:buChar char="•"/>
            </a:pPr>
            <a:r>
              <a:rPr lang="en-US" sz="2000" dirty="0">
                <a:ea typeface="+mn-lt"/>
                <a:cs typeface="+mn-lt"/>
              </a:rPr>
              <a:t>Increased the size of the model</a:t>
            </a:r>
          </a:p>
          <a:p>
            <a:pPr marL="285750" indent="-285750">
              <a:spcAft>
                <a:spcPts val="1200"/>
              </a:spcAft>
              <a:buFont typeface="Arial"/>
              <a:buChar char="•"/>
            </a:pPr>
            <a:r>
              <a:rPr lang="en-US" sz="2000" dirty="0">
                <a:ea typeface="+mn-lt"/>
                <a:cs typeface="+mn-lt"/>
              </a:rPr>
              <a:t>Trained with multiple configurations </a:t>
            </a:r>
          </a:p>
          <a:p>
            <a:pPr marL="285750" indent="-285750">
              <a:spcAft>
                <a:spcPts val="1200"/>
              </a:spcAft>
              <a:buFont typeface="Arial"/>
              <a:buChar char="•"/>
            </a:pPr>
            <a:r>
              <a:rPr lang="en-US" sz="2000" dirty="0">
                <a:ea typeface="+mn-lt"/>
                <a:cs typeface="+mn-lt"/>
              </a:rPr>
              <a:t>Adjusted preprocessing sample rate (TESS 30min -&gt; 2min)</a:t>
            </a:r>
          </a:p>
          <a:p>
            <a:pPr marL="285750" indent="-285750">
              <a:spcAft>
                <a:spcPts val="1200"/>
              </a:spcAft>
              <a:buFont typeface="Arial"/>
              <a:buChar char="•"/>
            </a:pPr>
            <a:r>
              <a:rPr lang="en-US" sz="2000" dirty="0">
                <a:ea typeface="+mn-lt"/>
                <a:cs typeface="+mn-lt"/>
              </a:rPr>
              <a:t>Tested on different database for generalizability </a:t>
            </a:r>
          </a:p>
        </p:txBody>
      </p:sp>
    </p:spTree>
    <p:extLst>
      <p:ext uri="{BB962C8B-B14F-4D97-AF65-F5344CB8AC3E}">
        <p14:creationId xmlns:p14="http://schemas.microsoft.com/office/powerpoint/2010/main" val="9532971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677D12F-79DF-65C2-E33E-671C2BD2EDD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B6F5028-6456-614E-8D58-D81FD4069F0B}"/>
              </a:ext>
            </a:extLst>
          </p:cNvPr>
          <p:cNvSpPr>
            <a:spLocks noGrp="1"/>
          </p:cNvSpPr>
          <p:nvPr>
            <p:ph type="title"/>
          </p:nvPr>
        </p:nvSpPr>
        <p:spPr>
          <a:xfrm>
            <a:off x="457200" y="274638"/>
            <a:ext cx="8223372" cy="546984"/>
          </a:xfrm>
        </p:spPr>
        <p:txBody>
          <a:bodyPr anchor="ctr">
            <a:normAutofit fontScale="90000"/>
          </a:bodyPr>
          <a:lstStyle/>
          <a:p>
            <a:r>
              <a:rPr lang="en-US" sz="3000">
                <a:solidFill>
                  <a:srgbClr val="000000"/>
                </a:solidFill>
                <a:ea typeface="+mj-lt"/>
                <a:cs typeface="+mj-lt"/>
              </a:rPr>
              <a:t>Methodology: Transformer </a:t>
            </a:r>
            <a:endParaRPr lang="en-US" sz="3000">
              <a:ea typeface="+mj-lt"/>
              <a:cs typeface="+mj-lt"/>
            </a:endParaRPr>
          </a:p>
        </p:txBody>
      </p:sp>
      <p:sp>
        <p:nvSpPr>
          <p:cNvPr id="47" name="Text 9">
            <a:extLst>
              <a:ext uri="{FF2B5EF4-FFF2-40B4-BE49-F238E27FC236}">
                <a16:creationId xmlns:a16="http://schemas.microsoft.com/office/drawing/2014/main" id="{4168DF78-1089-4AD7-D0CD-AC31E673F811}"/>
              </a:ext>
            </a:extLst>
          </p:cNvPr>
          <p:cNvSpPr/>
          <p:nvPr/>
        </p:nvSpPr>
        <p:spPr>
          <a:xfrm>
            <a:off x="459506" y="1997167"/>
            <a:ext cx="5357651" cy="1609857"/>
          </a:xfrm>
          <a:prstGeom prst="rect">
            <a:avLst/>
          </a:prstGeom>
          <a:noFill/>
          <a:ln w="6350">
            <a:noFill/>
          </a:ln>
        </p:spPr>
        <p:txBody>
          <a:bodyPr wrap="square" lIns="66675" tIns="0" rIns="0" bIns="0" rtlCol="0" anchor="t"/>
          <a:lstStyle/>
          <a:p>
            <a:pPr>
              <a:lnSpc>
                <a:spcPts val="1575"/>
              </a:lnSpc>
              <a:spcBef>
                <a:spcPts val="300"/>
              </a:spcBef>
              <a:spcAft>
                <a:spcPts val="360"/>
              </a:spcAft>
            </a:pPr>
            <a:r>
              <a:rPr lang="en-US" sz="1400" b="1">
                <a:solidFill>
                  <a:srgbClr val="1E3A8A"/>
                </a:solidFill>
                <a:latin typeface="Arial"/>
                <a:ea typeface="+mn-lt"/>
                <a:cs typeface="Arial"/>
              </a:rPr>
              <a:t>Preprocessing Steps</a:t>
            </a:r>
            <a:endParaRPr lang="en-US" sz="1400">
              <a:solidFill>
                <a:srgbClr val="1E3A8A"/>
              </a:solidFill>
              <a:latin typeface="Arial" pitchFamily="34" charset="-122"/>
              <a:ea typeface="Arial" pitchFamily="34" charset="-122"/>
              <a:cs typeface="Arial"/>
            </a:endParaRPr>
          </a:p>
          <a:p>
            <a:pPr marL="285750" indent="-285750">
              <a:lnSpc>
                <a:spcPts val="1575"/>
              </a:lnSpc>
              <a:spcBef>
                <a:spcPts val="300"/>
              </a:spcBef>
              <a:spcAft>
                <a:spcPts val="360"/>
              </a:spcAft>
              <a:buFont typeface="Arial"/>
              <a:buChar char="•"/>
            </a:pPr>
            <a:r>
              <a:rPr lang="en-US" sz="1400" b="1">
                <a:solidFill>
                  <a:srgbClr val="1E3A8A"/>
                </a:solidFill>
                <a:cs typeface="Arial"/>
              </a:rPr>
              <a:t>Sigma-clipping – </a:t>
            </a:r>
            <a:r>
              <a:rPr lang="en-US" sz="1400">
                <a:solidFill>
                  <a:schemeClr val="tx2">
                    <a:lumMod val="49000"/>
                  </a:schemeClr>
                </a:solidFill>
                <a:cs typeface="Arial"/>
              </a:rPr>
              <a:t>removes outlier flux points </a:t>
            </a:r>
          </a:p>
          <a:p>
            <a:pPr marL="285750" indent="-285750">
              <a:lnSpc>
                <a:spcPts val="2100"/>
              </a:lnSpc>
              <a:buSzPct val="100000"/>
              <a:buFont typeface="Arial"/>
              <a:buChar char="•"/>
            </a:pPr>
            <a:r>
              <a:rPr lang="en-US" sz="1400" b="1" err="1">
                <a:solidFill>
                  <a:srgbClr val="1E3A8A"/>
                </a:solidFill>
                <a:ea typeface="+mn-lt"/>
                <a:cs typeface="+mn-lt"/>
              </a:rPr>
              <a:t>Savitzky</a:t>
            </a:r>
            <a:r>
              <a:rPr lang="en-US" sz="1400" b="1">
                <a:solidFill>
                  <a:srgbClr val="1E3A8A"/>
                </a:solidFill>
                <a:ea typeface="+mn-lt"/>
                <a:cs typeface="+mn-lt"/>
              </a:rPr>
              <a:t>-Golay filter –</a:t>
            </a:r>
            <a:r>
              <a:rPr lang="en-US" sz="1400" b="1">
                <a:solidFill>
                  <a:schemeClr val="tx2">
                    <a:lumMod val="49000"/>
                  </a:schemeClr>
                </a:solidFill>
                <a:ea typeface="+mn-lt"/>
                <a:cs typeface="+mn-lt"/>
              </a:rPr>
              <a:t> </a:t>
            </a:r>
            <a:r>
              <a:rPr lang="en-US" sz="1400">
                <a:solidFill>
                  <a:schemeClr val="tx2">
                    <a:lumMod val="49000"/>
                  </a:schemeClr>
                </a:solidFill>
                <a:ea typeface="+mn-lt"/>
                <a:cs typeface="+mn-lt"/>
              </a:rPr>
              <a:t>removes low frequency trends</a:t>
            </a:r>
          </a:p>
          <a:p>
            <a:pPr marL="285750" indent="-285750">
              <a:lnSpc>
                <a:spcPts val="2100"/>
              </a:lnSpc>
              <a:buSzPct val="100000"/>
              <a:buFont typeface="Arial"/>
              <a:buChar char="•"/>
            </a:pPr>
            <a:r>
              <a:rPr lang="en-US" sz="1400" b="1">
                <a:solidFill>
                  <a:srgbClr val="1E3A8A"/>
                </a:solidFill>
                <a:ea typeface="+mn-lt"/>
                <a:cs typeface="+mn-lt"/>
              </a:rPr>
              <a:t>Gap Interpolation – </a:t>
            </a:r>
            <a:r>
              <a:rPr lang="en-US" sz="1400">
                <a:solidFill>
                  <a:schemeClr val="tx2">
                    <a:lumMod val="49000"/>
                  </a:schemeClr>
                </a:solidFill>
                <a:ea typeface="+mn-lt"/>
                <a:cs typeface="+mn-lt"/>
              </a:rPr>
              <a:t>fills in short gaps with linear estimation</a:t>
            </a:r>
          </a:p>
          <a:p>
            <a:pPr marL="285750" indent="-285750">
              <a:lnSpc>
                <a:spcPts val="2100"/>
              </a:lnSpc>
              <a:buSzPct val="100000"/>
              <a:buFont typeface="Arial"/>
              <a:buChar char="•"/>
            </a:pPr>
            <a:r>
              <a:rPr lang="en-US" sz="1400" b="1">
                <a:solidFill>
                  <a:srgbClr val="1E3A8A"/>
                </a:solidFill>
                <a:ea typeface="+mn-lt"/>
                <a:cs typeface="+mn-lt"/>
              </a:rPr>
              <a:t>Z-score Normalization – </a:t>
            </a:r>
            <a:r>
              <a:rPr lang="en-US" sz="1400">
                <a:solidFill>
                  <a:schemeClr val="tx2">
                    <a:lumMod val="49000"/>
                  </a:schemeClr>
                </a:solidFill>
                <a:ea typeface="+mn-lt"/>
                <a:cs typeface="+mn-lt"/>
              </a:rPr>
              <a:t>sets mean to zero and std dev to one</a:t>
            </a:r>
          </a:p>
          <a:p>
            <a:pPr marL="285750" indent="-285750">
              <a:lnSpc>
                <a:spcPts val="2100"/>
              </a:lnSpc>
              <a:buSzPct val="100000"/>
              <a:buFont typeface="Arial"/>
              <a:buChar char="•"/>
            </a:pPr>
            <a:r>
              <a:rPr lang="en-US" sz="1400" b="1">
                <a:solidFill>
                  <a:srgbClr val="1E3A8A"/>
                </a:solidFill>
                <a:ea typeface="+mn-lt"/>
                <a:cs typeface="+mn-lt"/>
              </a:rPr>
              <a:t>Segmentation – </a:t>
            </a:r>
            <a:r>
              <a:rPr lang="en-US" sz="1400">
                <a:solidFill>
                  <a:schemeClr val="tx2">
                    <a:lumMod val="49000"/>
                  </a:schemeClr>
                </a:solidFill>
                <a:ea typeface="+mn-lt"/>
                <a:cs typeface="+mn-lt"/>
              </a:rPr>
              <a:t>standardizes segments to 27 day periods</a:t>
            </a:r>
          </a:p>
          <a:p>
            <a:pPr marL="285750" indent="-285750">
              <a:lnSpc>
                <a:spcPts val="2100"/>
              </a:lnSpc>
              <a:buSzPct val="100000"/>
              <a:buFont typeface="Arial"/>
              <a:buChar char="•"/>
            </a:pPr>
            <a:r>
              <a:rPr lang="en-US" sz="1400" b="1">
                <a:solidFill>
                  <a:srgbClr val="1E3A8A"/>
                </a:solidFill>
                <a:ea typeface="+mn-lt"/>
                <a:cs typeface="+mn-lt"/>
              </a:rPr>
              <a:t>Augmentation</a:t>
            </a:r>
          </a:p>
          <a:p>
            <a:pPr marL="742950" lvl="1" indent="-285750">
              <a:lnSpc>
                <a:spcPts val="2100"/>
              </a:lnSpc>
              <a:buSzPct val="100000"/>
              <a:buFont typeface="Courier New"/>
              <a:buChar char="o"/>
            </a:pPr>
            <a:r>
              <a:rPr lang="en-US" sz="1400">
                <a:solidFill>
                  <a:schemeClr val="tx2">
                    <a:lumMod val="49000"/>
                  </a:schemeClr>
                </a:solidFill>
                <a:ea typeface="+mn-lt"/>
                <a:cs typeface="+mn-lt"/>
              </a:rPr>
              <a:t>Gaussian noise</a:t>
            </a:r>
          </a:p>
          <a:p>
            <a:pPr marL="742950" lvl="1" indent="-285750">
              <a:lnSpc>
                <a:spcPts val="2100"/>
              </a:lnSpc>
              <a:buSzPct val="100000"/>
              <a:buFont typeface="Courier New"/>
              <a:buChar char="o"/>
            </a:pPr>
            <a:r>
              <a:rPr lang="en-US" sz="1400">
                <a:solidFill>
                  <a:schemeClr val="tx2">
                    <a:lumMod val="49000"/>
                  </a:schemeClr>
                </a:solidFill>
                <a:ea typeface="+mn-lt"/>
                <a:cs typeface="+mn-lt"/>
              </a:rPr>
              <a:t>Time Shift</a:t>
            </a:r>
          </a:p>
          <a:p>
            <a:pPr marL="742950" lvl="1" indent="-285750">
              <a:lnSpc>
                <a:spcPts val="2100"/>
              </a:lnSpc>
              <a:buSzPct val="100000"/>
              <a:buFont typeface="Courier New"/>
              <a:buChar char="o"/>
            </a:pPr>
            <a:r>
              <a:rPr lang="en-US" sz="1400">
                <a:solidFill>
                  <a:schemeClr val="tx2">
                    <a:lumMod val="49000"/>
                  </a:schemeClr>
                </a:solidFill>
                <a:ea typeface="+mn-lt"/>
                <a:cs typeface="+mn-lt"/>
              </a:rPr>
              <a:t>Amplitude scaling</a:t>
            </a:r>
          </a:p>
          <a:p>
            <a:pPr marL="742950" lvl="1" indent="-285750">
              <a:lnSpc>
                <a:spcPts val="2100"/>
              </a:lnSpc>
              <a:buSzPct val="100000"/>
              <a:buFont typeface="Courier New"/>
              <a:buChar char="o"/>
            </a:pPr>
            <a:r>
              <a:rPr lang="en-US" sz="1400">
                <a:solidFill>
                  <a:schemeClr val="tx2">
                    <a:lumMod val="49000"/>
                  </a:schemeClr>
                </a:solidFill>
                <a:ea typeface="+mn-lt"/>
                <a:cs typeface="+mn-lt"/>
              </a:rPr>
              <a:t>Time warping</a:t>
            </a:r>
          </a:p>
        </p:txBody>
      </p:sp>
      <p:sp>
        <p:nvSpPr>
          <p:cNvPr id="13" name="Text 9">
            <a:extLst>
              <a:ext uri="{FF2B5EF4-FFF2-40B4-BE49-F238E27FC236}">
                <a16:creationId xmlns:a16="http://schemas.microsoft.com/office/drawing/2014/main" id="{A61989C0-DA7F-D604-B30B-3CF60EAAD19B}"/>
              </a:ext>
            </a:extLst>
          </p:cNvPr>
          <p:cNvSpPr/>
          <p:nvPr/>
        </p:nvSpPr>
        <p:spPr>
          <a:xfrm>
            <a:off x="459505" y="1046140"/>
            <a:ext cx="5358316" cy="821753"/>
          </a:xfrm>
          <a:prstGeom prst="rect">
            <a:avLst/>
          </a:prstGeom>
          <a:noFill/>
          <a:ln w="6350">
            <a:noFill/>
          </a:ln>
        </p:spPr>
        <p:txBody>
          <a:bodyPr wrap="square" lIns="66675" tIns="0" rIns="0" bIns="0" rtlCol="0" anchor="t"/>
          <a:lstStyle/>
          <a:p>
            <a:pPr>
              <a:lnSpc>
                <a:spcPts val="1575"/>
              </a:lnSpc>
              <a:spcBef>
                <a:spcPts val="300"/>
              </a:spcBef>
              <a:spcAft>
                <a:spcPts val="360"/>
              </a:spcAft>
            </a:pPr>
            <a:r>
              <a:rPr lang="en-US" sz="1400" b="1">
                <a:solidFill>
                  <a:srgbClr val="1E3A8A"/>
                </a:solidFill>
                <a:latin typeface="Arial"/>
                <a:ea typeface="+mn-lt"/>
                <a:cs typeface="Arial"/>
              </a:rPr>
              <a:t>Data</a:t>
            </a:r>
            <a:endParaRPr lang="en-US" sz="1400">
              <a:solidFill>
                <a:srgbClr val="1E293B"/>
              </a:solidFill>
              <a:latin typeface="Arial" pitchFamily="34" charset="-122"/>
              <a:ea typeface="Arial" pitchFamily="34" charset="-122"/>
              <a:cs typeface="Arial"/>
            </a:endParaRPr>
          </a:p>
          <a:p>
            <a:pPr marL="285750" indent="-285750">
              <a:lnSpc>
                <a:spcPts val="2100"/>
              </a:lnSpc>
              <a:buSzPct val="100000"/>
              <a:buFont typeface="Arial"/>
              <a:buChar char="•"/>
            </a:pPr>
            <a:r>
              <a:rPr lang="en-US" sz="1400">
                <a:solidFill>
                  <a:srgbClr val="1E293B"/>
                </a:solidFill>
                <a:ea typeface="+mn-lt"/>
                <a:cs typeface="+mn-lt"/>
              </a:rPr>
              <a:t>3000 samples from TESS Lilith 4 Dataset, sector 1, with balanced distribution    (70/15/15 train/</a:t>
            </a:r>
            <a:r>
              <a:rPr lang="en-US" sz="1400" err="1">
                <a:solidFill>
                  <a:srgbClr val="1E293B"/>
                </a:solidFill>
                <a:ea typeface="+mn-lt"/>
                <a:cs typeface="+mn-lt"/>
              </a:rPr>
              <a:t>val</a:t>
            </a:r>
            <a:r>
              <a:rPr lang="en-US" sz="1400">
                <a:solidFill>
                  <a:srgbClr val="1E293B"/>
                </a:solidFill>
                <a:ea typeface="+mn-lt"/>
                <a:cs typeface="+mn-lt"/>
              </a:rPr>
              <a:t>/test split)</a:t>
            </a:r>
            <a:endParaRPr lang="en-US" sz="1400">
              <a:cs typeface="Arial"/>
            </a:endParaRPr>
          </a:p>
        </p:txBody>
      </p:sp>
      <p:pic>
        <p:nvPicPr>
          <p:cNvPr id="2" name="Picture 1" descr="A screenshot of a computer screen&#10;&#10;AI-generated content may be incorrect.">
            <a:extLst>
              <a:ext uri="{FF2B5EF4-FFF2-40B4-BE49-F238E27FC236}">
                <a16:creationId xmlns:a16="http://schemas.microsoft.com/office/drawing/2014/main" id="{0D12E36F-2F52-1AC2-604D-F7DFB682C768}"/>
              </a:ext>
            </a:extLst>
          </p:cNvPr>
          <p:cNvPicPr>
            <a:picLocks noChangeAspect="1"/>
          </p:cNvPicPr>
          <p:nvPr/>
        </p:nvPicPr>
        <p:blipFill>
          <a:blip r:embed="rId2"/>
          <a:stretch>
            <a:fillRect/>
          </a:stretch>
        </p:blipFill>
        <p:spPr>
          <a:xfrm>
            <a:off x="6021818" y="273175"/>
            <a:ext cx="2190375" cy="2741886"/>
          </a:xfrm>
          <a:prstGeom prst="rect">
            <a:avLst/>
          </a:prstGeom>
        </p:spPr>
      </p:pic>
      <p:pic>
        <p:nvPicPr>
          <p:cNvPr id="4" name="Picture 3" descr="A black background with white text&#10;&#10;AI-generated content may be incorrect.">
            <a:extLst>
              <a:ext uri="{FF2B5EF4-FFF2-40B4-BE49-F238E27FC236}">
                <a16:creationId xmlns:a16="http://schemas.microsoft.com/office/drawing/2014/main" id="{20DF2DE0-1183-A347-E8C4-F8A9ED84E195}"/>
              </a:ext>
            </a:extLst>
          </p:cNvPr>
          <p:cNvPicPr>
            <a:picLocks noChangeAspect="1"/>
          </p:cNvPicPr>
          <p:nvPr/>
        </p:nvPicPr>
        <p:blipFill>
          <a:blip r:embed="rId3"/>
          <a:stretch>
            <a:fillRect/>
          </a:stretch>
        </p:blipFill>
        <p:spPr>
          <a:xfrm>
            <a:off x="6025149" y="3019758"/>
            <a:ext cx="2026057" cy="703912"/>
          </a:xfrm>
          <a:prstGeom prst="rect">
            <a:avLst/>
          </a:prstGeom>
        </p:spPr>
      </p:pic>
      <p:pic>
        <p:nvPicPr>
          <p:cNvPr id="8" name="Picture 7" descr="A blue line graph with numbers&#10;&#10;AI-generated content may be incorrect.">
            <a:extLst>
              <a:ext uri="{FF2B5EF4-FFF2-40B4-BE49-F238E27FC236}">
                <a16:creationId xmlns:a16="http://schemas.microsoft.com/office/drawing/2014/main" id="{104F3878-9636-FBEF-1B65-CDB844231117}"/>
              </a:ext>
            </a:extLst>
          </p:cNvPr>
          <p:cNvPicPr>
            <a:picLocks noChangeAspect="1"/>
          </p:cNvPicPr>
          <p:nvPr/>
        </p:nvPicPr>
        <p:blipFill>
          <a:blip r:embed="rId4"/>
          <a:stretch>
            <a:fillRect/>
          </a:stretch>
        </p:blipFill>
        <p:spPr>
          <a:xfrm>
            <a:off x="6021759" y="3849225"/>
            <a:ext cx="2649512" cy="2289358"/>
          </a:xfrm>
          <a:prstGeom prst="rect">
            <a:avLst/>
          </a:prstGeom>
        </p:spPr>
      </p:pic>
      <p:sp>
        <p:nvSpPr>
          <p:cNvPr id="5" name="Text 9">
            <a:extLst>
              <a:ext uri="{FF2B5EF4-FFF2-40B4-BE49-F238E27FC236}">
                <a16:creationId xmlns:a16="http://schemas.microsoft.com/office/drawing/2014/main" id="{0079D0B3-CCC8-44DD-6057-10D0CB122A22}"/>
              </a:ext>
            </a:extLst>
          </p:cNvPr>
          <p:cNvSpPr/>
          <p:nvPr/>
        </p:nvSpPr>
        <p:spPr>
          <a:xfrm>
            <a:off x="459505" y="4999452"/>
            <a:ext cx="2327794" cy="968560"/>
          </a:xfrm>
          <a:prstGeom prst="rect">
            <a:avLst/>
          </a:prstGeom>
          <a:noFill/>
          <a:ln w="6350">
            <a:noFill/>
          </a:ln>
        </p:spPr>
        <p:txBody>
          <a:bodyPr wrap="square" lIns="66675" tIns="0" rIns="0" bIns="0" rtlCol="0" anchor="t"/>
          <a:lstStyle/>
          <a:p>
            <a:pPr>
              <a:lnSpc>
                <a:spcPts val="1575"/>
              </a:lnSpc>
              <a:spcBef>
                <a:spcPts val="300"/>
              </a:spcBef>
              <a:spcAft>
                <a:spcPts val="360"/>
              </a:spcAft>
            </a:pPr>
            <a:r>
              <a:rPr lang="en-US" sz="1400" b="1">
                <a:solidFill>
                  <a:srgbClr val="1E3A8A"/>
                </a:solidFill>
                <a:latin typeface="Arial"/>
                <a:ea typeface="+mn-lt"/>
                <a:cs typeface="Arial"/>
              </a:rPr>
              <a:t>Hyperparameter Optimization</a:t>
            </a:r>
            <a:endParaRPr lang="en-US" sz="1400">
              <a:solidFill>
                <a:srgbClr val="1E293B"/>
              </a:solidFill>
              <a:latin typeface="Arial" pitchFamily="34" charset="-122"/>
              <a:ea typeface="Arial" pitchFamily="34" charset="-122"/>
              <a:cs typeface="Arial"/>
            </a:endParaRPr>
          </a:p>
          <a:p>
            <a:pPr marL="285750" indent="-285750">
              <a:lnSpc>
                <a:spcPts val="2100"/>
              </a:lnSpc>
              <a:buSzPct val="100000"/>
              <a:buFont typeface="Arial"/>
              <a:buChar char="•"/>
            </a:pPr>
            <a:r>
              <a:rPr lang="en-US" sz="1400">
                <a:solidFill>
                  <a:srgbClr val="1E293B"/>
                </a:solidFill>
                <a:cs typeface="Arial"/>
              </a:rPr>
              <a:t>50 trials with 15 epochs  using </a:t>
            </a:r>
            <a:r>
              <a:rPr lang="en-US" sz="1400" err="1">
                <a:solidFill>
                  <a:srgbClr val="1E293B"/>
                </a:solidFill>
                <a:cs typeface="Arial"/>
              </a:rPr>
              <a:t>Optuna</a:t>
            </a:r>
            <a:endParaRPr lang="en-US" sz="1400">
              <a:solidFill>
                <a:srgbClr val="1E293B"/>
              </a:solidFill>
              <a:cs typeface="Arial"/>
            </a:endParaRPr>
          </a:p>
        </p:txBody>
      </p:sp>
      <p:pic>
        <p:nvPicPr>
          <p:cNvPr id="7" name="Picture 6" descr="A graph with a line&#10;&#10;AI-generated content may be incorrect.">
            <a:extLst>
              <a:ext uri="{FF2B5EF4-FFF2-40B4-BE49-F238E27FC236}">
                <a16:creationId xmlns:a16="http://schemas.microsoft.com/office/drawing/2014/main" id="{4B1259D6-1181-83EF-7078-02B6EDF640D6}"/>
              </a:ext>
            </a:extLst>
          </p:cNvPr>
          <p:cNvPicPr>
            <a:picLocks noChangeAspect="1"/>
          </p:cNvPicPr>
          <p:nvPr/>
        </p:nvPicPr>
        <p:blipFill>
          <a:blip r:embed="rId5"/>
          <a:stretch>
            <a:fillRect/>
          </a:stretch>
        </p:blipFill>
        <p:spPr>
          <a:xfrm>
            <a:off x="2972805" y="3844517"/>
            <a:ext cx="3041097" cy="2293867"/>
          </a:xfrm>
          <a:prstGeom prst="rect">
            <a:avLst/>
          </a:prstGeom>
        </p:spPr>
      </p:pic>
    </p:spTree>
    <p:extLst>
      <p:ext uri="{BB962C8B-B14F-4D97-AF65-F5344CB8AC3E}">
        <p14:creationId xmlns:p14="http://schemas.microsoft.com/office/powerpoint/2010/main" val="4519500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426E2-63D4-9B8D-DDD0-7EA50137359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F77D173-D9E2-C502-6973-BAD4F2583E8C}"/>
              </a:ext>
            </a:extLst>
          </p:cNvPr>
          <p:cNvSpPr>
            <a:spLocks noGrp="1"/>
          </p:cNvSpPr>
          <p:nvPr>
            <p:ph type="title"/>
          </p:nvPr>
        </p:nvSpPr>
        <p:spPr>
          <a:xfrm>
            <a:off x="457200" y="274638"/>
            <a:ext cx="8223372" cy="546984"/>
          </a:xfrm>
        </p:spPr>
        <p:txBody>
          <a:bodyPr anchor="ctr">
            <a:normAutofit fontScale="90000"/>
          </a:bodyPr>
          <a:lstStyle/>
          <a:p>
            <a:r>
              <a:rPr lang="en-US" sz="3000">
                <a:solidFill>
                  <a:srgbClr val="000000"/>
                </a:solidFill>
                <a:ea typeface="+mj-lt"/>
                <a:cs typeface="+mj-lt"/>
              </a:rPr>
              <a:t>Methodology: Transformer </a:t>
            </a:r>
            <a:endParaRPr lang="en-US" sz="3000">
              <a:ea typeface="+mj-lt"/>
              <a:cs typeface="+mj-lt"/>
            </a:endParaRPr>
          </a:p>
        </p:txBody>
      </p:sp>
      <p:sp>
        <p:nvSpPr>
          <p:cNvPr id="3" name="Text 9">
            <a:extLst>
              <a:ext uri="{FF2B5EF4-FFF2-40B4-BE49-F238E27FC236}">
                <a16:creationId xmlns:a16="http://schemas.microsoft.com/office/drawing/2014/main" id="{590F5EB5-D2DD-C460-C157-E26D2ABD9F16}"/>
              </a:ext>
            </a:extLst>
          </p:cNvPr>
          <p:cNvSpPr/>
          <p:nvPr/>
        </p:nvSpPr>
        <p:spPr>
          <a:xfrm>
            <a:off x="460173" y="1146599"/>
            <a:ext cx="7721038" cy="2563273"/>
          </a:xfrm>
          <a:prstGeom prst="rect">
            <a:avLst/>
          </a:prstGeom>
          <a:noFill/>
          <a:ln w="6350">
            <a:noFill/>
          </a:ln>
        </p:spPr>
        <p:txBody>
          <a:bodyPr wrap="square" lIns="66675" tIns="0" rIns="0" bIns="0" rtlCol="0" anchor="t"/>
          <a:lstStyle/>
          <a:p>
            <a:pPr>
              <a:lnSpc>
                <a:spcPts val="1575"/>
              </a:lnSpc>
              <a:spcBef>
                <a:spcPts val="300"/>
              </a:spcBef>
              <a:spcAft>
                <a:spcPts val="360"/>
              </a:spcAft>
            </a:pPr>
            <a:r>
              <a:rPr lang="en-US" sz="1400" b="1">
                <a:solidFill>
                  <a:srgbClr val="1E3A8A"/>
                </a:solidFill>
                <a:latin typeface="Arial"/>
                <a:ea typeface="Arial" pitchFamily="34" charset="-122"/>
                <a:cs typeface="Arial"/>
              </a:rPr>
              <a:t>Model Architecture</a:t>
            </a:r>
            <a:endParaRPr lang="en-US" sz="1400" b="1">
              <a:solidFill>
                <a:srgbClr val="1E3A8A"/>
              </a:solidFill>
              <a:cs typeface="Arial"/>
            </a:endParaRPr>
          </a:p>
          <a:p>
            <a:pPr marL="285750" indent="-285750">
              <a:lnSpc>
                <a:spcPts val="1575"/>
              </a:lnSpc>
              <a:spcBef>
                <a:spcPts val="300"/>
              </a:spcBef>
              <a:spcAft>
                <a:spcPts val="360"/>
              </a:spcAft>
              <a:buFont typeface="Arial"/>
              <a:buChar char="•"/>
            </a:pPr>
            <a:r>
              <a:rPr lang="en-US" sz="1400" b="1">
                <a:solidFill>
                  <a:srgbClr val="1E3A8A"/>
                </a:solidFill>
                <a:cs typeface="Arial"/>
              </a:rPr>
              <a:t>Convolutional Embedding – </a:t>
            </a:r>
            <a:r>
              <a:rPr lang="en-US" sz="1400">
                <a:solidFill>
                  <a:schemeClr val="tx2">
                    <a:lumMod val="49000"/>
                  </a:schemeClr>
                </a:solidFill>
                <a:cs typeface="Arial"/>
              </a:rPr>
              <a:t>1D CNN for time-series pattern extraction and data embedding</a:t>
            </a:r>
          </a:p>
          <a:p>
            <a:pPr>
              <a:lnSpc>
                <a:spcPts val="1575"/>
              </a:lnSpc>
              <a:spcBef>
                <a:spcPts val="300"/>
              </a:spcBef>
              <a:spcAft>
                <a:spcPts val="360"/>
              </a:spcAft>
            </a:pPr>
            <a:r>
              <a:rPr lang="en-US" sz="1400" b="1">
                <a:solidFill>
                  <a:srgbClr val="1E3A8A"/>
                </a:solidFill>
                <a:cs typeface="Arial"/>
              </a:rPr>
              <a:t>  </a:t>
            </a:r>
          </a:p>
          <a:p>
            <a:pPr marL="285750" indent="-285750">
              <a:lnSpc>
                <a:spcPts val="1575"/>
              </a:lnSpc>
              <a:spcBef>
                <a:spcPts val="300"/>
              </a:spcBef>
              <a:spcAft>
                <a:spcPts val="360"/>
              </a:spcAft>
              <a:buFont typeface="Arial"/>
              <a:buChar char="•"/>
            </a:pPr>
            <a:r>
              <a:rPr lang="en-US" sz="1400" b="1">
                <a:solidFill>
                  <a:srgbClr val="1E3A8A"/>
                </a:solidFill>
                <a:cs typeface="Arial"/>
              </a:rPr>
              <a:t>Temporal Positional Encoding – </a:t>
            </a:r>
            <a:r>
              <a:rPr lang="en-US" sz="1400">
                <a:solidFill>
                  <a:schemeClr val="tx2">
                    <a:lumMod val="49000"/>
                  </a:schemeClr>
                </a:solidFill>
                <a:cs typeface="Arial"/>
              </a:rPr>
              <a:t>Positional encoding using normalized time stamps</a:t>
            </a:r>
            <a:endParaRPr lang="en-US">
              <a:solidFill>
                <a:schemeClr val="tx2">
                  <a:lumMod val="49000"/>
                </a:schemeClr>
              </a:solidFill>
            </a:endParaRPr>
          </a:p>
          <a:p>
            <a:pPr marL="285750" indent="-285750">
              <a:lnSpc>
                <a:spcPts val="1575"/>
              </a:lnSpc>
              <a:spcBef>
                <a:spcPts val="300"/>
              </a:spcBef>
              <a:spcAft>
                <a:spcPts val="360"/>
              </a:spcAft>
              <a:buFont typeface="Arial"/>
              <a:buChar char="•"/>
            </a:pPr>
            <a:endParaRPr lang="en-US" sz="1400" b="1">
              <a:solidFill>
                <a:srgbClr val="1E3A8A"/>
              </a:solidFill>
              <a:cs typeface="Arial"/>
            </a:endParaRPr>
          </a:p>
          <a:p>
            <a:pPr marL="285750" indent="-285750">
              <a:lnSpc>
                <a:spcPts val="1575"/>
              </a:lnSpc>
              <a:spcBef>
                <a:spcPts val="300"/>
              </a:spcBef>
              <a:spcAft>
                <a:spcPts val="360"/>
              </a:spcAft>
              <a:buFont typeface="Arial"/>
              <a:buChar char="•"/>
            </a:pPr>
            <a:r>
              <a:rPr lang="en-US" sz="1400" b="1">
                <a:solidFill>
                  <a:srgbClr val="1E3A8A"/>
                </a:solidFill>
                <a:cs typeface="Arial"/>
              </a:rPr>
              <a:t>Transformer Encoder Blocks – </a:t>
            </a:r>
            <a:r>
              <a:rPr lang="en-US" sz="1400">
                <a:solidFill>
                  <a:schemeClr val="tx2">
                    <a:lumMod val="49000"/>
                  </a:schemeClr>
                </a:solidFill>
                <a:cs typeface="Arial"/>
              </a:rPr>
              <a:t>multi-head self-attention with feed-forward, normalization, and dropout for regularization</a:t>
            </a:r>
            <a:endParaRPr lang="en-US">
              <a:solidFill>
                <a:schemeClr val="tx2">
                  <a:lumMod val="49000"/>
                </a:schemeClr>
              </a:solidFill>
              <a:cs typeface="Arial"/>
            </a:endParaRPr>
          </a:p>
          <a:p>
            <a:pPr marL="285750" indent="-285750">
              <a:lnSpc>
                <a:spcPts val="1575"/>
              </a:lnSpc>
              <a:spcBef>
                <a:spcPts val="300"/>
              </a:spcBef>
              <a:spcAft>
                <a:spcPts val="360"/>
              </a:spcAft>
              <a:buFont typeface="Arial"/>
              <a:buChar char="•"/>
            </a:pPr>
            <a:endParaRPr lang="en-US" sz="1400" b="1">
              <a:solidFill>
                <a:srgbClr val="1E3A8A"/>
              </a:solidFill>
              <a:cs typeface="Arial"/>
            </a:endParaRPr>
          </a:p>
          <a:p>
            <a:pPr marL="285750" indent="-285750">
              <a:lnSpc>
                <a:spcPts val="1575"/>
              </a:lnSpc>
              <a:spcBef>
                <a:spcPts val="300"/>
              </a:spcBef>
              <a:spcAft>
                <a:spcPts val="360"/>
              </a:spcAft>
              <a:buFont typeface="Arial"/>
              <a:buChar char="•"/>
            </a:pPr>
            <a:r>
              <a:rPr lang="en-US" sz="1400" b="1">
                <a:solidFill>
                  <a:srgbClr val="1E3A8A"/>
                </a:solidFill>
                <a:cs typeface="Arial"/>
              </a:rPr>
              <a:t>Global Pooling and Classification – </a:t>
            </a:r>
            <a:r>
              <a:rPr lang="en-US" sz="1400">
                <a:solidFill>
                  <a:schemeClr val="tx2">
                    <a:lumMod val="49000"/>
                  </a:schemeClr>
                </a:solidFill>
                <a:cs typeface="Arial"/>
              </a:rPr>
              <a:t>summarizes features and determines output class</a:t>
            </a:r>
            <a:endParaRPr lang="en-US">
              <a:solidFill>
                <a:schemeClr val="tx2">
                  <a:lumMod val="49000"/>
                </a:schemeClr>
              </a:solidFill>
              <a:cs typeface="Arial"/>
            </a:endParaRPr>
          </a:p>
          <a:p>
            <a:pPr>
              <a:lnSpc>
                <a:spcPts val="2100"/>
              </a:lnSpc>
              <a:buSzPct val="100000"/>
            </a:pPr>
            <a:endParaRPr lang="en-US" sz="1400">
              <a:cs typeface="Arial"/>
            </a:endParaRPr>
          </a:p>
        </p:txBody>
      </p:sp>
      <p:sp>
        <p:nvSpPr>
          <p:cNvPr id="5" name="Text 9">
            <a:extLst>
              <a:ext uri="{FF2B5EF4-FFF2-40B4-BE49-F238E27FC236}">
                <a16:creationId xmlns:a16="http://schemas.microsoft.com/office/drawing/2014/main" id="{37D0EEB0-6AC5-B346-E9E5-5D82415E3CA1}"/>
              </a:ext>
            </a:extLst>
          </p:cNvPr>
          <p:cNvSpPr/>
          <p:nvPr/>
        </p:nvSpPr>
        <p:spPr>
          <a:xfrm>
            <a:off x="460171" y="3854677"/>
            <a:ext cx="6788475" cy="1839960"/>
          </a:xfrm>
          <a:prstGeom prst="rect">
            <a:avLst/>
          </a:prstGeom>
          <a:noFill/>
          <a:ln w="6350">
            <a:noFill/>
          </a:ln>
        </p:spPr>
        <p:txBody>
          <a:bodyPr wrap="square" lIns="66675" tIns="0" rIns="0" bIns="0" rtlCol="0" anchor="t"/>
          <a:lstStyle/>
          <a:p>
            <a:pPr>
              <a:lnSpc>
                <a:spcPts val="1575"/>
              </a:lnSpc>
              <a:spcBef>
                <a:spcPts val="300"/>
              </a:spcBef>
              <a:spcAft>
                <a:spcPts val="360"/>
              </a:spcAft>
            </a:pPr>
            <a:r>
              <a:rPr lang="en-US" sz="1400" b="1" dirty="0">
                <a:solidFill>
                  <a:srgbClr val="1E3A8A"/>
                </a:solidFill>
                <a:cs typeface="Arial"/>
              </a:rPr>
              <a:t>Training</a:t>
            </a:r>
          </a:p>
          <a:p>
            <a:pPr marL="285750" indent="-285750">
              <a:lnSpc>
                <a:spcPts val="1575"/>
              </a:lnSpc>
              <a:spcBef>
                <a:spcPts val="300"/>
              </a:spcBef>
              <a:spcAft>
                <a:spcPts val="360"/>
              </a:spcAft>
              <a:buFont typeface="Arial,Sans-Serif"/>
              <a:buChar char="•"/>
            </a:pPr>
            <a:r>
              <a:rPr lang="en-US" sz="1400" dirty="0">
                <a:solidFill>
                  <a:schemeClr val="tx2">
                    <a:lumMod val="49000"/>
                  </a:schemeClr>
                </a:solidFill>
                <a:ea typeface="+mn-lt"/>
                <a:cs typeface="+mn-lt"/>
              </a:rPr>
              <a:t>Linear learning rate warmup (5 epochs) then cosine annealing scheduler</a:t>
            </a:r>
          </a:p>
          <a:p>
            <a:pPr marL="285750" indent="-285750">
              <a:lnSpc>
                <a:spcPts val="1575"/>
              </a:lnSpc>
              <a:spcBef>
                <a:spcPts val="300"/>
              </a:spcBef>
              <a:spcAft>
                <a:spcPts val="360"/>
              </a:spcAft>
              <a:buFont typeface="Arial"/>
              <a:buChar char="•"/>
            </a:pPr>
            <a:r>
              <a:rPr lang="en-US" sz="1400" dirty="0">
                <a:solidFill>
                  <a:schemeClr val="tx2">
                    <a:lumMod val="49000"/>
                  </a:schemeClr>
                </a:solidFill>
                <a:ea typeface="+mn-lt"/>
                <a:cs typeface="+mn-lt"/>
              </a:rPr>
              <a:t>Label smoothing (1.1% -&gt; 0.05%)</a:t>
            </a:r>
            <a:endParaRPr lang="en-US" dirty="0">
              <a:solidFill>
                <a:schemeClr val="tx2">
                  <a:lumMod val="49000"/>
                </a:schemeClr>
              </a:solidFill>
            </a:endParaRPr>
          </a:p>
          <a:p>
            <a:pPr marL="285750" indent="-285750">
              <a:lnSpc>
                <a:spcPts val="1575"/>
              </a:lnSpc>
              <a:spcBef>
                <a:spcPts val="300"/>
              </a:spcBef>
              <a:spcAft>
                <a:spcPts val="360"/>
              </a:spcAft>
              <a:buFont typeface="Arial"/>
              <a:buChar char="•"/>
            </a:pPr>
            <a:r>
              <a:rPr lang="en-US" sz="1400" dirty="0">
                <a:solidFill>
                  <a:schemeClr val="tx2">
                    <a:lumMod val="49000"/>
                  </a:schemeClr>
                </a:solidFill>
                <a:ea typeface="+mn-lt"/>
                <a:cs typeface="+mn-lt"/>
              </a:rPr>
              <a:t>Gradient clipping</a:t>
            </a:r>
          </a:p>
          <a:p>
            <a:pPr marL="285750" indent="-285750">
              <a:lnSpc>
                <a:spcPts val="1575"/>
              </a:lnSpc>
              <a:spcBef>
                <a:spcPts val="300"/>
              </a:spcBef>
              <a:spcAft>
                <a:spcPts val="360"/>
              </a:spcAft>
              <a:buFont typeface="Arial"/>
              <a:buChar char="•"/>
            </a:pPr>
            <a:r>
              <a:rPr lang="en-US" sz="1400" dirty="0">
                <a:solidFill>
                  <a:schemeClr val="tx2">
                    <a:lumMod val="49000"/>
                  </a:schemeClr>
                </a:solidFill>
                <a:ea typeface="+mn-lt"/>
                <a:cs typeface="+mn-lt"/>
              </a:rPr>
              <a:t>Early Stopping</a:t>
            </a:r>
          </a:p>
          <a:p>
            <a:pPr marL="285750" indent="-285750">
              <a:lnSpc>
                <a:spcPts val="1575"/>
              </a:lnSpc>
              <a:spcBef>
                <a:spcPts val="300"/>
              </a:spcBef>
              <a:spcAft>
                <a:spcPts val="360"/>
              </a:spcAft>
              <a:buFont typeface="Arial"/>
              <a:buChar char="•"/>
            </a:pPr>
            <a:r>
              <a:rPr lang="en-US" sz="1400" dirty="0">
                <a:solidFill>
                  <a:schemeClr val="tx2">
                    <a:lumMod val="49000"/>
                  </a:schemeClr>
                </a:solidFill>
                <a:ea typeface="+mn-lt"/>
                <a:cs typeface="+mn-lt"/>
              </a:rPr>
              <a:t>Checkpoints</a:t>
            </a:r>
          </a:p>
          <a:p>
            <a:pPr marL="61595" indent="-61595">
              <a:lnSpc>
                <a:spcPts val="2100"/>
              </a:lnSpc>
              <a:buSzPct val="100000"/>
              <a:buFont typeface="Arial"/>
              <a:buChar char="•"/>
            </a:pPr>
            <a:endParaRPr lang="en-US" sz="1400">
              <a:ea typeface="+mn-lt"/>
              <a:cs typeface="+mn-lt"/>
            </a:endParaRPr>
          </a:p>
        </p:txBody>
      </p:sp>
      <p:sp>
        <p:nvSpPr>
          <p:cNvPr id="440" name="Arrow: Down 439">
            <a:extLst>
              <a:ext uri="{FF2B5EF4-FFF2-40B4-BE49-F238E27FC236}">
                <a16:creationId xmlns:a16="http://schemas.microsoft.com/office/drawing/2014/main" id="{4CDB2D1B-EF57-7F35-3C5E-1D2A70C27EA5}"/>
              </a:ext>
            </a:extLst>
          </p:cNvPr>
          <p:cNvSpPr/>
          <p:nvPr/>
        </p:nvSpPr>
        <p:spPr>
          <a:xfrm>
            <a:off x="1354155" y="1718556"/>
            <a:ext cx="249215" cy="25386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 name="Arrow: Down 440">
            <a:extLst>
              <a:ext uri="{FF2B5EF4-FFF2-40B4-BE49-F238E27FC236}">
                <a16:creationId xmlns:a16="http://schemas.microsoft.com/office/drawing/2014/main" id="{2FA2EA3D-6D42-8780-5A59-43BB5B60D250}"/>
              </a:ext>
            </a:extLst>
          </p:cNvPr>
          <p:cNvSpPr/>
          <p:nvPr/>
        </p:nvSpPr>
        <p:spPr>
          <a:xfrm>
            <a:off x="1354155" y="2281610"/>
            <a:ext cx="260476" cy="2426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Arrow: Down 441">
            <a:extLst>
              <a:ext uri="{FF2B5EF4-FFF2-40B4-BE49-F238E27FC236}">
                <a16:creationId xmlns:a16="http://schemas.microsoft.com/office/drawing/2014/main" id="{599AC8F6-B8A4-08A7-EC43-526FD1BC24C8}"/>
              </a:ext>
            </a:extLst>
          </p:cNvPr>
          <p:cNvSpPr/>
          <p:nvPr/>
        </p:nvSpPr>
        <p:spPr>
          <a:xfrm>
            <a:off x="1354155" y="3024842"/>
            <a:ext cx="260476" cy="23134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3" name="Picture 442" descr="A screen shot of a computer code&#10;&#10;AI-generated content may be incorrect.">
            <a:extLst>
              <a:ext uri="{FF2B5EF4-FFF2-40B4-BE49-F238E27FC236}">
                <a16:creationId xmlns:a16="http://schemas.microsoft.com/office/drawing/2014/main" id="{AD5F491E-16D5-9143-DDBC-BEE0F69EE9B4}"/>
              </a:ext>
            </a:extLst>
          </p:cNvPr>
          <p:cNvPicPr>
            <a:picLocks noChangeAspect="1"/>
          </p:cNvPicPr>
          <p:nvPr/>
        </p:nvPicPr>
        <p:blipFill>
          <a:blip r:embed="rId2"/>
          <a:stretch>
            <a:fillRect/>
          </a:stretch>
        </p:blipFill>
        <p:spPr>
          <a:xfrm>
            <a:off x="3980324" y="4743262"/>
            <a:ext cx="4381500" cy="952500"/>
          </a:xfrm>
          <a:prstGeom prst="rect">
            <a:avLst/>
          </a:prstGeom>
        </p:spPr>
      </p:pic>
    </p:spTree>
    <p:extLst>
      <p:ext uri="{BB962C8B-B14F-4D97-AF65-F5344CB8AC3E}">
        <p14:creationId xmlns:p14="http://schemas.microsoft.com/office/powerpoint/2010/main" val="23411810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10E24-223A-9CEB-30B0-97F280550AB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165DC8-9F75-C338-0D6B-C018D71BC54A}"/>
              </a:ext>
            </a:extLst>
          </p:cNvPr>
          <p:cNvSpPr>
            <a:spLocks noGrp="1"/>
          </p:cNvSpPr>
          <p:nvPr>
            <p:ph type="title"/>
          </p:nvPr>
        </p:nvSpPr>
        <p:spPr>
          <a:xfrm>
            <a:off x="457200" y="274638"/>
            <a:ext cx="8223372" cy="546984"/>
          </a:xfrm>
        </p:spPr>
        <p:txBody>
          <a:bodyPr anchor="ctr">
            <a:normAutofit fontScale="90000"/>
          </a:bodyPr>
          <a:lstStyle/>
          <a:p>
            <a:r>
              <a:rPr lang="en-US" sz="3000" dirty="0">
                <a:solidFill>
                  <a:srgbClr val="000000"/>
                </a:solidFill>
                <a:ea typeface="+mj-lt"/>
                <a:cs typeface="+mj-lt"/>
              </a:rPr>
              <a:t>Experimental Results – Small model</a:t>
            </a:r>
            <a:endParaRPr lang="en-US" sz="3000" dirty="0">
              <a:ea typeface="+mj-lt"/>
              <a:cs typeface="+mj-lt"/>
            </a:endParaRPr>
          </a:p>
        </p:txBody>
      </p:sp>
      <p:sp>
        <p:nvSpPr>
          <p:cNvPr id="4" name="Text 3">
            <a:extLst>
              <a:ext uri="{FF2B5EF4-FFF2-40B4-BE49-F238E27FC236}">
                <a16:creationId xmlns:a16="http://schemas.microsoft.com/office/drawing/2014/main" id="{A33AD5A8-0900-6963-8920-9696AF376DCC}"/>
              </a:ext>
            </a:extLst>
          </p:cNvPr>
          <p:cNvSpPr/>
          <p:nvPr/>
        </p:nvSpPr>
        <p:spPr>
          <a:xfrm>
            <a:off x="457716" y="1121392"/>
            <a:ext cx="1709928" cy="211634"/>
          </a:xfrm>
          <a:prstGeom prst="rect">
            <a:avLst/>
          </a:prstGeom>
          <a:noFill/>
          <a:ln/>
        </p:spPr>
        <p:txBody>
          <a:bodyPr wrap="square" lIns="0" tIns="0" rIns="0" bIns="0" rtlCol="0" anchor="t"/>
          <a:lstStyle/>
          <a:p>
            <a:pPr marL="0" indent="0" algn="l">
              <a:lnSpc>
                <a:spcPts val="1667"/>
              </a:lnSpc>
              <a:spcAft>
                <a:spcPts val="720"/>
              </a:spcAft>
              <a:buNone/>
            </a:pPr>
            <a:r>
              <a:rPr lang="en-US" sz="1500" b="1">
                <a:solidFill>
                  <a:srgbClr val="1E3A8A"/>
                </a:solidFill>
                <a:latin typeface="Arial" pitchFamily="34" charset="0"/>
                <a:ea typeface="Arial" pitchFamily="34" charset="-122"/>
                <a:cs typeface="Arial" pitchFamily="34" charset="-120"/>
              </a:rPr>
              <a:t>Dataset &amp; Training</a:t>
            </a:r>
            <a:endParaRPr lang="en-US" sz="1500"/>
          </a:p>
        </p:txBody>
      </p:sp>
      <p:sp>
        <p:nvSpPr>
          <p:cNvPr id="36" name="Text 16">
            <a:extLst>
              <a:ext uri="{FF2B5EF4-FFF2-40B4-BE49-F238E27FC236}">
                <a16:creationId xmlns:a16="http://schemas.microsoft.com/office/drawing/2014/main" id="{C70626FC-42DA-3FAF-9FAA-F111B094841C}"/>
              </a:ext>
            </a:extLst>
          </p:cNvPr>
          <p:cNvSpPr/>
          <p:nvPr/>
        </p:nvSpPr>
        <p:spPr>
          <a:xfrm>
            <a:off x="3631751" y="1128672"/>
            <a:ext cx="5206970" cy="205373"/>
          </a:xfrm>
          <a:prstGeom prst="rect">
            <a:avLst/>
          </a:prstGeom>
          <a:noFill/>
          <a:ln/>
        </p:spPr>
        <p:txBody>
          <a:bodyPr wrap="square" lIns="0" tIns="0" rIns="0" bIns="0" rtlCol="0" anchor="t"/>
          <a:lstStyle/>
          <a:p>
            <a:pPr algn="ctr">
              <a:lnSpc>
                <a:spcPts val="1667"/>
              </a:lnSpc>
              <a:spcAft>
                <a:spcPts val="720"/>
              </a:spcAft>
            </a:pPr>
            <a:r>
              <a:rPr lang="en-US" sz="1500" b="1">
                <a:solidFill>
                  <a:srgbClr val="1E3A8A"/>
                </a:solidFill>
                <a:cs typeface="Arial"/>
              </a:rPr>
              <a:t>Test Set Performance</a:t>
            </a:r>
            <a:endParaRPr lang="en-US"/>
          </a:p>
        </p:txBody>
      </p:sp>
      <p:sp>
        <p:nvSpPr>
          <p:cNvPr id="10" name="Text 9">
            <a:extLst>
              <a:ext uri="{FF2B5EF4-FFF2-40B4-BE49-F238E27FC236}">
                <a16:creationId xmlns:a16="http://schemas.microsoft.com/office/drawing/2014/main" id="{C651C134-CBDD-AD79-F3C2-31A673F12361}"/>
              </a:ext>
            </a:extLst>
          </p:cNvPr>
          <p:cNvSpPr/>
          <p:nvPr/>
        </p:nvSpPr>
        <p:spPr>
          <a:xfrm>
            <a:off x="459364" y="1345453"/>
            <a:ext cx="2788188" cy="765054"/>
          </a:xfrm>
          <a:prstGeom prst="rect">
            <a:avLst/>
          </a:prstGeom>
          <a:noFill/>
          <a:ln w="6350">
            <a:noFill/>
          </a:ln>
        </p:spPr>
        <p:txBody>
          <a:bodyPr wrap="square" lIns="66675" tIns="0" rIns="0" bIns="0" rtlCol="0" anchor="t"/>
          <a:lstStyle/>
          <a:p>
            <a:pPr>
              <a:lnSpc>
                <a:spcPts val="1470"/>
              </a:lnSpc>
              <a:spcBef>
                <a:spcPts val="300"/>
              </a:spcBef>
              <a:spcAft>
                <a:spcPts val="300"/>
              </a:spcAft>
            </a:pPr>
            <a:endParaRPr lang="en-US" sz="1100">
              <a:solidFill>
                <a:srgbClr val="1E3A8A"/>
              </a:solidFill>
              <a:latin typeface="Arial"/>
              <a:cs typeface="Arial"/>
            </a:endParaRPr>
          </a:p>
          <a:p>
            <a:pPr>
              <a:lnSpc>
                <a:spcPts val="1470"/>
              </a:lnSpc>
              <a:spcBef>
                <a:spcPts val="300"/>
              </a:spcBef>
              <a:spcAft>
                <a:spcPts val="300"/>
              </a:spcAft>
            </a:pPr>
            <a:r>
              <a:rPr lang="en-US" sz="1400" b="1" dirty="0">
                <a:solidFill>
                  <a:srgbClr val="1E3A8A"/>
                </a:solidFill>
                <a:latin typeface="Arial"/>
                <a:cs typeface="Arial"/>
              </a:rPr>
              <a:t>Training Data</a:t>
            </a:r>
            <a:endParaRPr lang="en-US" sz="1400" dirty="0">
              <a:cs typeface="Arial"/>
            </a:endParaRPr>
          </a:p>
          <a:p>
            <a:pPr>
              <a:lnSpc>
                <a:spcPts val="1365"/>
              </a:lnSpc>
              <a:spcBef>
                <a:spcPts val="240"/>
              </a:spcBef>
              <a:spcAft>
                <a:spcPts val="300"/>
              </a:spcAft>
            </a:pPr>
            <a:r>
              <a:rPr lang="en-US" sz="1200" dirty="0">
                <a:solidFill>
                  <a:srgbClr val="475569"/>
                </a:solidFill>
                <a:latin typeface="Arial"/>
                <a:cs typeface="Arial"/>
              </a:rPr>
              <a:t>4200 samples</a:t>
            </a:r>
          </a:p>
          <a:p>
            <a:pPr>
              <a:lnSpc>
                <a:spcPts val="1365"/>
              </a:lnSpc>
              <a:spcBef>
                <a:spcPts val="240"/>
              </a:spcBef>
              <a:spcAft>
                <a:spcPts val="300"/>
              </a:spcAft>
            </a:pPr>
            <a:endParaRPr lang="en-US" sz="1200" dirty="0">
              <a:solidFill>
                <a:schemeClr val="tx2">
                  <a:lumMod val="76000"/>
                </a:schemeClr>
              </a:solidFill>
              <a:cs typeface="Arial"/>
            </a:endParaRPr>
          </a:p>
        </p:txBody>
      </p:sp>
      <p:sp>
        <p:nvSpPr>
          <p:cNvPr id="12" name="Text 9">
            <a:extLst>
              <a:ext uri="{FF2B5EF4-FFF2-40B4-BE49-F238E27FC236}">
                <a16:creationId xmlns:a16="http://schemas.microsoft.com/office/drawing/2014/main" id="{A2A9489D-1D2F-58C5-CD2C-0395D40C7E40}"/>
              </a:ext>
            </a:extLst>
          </p:cNvPr>
          <p:cNvSpPr/>
          <p:nvPr/>
        </p:nvSpPr>
        <p:spPr>
          <a:xfrm>
            <a:off x="459364" y="2255571"/>
            <a:ext cx="2585489" cy="466405"/>
          </a:xfrm>
          <a:prstGeom prst="rect">
            <a:avLst/>
          </a:prstGeom>
          <a:noFill/>
          <a:ln w="6350">
            <a:noFill/>
          </a:ln>
        </p:spPr>
        <p:txBody>
          <a:bodyPr wrap="square" lIns="66675" tIns="0" rIns="0" bIns="0" rtlCol="0" anchor="t"/>
          <a:lstStyle/>
          <a:p>
            <a:r>
              <a:rPr lang="en-US" sz="1400" b="1" dirty="0">
                <a:solidFill>
                  <a:srgbClr val="1E3A8A"/>
                </a:solidFill>
                <a:cs typeface="Arial"/>
              </a:rPr>
              <a:t>Test Data</a:t>
            </a:r>
            <a:endParaRPr lang="en-US">
              <a:solidFill>
                <a:srgbClr val="000000"/>
              </a:solidFill>
              <a:cs typeface="Arial"/>
            </a:endParaRPr>
          </a:p>
          <a:p>
            <a:pPr>
              <a:lnSpc>
                <a:spcPts val="1365"/>
              </a:lnSpc>
              <a:spcBef>
                <a:spcPts val="240"/>
              </a:spcBef>
              <a:spcAft>
                <a:spcPts val="300"/>
              </a:spcAft>
            </a:pPr>
            <a:r>
              <a:rPr lang="en-US" sz="1200" dirty="0">
                <a:solidFill>
                  <a:srgbClr val="475569"/>
                </a:solidFill>
                <a:cs typeface="Arial"/>
              </a:rPr>
              <a:t>450 samples</a:t>
            </a:r>
            <a:endParaRPr lang="en-US" sz="1200" dirty="0">
              <a:solidFill>
                <a:srgbClr val="1E3A8A"/>
              </a:solidFill>
              <a:cs typeface="Arial"/>
            </a:endParaRPr>
          </a:p>
          <a:p>
            <a:pPr marL="61595" indent="-61595">
              <a:lnSpc>
                <a:spcPts val="2100"/>
              </a:lnSpc>
              <a:buFont typeface="Arial"/>
              <a:buChar char="•"/>
            </a:pPr>
            <a:endParaRPr lang="en-US" sz="1400">
              <a:solidFill>
                <a:srgbClr val="1E293B"/>
              </a:solidFill>
              <a:cs typeface="Arial"/>
            </a:endParaRPr>
          </a:p>
        </p:txBody>
      </p:sp>
      <p:sp>
        <p:nvSpPr>
          <p:cNvPr id="14" name="Text 9">
            <a:extLst>
              <a:ext uri="{FF2B5EF4-FFF2-40B4-BE49-F238E27FC236}">
                <a16:creationId xmlns:a16="http://schemas.microsoft.com/office/drawing/2014/main" id="{C54A8428-3FE1-DB8F-004E-0E9726E857B2}"/>
              </a:ext>
            </a:extLst>
          </p:cNvPr>
          <p:cNvSpPr/>
          <p:nvPr/>
        </p:nvSpPr>
        <p:spPr>
          <a:xfrm>
            <a:off x="459364" y="4321957"/>
            <a:ext cx="2782022" cy="1447189"/>
          </a:xfrm>
          <a:prstGeom prst="rect">
            <a:avLst/>
          </a:prstGeom>
          <a:noFill/>
          <a:ln w="6350">
            <a:noFill/>
          </a:ln>
        </p:spPr>
        <p:txBody>
          <a:bodyPr wrap="square" lIns="66675" tIns="0" rIns="0" bIns="0" rtlCol="0" anchor="t"/>
          <a:lstStyle/>
          <a:p>
            <a:pPr>
              <a:lnSpc>
                <a:spcPts val="1470"/>
              </a:lnSpc>
              <a:spcBef>
                <a:spcPts val="300"/>
              </a:spcBef>
              <a:spcAft>
                <a:spcPts val="300"/>
              </a:spcAft>
            </a:pPr>
            <a:r>
              <a:rPr lang="en-US" sz="1400" b="1" dirty="0">
                <a:solidFill>
                  <a:srgbClr val="1E3A8A"/>
                </a:solidFill>
                <a:cs typeface="Arial"/>
              </a:rPr>
              <a:t>Result Metrics</a:t>
            </a:r>
            <a:endParaRPr lang="en-US" sz="1400" dirty="0">
              <a:solidFill>
                <a:srgbClr val="1E3A8A"/>
              </a:solidFill>
              <a:cs typeface="Arial"/>
            </a:endParaRPr>
          </a:p>
          <a:p>
            <a:r>
              <a:rPr lang="en-US" sz="1400" dirty="0">
                <a:solidFill>
                  <a:srgbClr val="1E293B"/>
                </a:solidFill>
                <a:ea typeface="+mn-lt"/>
                <a:cs typeface="+mn-lt"/>
              </a:rPr>
              <a:t>Accuracy        0.6333</a:t>
            </a:r>
            <a:endParaRPr lang="en-US" sz="1400" dirty="0">
              <a:solidFill>
                <a:srgbClr val="1E293B"/>
              </a:solidFill>
              <a:cs typeface="Arial"/>
            </a:endParaRPr>
          </a:p>
          <a:p>
            <a:r>
              <a:rPr lang="en-US" sz="1400" dirty="0">
                <a:solidFill>
                  <a:srgbClr val="1E293B"/>
                </a:solidFill>
                <a:ea typeface="+mn-lt"/>
                <a:cs typeface="+mn-lt"/>
              </a:rPr>
              <a:t>Precision        0.6437</a:t>
            </a:r>
            <a:endParaRPr lang="en-US" dirty="0">
              <a:solidFill>
                <a:srgbClr val="1E293B"/>
              </a:solidFill>
              <a:cs typeface="Arial"/>
            </a:endParaRPr>
          </a:p>
          <a:p>
            <a:r>
              <a:rPr lang="en-US" sz="1400" dirty="0">
                <a:solidFill>
                  <a:srgbClr val="1E293B"/>
                </a:solidFill>
                <a:ea typeface="+mn-lt"/>
                <a:cs typeface="+mn-lt"/>
              </a:rPr>
              <a:t>Recall                  0.6737</a:t>
            </a:r>
            <a:endParaRPr lang="en-US" dirty="0">
              <a:cs typeface="Arial"/>
            </a:endParaRPr>
          </a:p>
          <a:p>
            <a:r>
              <a:rPr lang="en-US" sz="1400" dirty="0">
                <a:solidFill>
                  <a:srgbClr val="1E293B"/>
                </a:solidFill>
                <a:ea typeface="+mn-lt"/>
                <a:cs typeface="+mn-lt"/>
              </a:rPr>
              <a:t>F1                      0.6584</a:t>
            </a:r>
            <a:endParaRPr lang="en-US" dirty="0">
              <a:cs typeface="Arial"/>
            </a:endParaRPr>
          </a:p>
          <a:p>
            <a:pPr>
              <a:lnSpc>
                <a:spcPts val="2100"/>
              </a:lnSpc>
            </a:pPr>
            <a:r>
              <a:rPr lang="en-US" sz="1400" dirty="0">
                <a:solidFill>
                  <a:srgbClr val="1E293B"/>
                </a:solidFill>
                <a:ea typeface="+mn-lt"/>
                <a:cs typeface="+mn-lt"/>
              </a:rPr>
              <a:t>AUC                   0.6766</a:t>
            </a:r>
            <a:endParaRPr lang="en-US" dirty="0">
              <a:cs typeface="Arial"/>
            </a:endParaRPr>
          </a:p>
        </p:txBody>
      </p:sp>
      <p:pic>
        <p:nvPicPr>
          <p:cNvPr id="2" name="Picture 1" descr="A blue squares with white text&#10;&#10;AI-generated content may be incorrect.">
            <a:extLst>
              <a:ext uri="{FF2B5EF4-FFF2-40B4-BE49-F238E27FC236}">
                <a16:creationId xmlns:a16="http://schemas.microsoft.com/office/drawing/2014/main" id="{831F19D4-3B23-C700-5609-EAA7044EADA5}"/>
              </a:ext>
            </a:extLst>
          </p:cNvPr>
          <p:cNvPicPr>
            <a:picLocks noChangeAspect="1"/>
          </p:cNvPicPr>
          <p:nvPr/>
        </p:nvPicPr>
        <p:blipFill>
          <a:blip r:embed="rId2"/>
          <a:stretch>
            <a:fillRect/>
          </a:stretch>
        </p:blipFill>
        <p:spPr>
          <a:xfrm>
            <a:off x="3947900" y="1340069"/>
            <a:ext cx="4570219" cy="3704897"/>
          </a:xfrm>
          <a:prstGeom prst="rect">
            <a:avLst/>
          </a:prstGeom>
        </p:spPr>
      </p:pic>
      <p:sp>
        <p:nvSpPr>
          <p:cNvPr id="7" name="Text 9">
            <a:extLst>
              <a:ext uri="{FF2B5EF4-FFF2-40B4-BE49-F238E27FC236}">
                <a16:creationId xmlns:a16="http://schemas.microsoft.com/office/drawing/2014/main" id="{F8FC7996-B369-E941-6938-2753A050CA08}"/>
              </a:ext>
            </a:extLst>
          </p:cNvPr>
          <p:cNvSpPr/>
          <p:nvPr/>
        </p:nvSpPr>
        <p:spPr>
          <a:xfrm>
            <a:off x="459364" y="2874107"/>
            <a:ext cx="2585489" cy="1238843"/>
          </a:xfrm>
          <a:prstGeom prst="rect">
            <a:avLst/>
          </a:prstGeom>
          <a:noFill/>
          <a:ln w="6350">
            <a:noFill/>
          </a:ln>
        </p:spPr>
        <p:txBody>
          <a:bodyPr wrap="square" lIns="66675" tIns="0" rIns="0" bIns="0" rtlCol="0" anchor="t"/>
          <a:lstStyle/>
          <a:p>
            <a:r>
              <a:rPr lang="en-US" sz="1400" b="1" dirty="0">
                <a:solidFill>
                  <a:srgbClr val="1E3A8A"/>
                </a:solidFill>
                <a:cs typeface="Arial"/>
              </a:rPr>
              <a:t>Model size</a:t>
            </a:r>
            <a:endParaRPr lang="en-US" dirty="0"/>
          </a:p>
          <a:p>
            <a:r>
              <a:rPr lang="en-US" sz="1200" dirty="0">
                <a:solidFill>
                  <a:srgbClr val="475569"/>
                </a:solidFill>
                <a:ea typeface="+mn-lt"/>
                <a:cs typeface="+mn-lt"/>
              </a:rPr>
              <a:t>Model dimensions  = 64</a:t>
            </a:r>
            <a:endParaRPr lang="en-US" dirty="0">
              <a:cs typeface="Arial"/>
            </a:endParaRPr>
          </a:p>
          <a:p>
            <a:r>
              <a:rPr lang="en-US" sz="1200" dirty="0">
                <a:solidFill>
                  <a:srgbClr val="475569"/>
                </a:solidFill>
                <a:ea typeface="+mn-lt"/>
                <a:cs typeface="+mn-lt"/>
              </a:rPr>
              <a:t>Feedforward dim    = 256</a:t>
            </a:r>
            <a:endParaRPr lang="en-US" dirty="0">
              <a:cs typeface="Arial"/>
            </a:endParaRPr>
          </a:p>
          <a:p>
            <a:r>
              <a:rPr lang="en-US" sz="1200" dirty="0">
                <a:solidFill>
                  <a:srgbClr val="475569"/>
                </a:solidFill>
                <a:ea typeface="+mn-lt"/>
                <a:cs typeface="+mn-lt"/>
              </a:rPr>
              <a:t>Transformer layers = 2</a:t>
            </a:r>
            <a:endParaRPr lang="en-US" dirty="0">
              <a:cs typeface="Arial"/>
            </a:endParaRPr>
          </a:p>
          <a:p>
            <a:r>
              <a:rPr lang="en-US" sz="1200" dirty="0">
                <a:solidFill>
                  <a:srgbClr val="475569"/>
                </a:solidFill>
                <a:ea typeface="+mn-lt"/>
                <a:cs typeface="+mn-lt"/>
              </a:rPr>
              <a:t>Transformer heads = 4</a:t>
            </a:r>
            <a:endParaRPr lang="en-US" dirty="0">
              <a:cs typeface="Arial"/>
            </a:endParaRPr>
          </a:p>
          <a:p>
            <a:pPr>
              <a:lnSpc>
                <a:spcPts val="1365"/>
              </a:lnSpc>
              <a:spcBef>
                <a:spcPts val="240"/>
              </a:spcBef>
              <a:spcAft>
                <a:spcPts val="300"/>
              </a:spcAft>
            </a:pPr>
            <a:r>
              <a:rPr lang="en-US" sz="1400" dirty="0">
                <a:cs typeface="Arial"/>
              </a:rPr>
              <a:t>~108,000 parameters</a:t>
            </a:r>
          </a:p>
          <a:p>
            <a:pPr marL="61595" indent="-61595">
              <a:lnSpc>
                <a:spcPts val="2100"/>
              </a:lnSpc>
              <a:buFont typeface="Arial"/>
              <a:buChar char="•"/>
            </a:pPr>
            <a:endParaRPr lang="en-US" sz="1400">
              <a:solidFill>
                <a:srgbClr val="1E293B"/>
              </a:solidFill>
              <a:cs typeface="Arial"/>
            </a:endParaRPr>
          </a:p>
        </p:txBody>
      </p:sp>
    </p:spTree>
    <p:extLst>
      <p:ext uri="{BB962C8B-B14F-4D97-AF65-F5344CB8AC3E}">
        <p14:creationId xmlns:p14="http://schemas.microsoft.com/office/powerpoint/2010/main" val="39098358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39316-6F02-A164-2BF1-C9E333C9D11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F8FA988-8DA0-3F42-6C04-8A338C30E54E}"/>
              </a:ext>
            </a:extLst>
          </p:cNvPr>
          <p:cNvSpPr>
            <a:spLocks noGrp="1"/>
          </p:cNvSpPr>
          <p:nvPr>
            <p:ph type="title"/>
          </p:nvPr>
        </p:nvSpPr>
        <p:spPr>
          <a:xfrm>
            <a:off x="457200" y="274638"/>
            <a:ext cx="8223372" cy="546984"/>
          </a:xfrm>
        </p:spPr>
        <p:txBody>
          <a:bodyPr anchor="ctr">
            <a:normAutofit fontScale="90000"/>
          </a:bodyPr>
          <a:lstStyle/>
          <a:p>
            <a:r>
              <a:rPr lang="en-US" sz="3000" dirty="0">
                <a:solidFill>
                  <a:srgbClr val="000000"/>
                </a:solidFill>
                <a:ea typeface="+mj-lt"/>
                <a:cs typeface="+mj-lt"/>
              </a:rPr>
              <a:t>Experimental Results – Large Model</a:t>
            </a:r>
            <a:endParaRPr lang="en-US" sz="3000" dirty="0">
              <a:ea typeface="+mj-lt"/>
              <a:cs typeface="+mj-lt"/>
            </a:endParaRPr>
          </a:p>
        </p:txBody>
      </p:sp>
      <p:sp>
        <p:nvSpPr>
          <p:cNvPr id="4" name="Text 3">
            <a:extLst>
              <a:ext uri="{FF2B5EF4-FFF2-40B4-BE49-F238E27FC236}">
                <a16:creationId xmlns:a16="http://schemas.microsoft.com/office/drawing/2014/main" id="{4DDBCCBE-CFDF-20F9-8C03-705EDAA08F10}"/>
              </a:ext>
            </a:extLst>
          </p:cNvPr>
          <p:cNvSpPr/>
          <p:nvPr/>
        </p:nvSpPr>
        <p:spPr>
          <a:xfrm>
            <a:off x="457716" y="1121392"/>
            <a:ext cx="1709928" cy="211634"/>
          </a:xfrm>
          <a:prstGeom prst="rect">
            <a:avLst/>
          </a:prstGeom>
          <a:noFill/>
          <a:ln/>
        </p:spPr>
        <p:txBody>
          <a:bodyPr wrap="square" lIns="0" tIns="0" rIns="0" bIns="0" rtlCol="0" anchor="t"/>
          <a:lstStyle/>
          <a:p>
            <a:pPr marL="0" indent="0" algn="l">
              <a:lnSpc>
                <a:spcPts val="1667"/>
              </a:lnSpc>
              <a:spcAft>
                <a:spcPts val="720"/>
              </a:spcAft>
              <a:buNone/>
            </a:pPr>
            <a:r>
              <a:rPr lang="en-US" sz="1500" b="1">
                <a:solidFill>
                  <a:srgbClr val="1E3A8A"/>
                </a:solidFill>
                <a:latin typeface="Arial" pitchFamily="34" charset="0"/>
                <a:ea typeface="Arial" pitchFamily="34" charset="-122"/>
                <a:cs typeface="Arial" pitchFamily="34" charset="-120"/>
              </a:rPr>
              <a:t>Dataset &amp; Training</a:t>
            </a:r>
            <a:endParaRPr lang="en-US" sz="1500"/>
          </a:p>
        </p:txBody>
      </p:sp>
      <p:sp>
        <p:nvSpPr>
          <p:cNvPr id="36" name="Text 16">
            <a:extLst>
              <a:ext uri="{FF2B5EF4-FFF2-40B4-BE49-F238E27FC236}">
                <a16:creationId xmlns:a16="http://schemas.microsoft.com/office/drawing/2014/main" id="{AFA57A8C-2EE0-A8BB-A7E2-8135E53D646C}"/>
              </a:ext>
            </a:extLst>
          </p:cNvPr>
          <p:cNvSpPr/>
          <p:nvPr/>
        </p:nvSpPr>
        <p:spPr>
          <a:xfrm>
            <a:off x="3631751" y="1128672"/>
            <a:ext cx="5206970" cy="205373"/>
          </a:xfrm>
          <a:prstGeom prst="rect">
            <a:avLst/>
          </a:prstGeom>
          <a:noFill/>
          <a:ln/>
        </p:spPr>
        <p:txBody>
          <a:bodyPr wrap="square" lIns="0" tIns="0" rIns="0" bIns="0" rtlCol="0" anchor="t"/>
          <a:lstStyle/>
          <a:p>
            <a:pPr algn="ctr">
              <a:lnSpc>
                <a:spcPts val="1667"/>
              </a:lnSpc>
              <a:spcAft>
                <a:spcPts val="720"/>
              </a:spcAft>
            </a:pPr>
            <a:r>
              <a:rPr lang="en-US" sz="1500" b="1">
                <a:solidFill>
                  <a:srgbClr val="1E3A8A"/>
                </a:solidFill>
                <a:cs typeface="Arial"/>
              </a:rPr>
              <a:t>Test Set Performance</a:t>
            </a:r>
            <a:endParaRPr lang="en-US"/>
          </a:p>
        </p:txBody>
      </p:sp>
      <p:sp>
        <p:nvSpPr>
          <p:cNvPr id="10" name="Text 9">
            <a:extLst>
              <a:ext uri="{FF2B5EF4-FFF2-40B4-BE49-F238E27FC236}">
                <a16:creationId xmlns:a16="http://schemas.microsoft.com/office/drawing/2014/main" id="{FD0FBA3C-3788-2576-B384-712136F3CEF1}"/>
              </a:ext>
            </a:extLst>
          </p:cNvPr>
          <p:cNvSpPr/>
          <p:nvPr/>
        </p:nvSpPr>
        <p:spPr>
          <a:xfrm>
            <a:off x="459364" y="1345453"/>
            <a:ext cx="2788188" cy="765054"/>
          </a:xfrm>
          <a:prstGeom prst="rect">
            <a:avLst/>
          </a:prstGeom>
          <a:noFill/>
          <a:ln w="6350">
            <a:noFill/>
          </a:ln>
        </p:spPr>
        <p:txBody>
          <a:bodyPr wrap="square" lIns="66675" tIns="0" rIns="0" bIns="0" rtlCol="0" anchor="t"/>
          <a:lstStyle/>
          <a:p>
            <a:pPr>
              <a:lnSpc>
                <a:spcPts val="1470"/>
              </a:lnSpc>
              <a:spcBef>
                <a:spcPts val="300"/>
              </a:spcBef>
              <a:spcAft>
                <a:spcPts val="300"/>
              </a:spcAft>
            </a:pPr>
            <a:endParaRPr lang="en-US" sz="1100">
              <a:solidFill>
                <a:srgbClr val="1E3A8A"/>
              </a:solidFill>
              <a:latin typeface="Arial"/>
              <a:cs typeface="Arial"/>
            </a:endParaRPr>
          </a:p>
          <a:p>
            <a:pPr>
              <a:lnSpc>
                <a:spcPts val="1470"/>
              </a:lnSpc>
              <a:spcBef>
                <a:spcPts val="300"/>
              </a:spcBef>
              <a:spcAft>
                <a:spcPts val="300"/>
              </a:spcAft>
            </a:pPr>
            <a:r>
              <a:rPr lang="en-US" sz="1400" b="1" dirty="0">
                <a:solidFill>
                  <a:srgbClr val="1E3A8A"/>
                </a:solidFill>
                <a:latin typeface="Arial"/>
                <a:cs typeface="Arial"/>
              </a:rPr>
              <a:t>Training Data</a:t>
            </a:r>
            <a:endParaRPr lang="en-US" sz="1400" dirty="0">
              <a:cs typeface="Arial"/>
            </a:endParaRPr>
          </a:p>
          <a:p>
            <a:pPr>
              <a:lnSpc>
                <a:spcPts val="1365"/>
              </a:lnSpc>
              <a:spcBef>
                <a:spcPts val="240"/>
              </a:spcBef>
              <a:spcAft>
                <a:spcPts val="300"/>
              </a:spcAft>
            </a:pPr>
            <a:r>
              <a:rPr lang="en-US" sz="1200" dirty="0">
                <a:solidFill>
                  <a:srgbClr val="475569"/>
                </a:solidFill>
                <a:latin typeface="Arial"/>
                <a:cs typeface="Arial"/>
              </a:rPr>
              <a:t>10500 samples</a:t>
            </a:r>
            <a:endParaRPr lang="en-US" dirty="0"/>
          </a:p>
          <a:p>
            <a:pPr>
              <a:lnSpc>
                <a:spcPts val="1365"/>
              </a:lnSpc>
              <a:spcBef>
                <a:spcPts val="240"/>
              </a:spcBef>
              <a:spcAft>
                <a:spcPts val="300"/>
              </a:spcAft>
            </a:pPr>
            <a:endParaRPr lang="en-US" sz="1200" dirty="0">
              <a:solidFill>
                <a:schemeClr val="tx2">
                  <a:lumMod val="76000"/>
                </a:schemeClr>
              </a:solidFill>
              <a:cs typeface="Arial"/>
            </a:endParaRPr>
          </a:p>
        </p:txBody>
      </p:sp>
      <p:sp>
        <p:nvSpPr>
          <p:cNvPr id="12" name="Text 9">
            <a:extLst>
              <a:ext uri="{FF2B5EF4-FFF2-40B4-BE49-F238E27FC236}">
                <a16:creationId xmlns:a16="http://schemas.microsoft.com/office/drawing/2014/main" id="{809F2D1D-DFEE-FE8F-B90C-9EB4B68A3D37}"/>
              </a:ext>
            </a:extLst>
          </p:cNvPr>
          <p:cNvSpPr/>
          <p:nvPr/>
        </p:nvSpPr>
        <p:spPr>
          <a:xfrm>
            <a:off x="459364" y="2255571"/>
            <a:ext cx="2585489" cy="466405"/>
          </a:xfrm>
          <a:prstGeom prst="rect">
            <a:avLst/>
          </a:prstGeom>
          <a:noFill/>
          <a:ln w="6350">
            <a:noFill/>
          </a:ln>
        </p:spPr>
        <p:txBody>
          <a:bodyPr wrap="square" lIns="66675" tIns="0" rIns="0" bIns="0" rtlCol="0" anchor="t"/>
          <a:lstStyle/>
          <a:p>
            <a:r>
              <a:rPr lang="en-US" sz="1400" b="1" dirty="0">
                <a:solidFill>
                  <a:srgbClr val="1E3A8A"/>
                </a:solidFill>
                <a:cs typeface="Arial"/>
              </a:rPr>
              <a:t>Test Data</a:t>
            </a:r>
            <a:endParaRPr lang="en-US">
              <a:solidFill>
                <a:srgbClr val="000000"/>
              </a:solidFill>
              <a:cs typeface="Arial"/>
            </a:endParaRPr>
          </a:p>
          <a:p>
            <a:pPr>
              <a:lnSpc>
                <a:spcPts val="1365"/>
              </a:lnSpc>
              <a:spcBef>
                <a:spcPts val="240"/>
              </a:spcBef>
              <a:spcAft>
                <a:spcPts val="300"/>
              </a:spcAft>
            </a:pPr>
            <a:r>
              <a:rPr lang="en-US" sz="1200" dirty="0">
                <a:solidFill>
                  <a:srgbClr val="475569"/>
                </a:solidFill>
                <a:cs typeface="Arial"/>
              </a:rPr>
              <a:t>450 samples</a:t>
            </a:r>
            <a:endParaRPr lang="en-US" sz="1200" dirty="0">
              <a:solidFill>
                <a:srgbClr val="1E3A8A"/>
              </a:solidFill>
              <a:cs typeface="Arial"/>
            </a:endParaRPr>
          </a:p>
          <a:p>
            <a:pPr marL="61595" indent="-61595">
              <a:lnSpc>
                <a:spcPts val="2100"/>
              </a:lnSpc>
              <a:buFont typeface="Arial"/>
              <a:buChar char="•"/>
            </a:pPr>
            <a:endParaRPr lang="en-US" sz="1400">
              <a:solidFill>
                <a:srgbClr val="1E293B"/>
              </a:solidFill>
              <a:cs typeface="Arial"/>
            </a:endParaRPr>
          </a:p>
        </p:txBody>
      </p:sp>
      <p:sp>
        <p:nvSpPr>
          <p:cNvPr id="14" name="Text 9">
            <a:extLst>
              <a:ext uri="{FF2B5EF4-FFF2-40B4-BE49-F238E27FC236}">
                <a16:creationId xmlns:a16="http://schemas.microsoft.com/office/drawing/2014/main" id="{DD25A133-8A30-1D03-7824-73B419072DE9}"/>
              </a:ext>
            </a:extLst>
          </p:cNvPr>
          <p:cNvSpPr/>
          <p:nvPr/>
        </p:nvSpPr>
        <p:spPr>
          <a:xfrm>
            <a:off x="459364" y="4321957"/>
            <a:ext cx="2782022" cy="1447189"/>
          </a:xfrm>
          <a:prstGeom prst="rect">
            <a:avLst/>
          </a:prstGeom>
          <a:noFill/>
          <a:ln w="6350">
            <a:noFill/>
          </a:ln>
        </p:spPr>
        <p:txBody>
          <a:bodyPr wrap="square" lIns="66675" tIns="0" rIns="0" bIns="0" rtlCol="0" anchor="t"/>
          <a:lstStyle/>
          <a:p>
            <a:pPr>
              <a:lnSpc>
                <a:spcPts val="1470"/>
              </a:lnSpc>
              <a:spcBef>
                <a:spcPts val="300"/>
              </a:spcBef>
              <a:spcAft>
                <a:spcPts val="300"/>
              </a:spcAft>
            </a:pPr>
            <a:r>
              <a:rPr lang="en-US" sz="1400" b="1" dirty="0">
                <a:solidFill>
                  <a:srgbClr val="1E3A8A"/>
                </a:solidFill>
                <a:cs typeface="Arial"/>
              </a:rPr>
              <a:t>Result Metrics</a:t>
            </a:r>
            <a:endParaRPr lang="en-US" sz="1400" dirty="0">
              <a:solidFill>
                <a:srgbClr val="1E3A8A"/>
              </a:solidFill>
              <a:cs typeface="Arial"/>
            </a:endParaRPr>
          </a:p>
          <a:p>
            <a:r>
              <a:rPr lang="en-US" sz="1400" dirty="0">
                <a:solidFill>
                  <a:srgbClr val="1E293B"/>
                </a:solidFill>
                <a:latin typeface="Arial"/>
                <a:ea typeface="+mn-lt"/>
                <a:cs typeface="+mn-lt"/>
              </a:rPr>
              <a:t>Accuracy         0.6022  (-0.03)
Precision         0.5756  (-0.07)
Recall              0.9195  (+0.25)
F1                   0.7080   (+0.05)
AUC                0.6658   (-0.01)</a:t>
            </a:r>
            <a:endParaRPr lang="en-US" dirty="0">
              <a:latin typeface="Arial"/>
              <a:cs typeface="Arial"/>
            </a:endParaRPr>
          </a:p>
        </p:txBody>
      </p:sp>
      <p:pic>
        <p:nvPicPr>
          <p:cNvPr id="2" name="Picture 1" descr="A blue squares with white text&#10;&#10;AI-generated content may be incorrect.">
            <a:extLst>
              <a:ext uri="{FF2B5EF4-FFF2-40B4-BE49-F238E27FC236}">
                <a16:creationId xmlns:a16="http://schemas.microsoft.com/office/drawing/2014/main" id="{0F4AE527-CAA6-6842-CA0C-D9A24408AAF2}"/>
              </a:ext>
            </a:extLst>
          </p:cNvPr>
          <p:cNvPicPr>
            <a:picLocks noChangeAspect="1"/>
          </p:cNvPicPr>
          <p:nvPr/>
        </p:nvPicPr>
        <p:blipFill>
          <a:blip r:embed="rId2"/>
          <a:stretch>
            <a:fillRect/>
          </a:stretch>
        </p:blipFill>
        <p:spPr>
          <a:xfrm>
            <a:off x="3947900" y="1340069"/>
            <a:ext cx="4570219" cy="3704897"/>
          </a:xfrm>
          <a:prstGeom prst="rect">
            <a:avLst/>
          </a:prstGeom>
        </p:spPr>
      </p:pic>
      <p:sp>
        <p:nvSpPr>
          <p:cNvPr id="3" name="Text 9">
            <a:extLst>
              <a:ext uri="{FF2B5EF4-FFF2-40B4-BE49-F238E27FC236}">
                <a16:creationId xmlns:a16="http://schemas.microsoft.com/office/drawing/2014/main" id="{4B474CF1-E9FF-3079-0D38-6CC58BA14367}"/>
              </a:ext>
            </a:extLst>
          </p:cNvPr>
          <p:cNvSpPr/>
          <p:nvPr/>
        </p:nvSpPr>
        <p:spPr>
          <a:xfrm>
            <a:off x="459364" y="2863669"/>
            <a:ext cx="2585489" cy="1238843"/>
          </a:xfrm>
          <a:prstGeom prst="rect">
            <a:avLst/>
          </a:prstGeom>
          <a:noFill/>
          <a:ln w="6350">
            <a:noFill/>
          </a:ln>
        </p:spPr>
        <p:txBody>
          <a:bodyPr wrap="square" lIns="66675" tIns="0" rIns="0" bIns="0" rtlCol="0" anchor="t"/>
          <a:lstStyle/>
          <a:p>
            <a:r>
              <a:rPr lang="en-US" sz="1400" b="1" dirty="0">
                <a:solidFill>
                  <a:srgbClr val="1E3A8A"/>
                </a:solidFill>
                <a:cs typeface="Arial"/>
              </a:rPr>
              <a:t>Model size</a:t>
            </a:r>
            <a:endParaRPr lang="en-US" dirty="0"/>
          </a:p>
          <a:p>
            <a:r>
              <a:rPr lang="en-US" sz="1200" dirty="0">
                <a:solidFill>
                  <a:srgbClr val="475569"/>
                </a:solidFill>
                <a:cs typeface="Arial"/>
              </a:rPr>
              <a:t>Model dimensions  = 192</a:t>
            </a:r>
          </a:p>
          <a:p>
            <a:r>
              <a:rPr lang="en-US" sz="1200" dirty="0">
                <a:solidFill>
                  <a:srgbClr val="475569"/>
                </a:solidFill>
                <a:cs typeface="Arial"/>
              </a:rPr>
              <a:t>Feedforward dim    = 768</a:t>
            </a:r>
          </a:p>
          <a:p>
            <a:r>
              <a:rPr lang="en-US" sz="1200" dirty="0">
                <a:solidFill>
                  <a:srgbClr val="475569"/>
                </a:solidFill>
                <a:cs typeface="Arial"/>
              </a:rPr>
              <a:t>Transformer layers = 4</a:t>
            </a:r>
          </a:p>
          <a:p>
            <a:r>
              <a:rPr lang="en-US" sz="1200" dirty="0">
                <a:solidFill>
                  <a:srgbClr val="475569"/>
                </a:solidFill>
                <a:cs typeface="Arial"/>
              </a:rPr>
              <a:t>Transformer heads = 4</a:t>
            </a:r>
            <a:endParaRPr lang="en-US" dirty="0"/>
          </a:p>
          <a:p>
            <a:pPr>
              <a:lnSpc>
                <a:spcPts val="1365"/>
              </a:lnSpc>
              <a:spcBef>
                <a:spcPts val="240"/>
              </a:spcBef>
              <a:spcAft>
                <a:spcPts val="300"/>
              </a:spcAft>
            </a:pPr>
            <a:r>
              <a:rPr lang="en-US" sz="1400" dirty="0">
                <a:latin typeface="Arial"/>
                <a:cs typeface="Arial"/>
              </a:rPr>
              <a:t>1,460,578 </a:t>
            </a:r>
            <a:r>
              <a:rPr lang="en-US" sz="1400" dirty="0">
                <a:cs typeface="Arial"/>
              </a:rPr>
              <a:t>parameters</a:t>
            </a:r>
            <a:endParaRPr lang="en-US" sz="1400">
              <a:cs typeface="Arial"/>
            </a:endParaRPr>
          </a:p>
          <a:p>
            <a:pPr marL="61595" indent="-61595">
              <a:lnSpc>
                <a:spcPts val="2100"/>
              </a:lnSpc>
              <a:buFont typeface="Arial"/>
              <a:buChar char="•"/>
            </a:pPr>
            <a:endParaRPr lang="en-US" sz="1400">
              <a:solidFill>
                <a:srgbClr val="1E293B"/>
              </a:solidFill>
              <a:cs typeface="Arial"/>
            </a:endParaRPr>
          </a:p>
        </p:txBody>
      </p:sp>
      <p:pic>
        <p:nvPicPr>
          <p:cNvPr id="5" name="Picture 4" descr="A blue squares with white text&#10;&#10;AI-generated content may be incorrect.">
            <a:extLst>
              <a:ext uri="{FF2B5EF4-FFF2-40B4-BE49-F238E27FC236}">
                <a16:creationId xmlns:a16="http://schemas.microsoft.com/office/drawing/2014/main" id="{39A9FB2E-D4F3-61BC-F571-BE5C3532094A}"/>
              </a:ext>
            </a:extLst>
          </p:cNvPr>
          <p:cNvPicPr>
            <a:picLocks noChangeAspect="1"/>
          </p:cNvPicPr>
          <p:nvPr/>
        </p:nvPicPr>
        <p:blipFill>
          <a:blip r:embed="rId3"/>
          <a:stretch>
            <a:fillRect/>
          </a:stretch>
        </p:blipFill>
        <p:spPr>
          <a:xfrm>
            <a:off x="3942755" y="1346547"/>
            <a:ext cx="4588326" cy="3705617"/>
          </a:xfrm>
          <a:prstGeom prst="rect">
            <a:avLst/>
          </a:prstGeom>
        </p:spPr>
      </p:pic>
    </p:spTree>
    <p:extLst>
      <p:ext uri="{BB962C8B-B14F-4D97-AF65-F5344CB8AC3E}">
        <p14:creationId xmlns:p14="http://schemas.microsoft.com/office/powerpoint/2010/main" val="17002737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8880D-AA9D-E280-CCC0-3FB5ED4F2BD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D16016F-ED21-401E-0ED6-55ED7B480B43}"/>
              </a:ext>
            </a:extLst>
          </p:cNvPr>
          <p:cNvSpPr>
            <a:spLocks noGrp="1"/>
          </p:cNvSpPr>
          <p:nvPr>
            <p:ph type="title"/>
          </p:nvPr>
        </p:nvSpPr>
        <p:spPr>
          <a:xfrm>
            <a:off x="457200" y="274638"/>
            <a:ext cx="8223372" cy="546984"/>
          </a:xfrm>
        </p:spPr>
        <p:txBody>
          <a:bodyPr anchor="ctr">
            <a:normAutofit fontScale="90000"/>
          </a:bodyPr>
          <a:lstStyle/>
          <a:p>
            <a:r>
              <a:rPr lang="en-US" sz="3000" dirty="0">
                <a:solidFill>
                  <a:srgbClr val="000000"/>
                </a:solidFill>
                <a:ea typeface="+mj-lt"/>
                <a:cs typeface="+mj-lt"/>
              </a:rPr>
              <a:t>Is the model transferable?</a:t>
            </a:r>
            <a:endParaRPr lang="en-US" dirty="0"/>
          </a:p>
        </p:txBody>
      </p:sp>
      <p:sp>
        <p:nvSpPr>
          <p:cNvPr id="36" name="Text 16">
            <a:extLst>
              <a:ext uri="{FF2B5EF4-FFF2-40B4-BE49-F238E27FC236}">
                <a16:creationId xmlns:a16="http://schemas.microsoft.com/office/drawing/2014/main" id="{31227636-A52C-B06C-360A-25D693E87DF7}"/>
              </a:ext>
            </a:extLst>
          </p:cNvPr>
          <p:cNvSpPr/>
          <p:nvPr/>
        </p:nvSpPr>
        <p:spPr>
          <a:xfrm>
            <a:off x="3652723" y="1516663"/>
            <a:ext cx="5206970" cy="205373"/>
          </a:xfrm>
          <a:prstGeom prst="rect">
            <a:avLst/>
          </a:prstGeom>
          <a:noFill/>
          <a:ln/>
        </p:spPr>
        <p:txBody>
          <a:bodyPr wrap="square" lIns="0" tIns="0" rIns="0" bIns="0" rtlCol="0" anchor="t"/>
          <a:lstStyle/>
          <a:p>
            <a:pPr algn="ctr">
              <a:lnSpc>
                <a:spcPts val="1667"/>
              </a:lnSpc>
              <a:spcAft>
                <a:spcPts val="720"/>
              </a:spcAft>
            </a:pPr>
            <a:r>
              <a:rPr lang="en-US" sz="1500" b="1">
                <a:solidFill>
                  <a:srgbClr val="1E3A8A"/>
                </a:solidFill>
                <a:cs typeface="Arial"/>
              </a:rPr>
              <a:t>Test Set Performance</a:t>
            </a:r>
            <a:endParaRPr lang="en-US"/>
          </a:p>
        </p:txBody>
      </p:sp>
      <p:sp>
        <p:nvSpPr>
          <p:cNvPr id="12" name="Text 9">
            <a:extLst>
              <a:ext uri="{FF2B5EF4-FFF2-40B4-BE49-F238E27FC236}">
                <a16:creationId xmlns:a16="http://schemas.microsoft.com/office/drawing/2014/main" id="{3EDBBADE-C201-E5AA-445E-6327B207CD1E}"/>
              </a:ext>
            </a:extLst>
          </p:cNvPr>
          <p:cNvSpPr/>
          <p:nvPr/>
        </p:nvSpPr>
        <p:spPr>
          <a:xfrm>
            <a:off x="459364" y="2570159"/>
            <a:ext cx="2784727" cy="980229"/>
          </a:xfrm>
          <a:prstGeom prst="rect">
            <a:avLst/>
          </a:prstGeom>
          <a:noFill/>
          <a:ln w="6350">
            <a:noFill/>
          </a:ln>
        </p:spPr>
        <p:txBody>
          <a:bodyPr wrap="square" lIns="66675" tIns="0" rIns="0" bIns="0" rtlCol="0" anchor="t"/>
          <a:lstStyle/>
          <a:p>
            <a:r>
              <a:rPr lang="en-US" sz="1400" b="1" dirty="0">
                <a:solidFill>
                  <a:srgbClr val="1E3A8A"/>
                </a:solidFill>
                <a:cs typeface="Arial"/>
              </a:rPr>
              <a:t>Test Data</a:t>
            </a:r>
            <a:endParaRPr lang="en-US" dirty="0">
              <a:solidFill>
                <a:srgbClr val="000000"/>
              </a:solidFill>
              <a:cs typeface="Arial"/>
            </a:endParaRPr>
          </a:p>
          <a:p>
            <a:pPr>
              <a:lnSpc>
                <a:spcPts val="1365"/>
              </a:lnSpc>
              <a:spcBef>
                <a:spcPts val="240"/>
              </a:spcBef>
              <a:spcAft>
                <a:spcPts val="300"/>
              </a:spcAft>
            </a:pPr>
            <a:r>
              <a:rPr lang="en-US" sz="1200" dirty="0">
                <a:solidFill>
                  <a:srgbClr val="475569"/>
                </a:solidFill>
                <a:cs typeface="Arial"/>
              </a:rPr>
              <a:t>From Kepler mission</a:t>
            </a:r>
            <a:endParaRPr lang="en-US" sz="1200" dirty="0">
              <a:solidFill>
                <a:srgbClr val="1E3A8A"/>
              </a:solidFill>
              <a:cs typeface="Arial"/>
            </a:endParaRPr>
          </a:p>
          <a:p>
            <a:pPr>
              <a:lnSpc>
                <a:spcPts val="1365"/>
              </a:lnSpc>
              <a:spcBef>
                <a:spcPts val="240"/>
              </a:spcBef>
              <a:spcAft>
                <a:spcPts val="300"/>
              </a:spcAft>
            </a:pPr>
            <a:r>
              <a:rPr lang="en-US" sz="1200" dirty="0">
                <a:solidFill>
                  <a:srgbClr val="475569"/>
                </a:solidFill>
                <a:cs typeface="Arial"/>
              </a:rPr>
              <a:t>Applied to model trained on TESS</a:t>
            </a:r>
          </a:p>
          <a:p>
            <a:pPr>
              <a:lnSpc>
                <a:spcPts val="1365"/>
              </a:lnSpc>
              <a:spcBef>
                <a:spcPts val="240"/>
              </a:spcBef>
              <a:spcAft>
                <a:spcPts val="300"/>
              </a:spcAft>
            </a:pPr>
            <a:r>
              <a:rPr lang="en-US" sz="1200" dirty="0">
                <a:solidFill>
                  <a:srgbClr val="475569"/>
                </a:solidFill>
                <a:cs typeface="Arial"/>
              </a:rPr>
              <a:t>10,160 samples of Kepler light curves</a:t>
            </a:r>
            <a:endParaRPr lang="en-US" sz="1200" dirty="0">
              <a:solidFill>
                <a:srgbClr val="1E3A8A"/>
              </a:solidFill>
              <a:cs typeface="Arial"/>
            </a:endParaRPr>
          </a:p>
          <a:p>
            <a:pPr marL="61595" indent="-61595">
              <a:lnSpc>
                <a:spcPts val="2100"/>
              </a:lnSpc>
              <a:buFont typeface="Arial"/>
              <a:buChar char="•"/>
            </a:pPr>
            <a:endParaRPr lang="en-US" sz="1400">
              <a:solidFill>
                <a:srgbClr val="1E293B"/>
              </a:solidFill>
              <a:cs typeface="Arial"/>
            </a:endParaRPr>
          </a:p>
        </p:txBody>
      </p:sp>
      <p:sp>
        <p:nvSpPr>
          <p:cNvPr id="14" name="Text 9">
            <a:extLst>
              <a:ext uri="{FF2B5EF4-FFF2-40B4-BE49-F238E27FC236}">
                <a16:creationId xmlns:a16="http://schemas.microsoft.com/office/drawing/2014/main" id="{7CE600E9-984B-D88F-38DD-BD60DA704094}"/>
              </a:ext>
            </a:extLst>
          </p:cNvPr>
          <p:cNvSpPr/>
          <p:nvPr/>
        </p:nvSpPr>
        <p:spPr>
          <a:xfrm>
            <a:off x="459364" y="4321957"/>
            <a:ext cx="2782022" cy="1447189"/>
          </a:xfrm>
          <a:prstGeom prst="rect">
            <a:avLst/>
          </a:prstGeom>
          <a:noFill/>
          <a:ln w="6350">
            <a:noFill/>
          </a:ln>
        </p:spPr>
        <p:txBody>
          <a:bodyPr wrap="square" lIns="66675" tIns="0" rIns="0" bIns="0" rtlCol="0" anchor="t"/>
          <a:lstStyle/>
          <a:p>
            <a:pPr>
              <a:lnSpc>
                <a:spcPts val="1470"/>
              </a:lnSpc>
              <a:spcBef>
                <a:spcPts val="300"/>
              </a:spcBef>
              <a:spcAft>
                <a:spcPts val="300"/>
              </a:spcAft>
            </a:pPr>
            <a:r>
              <a:rPr lang="en-US" sz="1400" b="1" dirty="0">
                <a:solidFill>
                  <a:srgbClr val="1E3A8A"/>
                </a:solidFill>
                <a:cs typeface="Arial"/>
              </a:rPr>
              <a:t>Result Metrics</a:t>
            </a:r>
            <a:endParaRPr lang="en-US" sz="1400" dirty="0">
              <a:solidFill>
                <a:srgbClr val="1E3A8A"/>
              </a:solidFill>
              <a:cs typeface="Arial"/>
            </a:endParaRPr>
          </a:p>
          <a:p>
            <a:r>
              <a:rPr lang="en-US" sz="1400" dirty="0">
                <a:solidFill>
                  <a:srgbClr val="1E293B"/>
                </a:solidFill>
                <a:ea typeface="+mn-lt"/>
                <a:cs typeface="+mn-lt"/>
              </a:rPr>
              <a:t>Accuracy            0.4990</a:t>
            </a:r>
            <a:endParaRPr lang="en-US" dirty="0"/>
          </a:p>
          <a:p>
            <a:r>
              <a:rPr lang="en-US" sz="1400" dirty="0">
                <a:solidFill>
                  <a:srgbClr val="1E293B"/>
                </a:solidFill>
                <a:ea typeface="+mn-lt"/>
                <a:cs typeface="+mn-lt"/>
              </a:rPr>
              <a:t>Precision            0.6000</a:t>
            </a:r>
            <a:endParaRPr lang="en-US" dirty="0"/>
          </a:p>
          <a:p>
            <a:r>
              <a:rPr lang="en-US" sz="1400" dirty="0">
                <a:solidFill>
                  <a:srgbClr val="1E293B"/>
                </a:solidFill>
                <a:ea typeface="+mn-lt"/>
                <a:cs typeface="+mn-lt"/>
              </a:rPr>
              <a:t>AUC                   0.5520</a:t>
            </a:r>
            <a:endParaRPr lang="en-US" dirty="0"/>
          </a:p>
        </p:txBody>
      </p:sp>
      <p:sp>
        <p:nvSpPr>
          <p:cNvPr id="5" name="Text 9">
            <a:extLst>
              <a:ext uri="{FF2B5EF4-FFF2-40B4-BE49-F238E27FC236}">
                <a16:creationId xmlns:a16="http://schemas.microsoft.com/office/drawing/2014/main" id="{AA71DF7B-1427-FC1B-6259-F0E16A50F754}"/>
              </a:ext>
            </a:extLst>
          </p:cNvPr>
          <p:cNvSpPr/>
          <p:nvPr/>
        </p:nvSpPr>
        <p:spPr>
          <a:xfrm>
            <a:off x="459364" y="1343269"/>
            <a:ext cx="2784727" cy="980229"/>
          </a:xfrm>
          <a:prstGeom prst="rect">
            <a:avLst/>
          </a:prstGeom>
          <a:noFill/>
          <a:ln w="6350">
            <a:noFill/>
          </a:ln>
        </p:spPr>
        <p:txBody>
          <a:bodyPr wrap="square" lIns="66675" tIns="0" rIns="0" bIns="0" rtlCol="0" anchor="t"/>
          <a:lstStyle/>
          <a:p>
            <a:r>
              <a:rPr lang="en-US" sz="1400" b="1" dirty="0">
                <a:solidFill>
                  <a:srgbClr val="1E3A8A"/>
                </a:solidFill>
                <a:cs typeface="Arial"/>
              </a:rPr>
              <a:t>Short answer, absolutely not</a:t>
            </a:r>
          </a:p>
          <a:p>
            <a:pPr marL="61595" indent="-61595">
              <a:lnSpc>
                <a:spcPts val="2100"/>
              </a:lnSpc>
              <a:buFont typeface="Arial"/>
              <a:buChar char="•"/>
            </a:pPr>
            <a:endParaRPr lang="en-US" sz="1400">
              <a:solidFill>
                <a:srgbClr val="1E293B"/>
              </a:solidFill>
              <a:cs typeface="Arial"/>
            </a:endParaRPr>
          </a:p>
        </p:txBody>
      </p:sp>
      <p:pic>
        <p:nvPicPr>
          <p:cNvPr id="7" name="Picture 6" descr="A screenshot of a graph&#10;&#10;AI-generated content may be incorrect.">
            <a:extLst>
              <a:ext uri="{FF2B5EF4-FFF2-40B4-BE49-F238E27FC236}">
                <a16:creationId xmlns:a16="http://schemas.microsoft.com/office/drawing/2014/main" id="{8F27E3C0-7B1B-008B-61DA-0C7125DDB279}"/>
              </a:ext>
            </a:extLst>
          </p:cNvPr>
          <p:cNvPicPr>
            <a:picLocks noChangeAspect="1"/>
          </p:cNvPicPr>
          <p:nvPr/>
        </p:nvPicPr>
        <p:blipFill>
          <a:blip r:embed="rId2"/>
          <a:stretch>
            <a:fillRect/>
          </a:stretch>
        </p:blipFill>
        <p:spPr>
          <a:xfrm>
            <a:off x="4144905" y="1834611"/>
            <a:ext cx="4524375" cy="3419475"/>
          </a:xfrm>
          <a:prstGeom prst="rect">
            <a:avLst/>
          </a:prstGeom>
        </p:spPr>
      </p:pic>
    </p:spTree>
    <p:extLst>
      <p:ext uri="{BB962C8B-B14F-4D97-AF65-F5344CB8AC3E}">
        <p14:creationId xmlns:p14="http://schemas.microsoft.com/office/powerpoint/2010/main" val="9837555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13709-8EA0-F881-414B-43132B1364A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E4E034-E91F-CEF8-76C0-88A99C20E102}"/>
              </a:ext>
            </a:extLst>
          </p:cNvPr>
          <p:cNvSpPr>
            <a:spLocks noGrp="1"/>
          </p:cNvSpPr>
          <p:nvPr>
            <p:ph type="title"/>
          </p:nvPr>
        </p:nvSpPr>
        <p:spPr>
          <a:xfrm>
            <a:off x="457200" y="274638"/>
            <a:ext cx="8223372" cy="546984"/>
          </a:xfrm>
        </p:spPr>
        <p:txBody>
          <a:bodyPr anchor="ctr">
            <a:normAutofit fontScale="90000"/>
          </a:bodyPr>
          <a:lstStyle/>
          <a:p>
            <a:r>
              <a:rPr lang="en-US" sz="3000">
                <a:solidFill>
                  <a:srgbClr val="000000"/>
                </a:solidFill>
                <a:ea typeface="+mj-lt"/>
                <a:cs typeface="+mj-lt"/>
              </a:rPr>
              <a:t>Demo</a:t>
            </a:r>
            <a:endParaRPr lang="en-US" sz="3000">
              <a:ea typeface="+mj-lt"/>
              <a:cs typeface="+mj-lt"/>
            </a:endParaRPr>
          </a:p>
        </p:txBody>
      </p:sp>
      <p:pic>
        <p:nvPicPr>
          <p:cNvPr id="3" name="Screencast from 12-11-2025 12_48_04 AM (online-video-cutter.com)">
            <a:hlinkClick r:id="" action="ppaction://media"/>
            <a:extLst>
              <a:ext uri="{FF2B5EF4-FFF2-40B4-BE49-F238E27FC236}">
                <a16:creationId xmlns:a16="http://schemas.microsoft.com/office/drawing/2014/main" id="{3CBD29B5-03A1-B073-F52F-0772291B8419}"/>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206587" y="831936"/>
            <a:ext cx="6730827" cy="5256757"/>
          </a:xfrm>
          <a:prstGeom prst="rect">
            <a:avLst/>
          </a:prstGeom>
        </p:spPr>
      </p:pic>
    </p:spTree>
    <p:extLst>
      <p:ext uri="{BB962C8B-B14F-4D97-AF65-F5344CB8AC3E}">
        <p14:creationId xmlns:p14="http://schemas.microsoft.com/office/powerpoint/2010/main" val="1741557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uccs-powerpoint-template-2014-cobrande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aed9747a-cf76-43d3-9b8d-a27e657ee17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5668813CFEF6E47A797800F728206B7" ma:contentTypeVersion="13" ma:contentTypeDescription="Create a new document." ma:contentTypeScope="" ma:versionID="d3d3bd070181dbaaa82f6af26cb54d1f">
  <xsd:schema xmlns:xsd="http://www.w3.org/2001/XMLSchema" xmlns:xs="http://www.w3.org/2001/XMLSchema" xmlns:p="http://schemas.microsoft.com/office/2006/metadata/properties" xmlns:ns3="aed9747a-cf76-43d3-9b8d-a27e657ee175" xmlns:ns4="93184699-e12f-40b8-87c1-2f561f48ace3" targetNamespace="http://schemas.microsoft.com/office/2006/metadata/properties" ma:root="true" ma:fieldsID="8785969ce3fbaddf363e6cf01a9249a7" ns3:_="" ns4:_="">
    <xsd:import namespace="aed9747a-cf76-43d3-9b8d-a27e657ee175"/>
    <xsd:import namespace="93184699-e12f-40b8-87c1-2f561f48ace3"/>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_activity" minOccurs="0"/>
                <xsd:element ref="ns4:SharedWithUsers" minOccurs="0"/>
                <xsd:element ref="ns4:SharedWithDetails" minOccurs="0"/>
                <xsd:element ref="ns4:SharingHintHash"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d9747a-cf76-43d3-9b8d-a27e657ee17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_activity" ma:index="16" nillable="true" ma:displayName="_activity" ma:hidden="true" ma:internalName="_activity">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3184699-e12f-40b8-87c1-2f561f48ace3"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2762663-8081-475F-99D6-B764682E78B7}">
  <ds:schemaRefs>
    <ds:schemaRef ds:uri="93184699-e12f-40b8-87c1-2f561f48ace3"/>
    <ds:schemaRef ds:uri="aed9747a-cf76-43d3-9b8d-a27e657ee17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00407A82-2BD1-4D26-B5DC-9893D0D6FEDC}">
  <ds:schemaRefs>
    <ds:schemaRef ds:uri="http://schemas.microsoft.com/sharepoint/v3/contenttype/forms"/>
  </ds:schemaRefs>
</ds:datastoreItem>
</file>

<file path=customXml/itemProps3.xml><?xml version="1.0" encoding="utf-8"?>
<ds:datastoreItem xmlns:ds="http://schemas.openxmlformats.org/officeDocument/2006/customXml" ds:itemID="{18721A25-F547-4806-A925-716F15DCA520}">
  <ds:schemaRefs>
    <ds:schemaRef ds:uri="93184699-e12f-40b8-87c1-2f561f48ace3"/>
    <ds:schemaRef ds:uri="aed9747a-cf76-43d3-9b8d-a27e657ee17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Presentation Slide Template</Template>
  <Application>Microsoft Office PowerPoint</Application>
  <PresentationFormat>On-screen Show (4:3)</PresentationFormat>
  <Slides>37</Slides>
  <Notes>1</Notes>
  <HiddenSlides>1</HiddenSlide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uccs-powerpoint-template-2014-cobranded</vt:lpstr>
      <vt:lpstr>Machine Learning for Exoplanet Detection: Identifying Exoplanets in Light Curves</vt:lpstr>
      <vt:lpstr>General background of Exoplanet discovery</vt:lpstr>
      <vt:lpstr>What are Threshold Crossing Events?</vt:lpstr>
      <vt:lpstr>Problem Statement and Method </vt:lpstr>
      <vt:lpstr>Data sets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Related Work: Scientific Domain Knowledge Improves Exoplanet Transit Classification</vt:lpstr>
      <vt:lpstr>Related Work: Assessment of Ensemble-Based ML Algorithms</vt:lpstr>
      <vt:lpstr>Related Work: Focal Loss for Dense Object Detection</vt:lpstr>
      <vt:lpstr>Progress Since Midterm</vt:lpstr>
      <vt:lpstr>Methodology: Dual-Branch CNN </vt:lpstr>
      <vt:lpstr>Methodology: Dual-Branch CNN (Cont.) </vt:lpstr>
      <vt:lpstr>Results</vt:lpstr>
      <vt:lpstr>Demo</vt:lpstr>
      <vt:lpstr>Transformers</vt:lpstr>
      <vt:lpstr>Pyraformer: Low-Complexity Pyramidal Attention for Long-Range Time Series Modeling and Forecasting</vt:lpstr>
      <vt:lpstr>Optimizing data collection for machine learning</vt:lpstr>
      <vt:lpstr>BitNet: 1-bit pre-training for large language models</vt:lpstr>
      <vt:lpstr>Progress Since Proposal</vt:lpstr>
      <vt:lpstr>Methodology: Transformer </vt:lpstr>
      <vt:lpstr>Methodology: Transformer </vt:lpstr>
      <vt:lpstr>Experimental Results – Small model</vt:lpstr>
      <vt:lpstr>Experimental Results – Large Model</vt:lpstr>
      <vt:lpstr>Is the model transferable?</vt:lpstr>
      <vt:lpstr>Demo</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Tristan Moffett</dc:creator>
  <cp:revision>311</cp:revision>
  <dcterms:created xsi:type="dcterms:W3CDTF">2025-09-19T16:28:57Z</dcterms:created>
  <dcterms:modified xsi:type="dcterms:W3CDTF">2025-12-18T17:05:55Z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0x010100A5668813CFEF6E47A797800F728206B7</vt:lpwstr>
  </property>
</Properties>
</file>