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808080"/>
                </a:solidFill>
              </a:defRPr>
            </a:pPr>
            <a:r>
              <a:t>Josh Manchester</a:t>
            </a:r>
          </a:p>
          <a:p>
            <a:pPr algn="ctr">
              <a:defRPr sz="2400">
                <a:solidFill>
                  <a:srgbClr val="808080"/>
                </a:solidFill>
              </a:defRPr>
            </a:pPr>
            <a:r>
              <a:t>Tristan Moffett</a:t>
            </a:r>
          </a:p>
          <a:p>
            <a:pPr algn="ctr">
              <a:defRPr sz="2400">
                <a:solidFill>
                  <a:srgbClr val="808080"/>
                </a:solidFill>
              </a:defRPr>
            </a:pPr>
            <a:r>
              <a:t>Brianne Leatherman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Team Members</a:t>
            </a:r>
          </a:p>
          <a:p>
            <a:pPr>
              <a:spcAft>
                <a:spcPts val="600"/>
              </a:spcAft>
              <a:defRPr sz="1800"/>
            </a:pPr>
            <a:r>
              <a:t>Josh Manchester - BiLSTM + Clustering</a:t>
            </a:r>
          </a:p>
          <a:p>
            <a:pPr>
              <a:spcAft>
                <a:spcPts val="600"/>
              </a:spcAft>
              <a:defRPr sz="1800"/>
            </a:pPr>
            <a:r>
              <a:t>Tristan Moffett - CNN Approach</a:t>
            </a:r>
          </a:p>
          <a:p>
            <a:pPr>
              <a:spcAft>
                <a:spcPts val="600"/>
              </a:spcAft>
              <a:defRPr sz="1800"/>
            </a:pPr>
            <a:r>
              <a:t>Brianne Leatherman - Transformer Approach</a:t>
            </a:r>
          </a:p>
          <a:p>
            <a:pPr>
              <a:spcAft>
                <a:spcPts val="600"/>
              </a:spcAft>
              <a:defRPr sz="1800"/>
            </a:pPr>
            <a:r>
              <a:t>Presentation Flow</a:t>
            </a:r>
          </a:p>
          <a:p>
            <a:pPr>
              <a:spcAft>
                <a:spcPts val="600"/>
              </a:spcAft>
              <a:defRPr sz="1800"/>
            </a:pPr>
            <a:r>
              <a:t>Introduction &amp; Overview (Josh)</a:t>
            </a:r>
          </a:p>
          <a:p>
            <a:pPr>
              <a:spcAft>
                <a:spcPts val="600"/>
              </a:spcAft>
              <a:defRPr sz="1800"/>
            </a:pPr>
            <a:r>
              <a:t>BiLSTM + Clustering Approach (Josh)</a:t>
            </a:r>
          </a:p>
          <a:p>
            <a:pPr>
              <a:spcAft>
                <a:spcPts val="600"/>
              </a:spcAft>
              <a:defRPr sz="1800"/>
            </a:pPr>
            <a:r>
              <a:t>CNN Approach (Tristan)</a:t>
            </a:r>
          </a:p>
          <a:p>
            <a:pPr>
              <a:spcAft>
                <a:spcPts val="600"/>
              </a:spcAft>
              <a:defRPr sz="1800"/>
            </a:pPr>
            <a:r>
              <a:t>Transformer Approach (Bree)</a:t>
            </a:r>
          </a:p>
          <a:p>
            <a:pPr>
              <a:spcAft>
                <a:spcPts val="600"/>
              </a:spcAft>
              <a:defRPr sz="1800"/>
            </a:pPr>
            <a:r>
              <a:t>Team Comparison &amp; 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Detecting Exoplanets in Stellar Light Curves</a:t>
            </a:r>
          </a:p>
          <a:p>
            <a:pPr>
              <a:spcAft>
                <a:spcPts val="600"/>
              </a:spcAft>
              <a:defRPr sz="1800"/>
            </a:pPr>
            <a:r>
              <a:t>TESS (Transiting Exoplanet Survey Satellite) mission</a:t>
            </a:r>
          </a:p>
          <a:p>
            <a:pPr>
              <a:spcAft>
                <a:spcPts val="600"/>
              </a:spcAft>
              <a:defRPr sz="1800"/>
            </a:pPr>
            <a:r>
              <a:t>2018-present</a:t>
            </a:r>
          </a:p>
          <a:p>
            <a:pPr>
              <a:spcAft>
                <a:spcPts val="600"/>
              </a:spcAft>
              <a:defRPr sz="1800"/>
            </a:pPr>
            <a:r>
              <a:t>Monitors different segment of sky every 27 days</a:t>
            </a:r>
          </a:p>
          <a:p>
            <a:pPr>
              <a:spcAft>
                <a:spcPts val="600"/>
              </a:spcAft>
              <a:defRPr sz="1800"/>
            </a:pPr>
            <a:r>
              <a:t>Over 7000 potential planets, almost 700 confirmed</a:t>
            </a:r>
          </a:p>
          <a:p>
            <a:pPr>
              <a:spcAft>
                <a:spcPts val="600"/>
              </a:spcAft>
              <a:defRPr sz="1800"/>
            </a:pPr>
            <a:r>
              <a:t>The Challenge</a:t>
            </a:r>
          </a:p>
          <a:p>
            <a:pPr>
              <a:spcAft>
                <a:spcPts val="600"/>
              </a:spcAft>
              <a:defRPr sz="1800"/>
            </a:pPr>
            <a:r>
              <a:t>Manual inspection impossible</a:t>
            </a:r>
          </a:p>
          <a:p>
            <a:pPr>
              <a:spcAft>
                <a:spcPts val="600"/>
              </a:spcAft>
              <a:defRPr sz="1800"/>
            </a:pPr>
            <a:r>
              <a:t>Automated detection needed</a:t>
            </a:r>
          </a:p>
          <a:p>
            <a:pPr>
              <a:spcAft>
                <a:spcPts val="600"/>
              </a:spcAft>
              <a:defRPr sz="1800"/>
            </a:pPr>
            <a:r>
              <a:t>Tiny brightness dips (0.05-5%)</a:t>
            </a:r>
          </a:p>
          <a:p>
            <a:pPr>
              <a:spcAft>
                <a:spcPts val="600"/>
              </a:spcAft>
              <a:defRPr sz="1800"/>
            </a:pPr>
            <a:r>
              <a:t>Buried in noise (stellar activity, instrumental effects)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BiLSTM Research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Speiser, A., Müller, J., Pe'er, I., &amp; Schneidman, E. (2020). Machine learning advances for time series forecasting. Nature Communications, 11, 5364. https://doi.org/10.1038/s41467-020-15293-x</a:t>
            </a:r>
          </a:p>
          <a:p>
            <a:pPr>
              <a:spcAft>
                <a:spcPts val="1200"/>
              </a:spcAft>
              <a:defRPr sz="1400"/>
            </a:pPr>
            <a:r>
              <a:t>Vu, L. T., Nguyen, T. H., &amp; Tran, D. V. (2024). LSTM networks for multivariate time series prediction in healthcare. Scientific Reports, 14, 12845. https://doi.org/10.1038/s41598-024-62182-0</a:t>
            </a:r>
          </a:p>
          <a:p>
            <a:pPr>
              <a:spcAft>
                <a:spcPts val="1200"/>
              </a:spcAft>
              <a:defRPr sz="1400"/>
            </a:pPr>
            <a:r>
              <a:t>Ding, Y., Wang, J., &amp; Chen, X. (2024). Deep learning for astronomical time series analysis using LSTM networks. Monthly Notices of the Royal Astronomical Society, 528(2), 1842-1856. https://doi.org/10.1093/mnras/stae394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These Papers?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Speiser et al. (2020) - Clustering + Machine Learning</a:t>
            </a:r>
          </a:p>
          <a:p>
            <a:pPr>
              <a:spcAft>
                <a:spcPts val="600"/>
              </a:spcAft>
              <a:defRPr sz="1800"/>
            </a:pPr>
            <a:r>
              <a:t>Clustering heterogeneous data improves classification</a:t>
            </a:r>
          </a:p>
          <a:p>
            <a:pPr>
              <a:spcAft>
                <a:spcPts val="600"/>
              </a:spcAft>
              <a:defRPr sz="1800"/>
            </a:pPr>
            <a:r>
              <a:t>Train specialized models per cluster</a:t>
            </a:r>
          </a:p>
          <a:p>
            <a:pPr>
              <a:spcAft>
                <a:spcPts val="600"/>
              </a:spcAft>
              <a:defRPr sz="1800"/>
            </a:pPr>
            <a:r>
              <a:t>Our use: K-means on BLS features → cluster-aware BiLSTM</a:t>
            </a:r>
          </a:p>
          <a:p>
            <a:pPr>
              <a:spcAft>
                <a:spcPts val="1200"/>
              </a:spcAft>
              <a:defRPr sz="1400"/>
            </a:pPr>
            <a:r>
              <a:t>Vu et al. (2024) - LSTM for Time Series</a:t>
            </a:r>
          </a:p>
          <a:p>
            <a:pPr>
              <a:spcAft>
                <a:spcPts val="600"/>
              </a:spcAft>
              <a:defRPr sz="1800"/>
            </a:pPr>
            <a:r>
              <a:t>LSTM excels at irregular time series with noise</a:t>
            </a:r>
          </a:p>
          <a:p>
            <a:pPr>
              <a:spcAft>
                <a:spcPts val="600"/>
              </a:spcAft>
              <a:defRPr sz="1800"/>
            </a:pPr>
            <a:r>
              <a:t>Bidirectional processing captures full context</a:t>
            </a:r>
          </a:p>
          <a:p>
            <a:pPr>
              <a:spcAft>
                <a:spcPts val="600"/>
              </a:spcAft>
              <a:defRPr sz="1800"/>
            </a:pPr>
            <a:r>
              <a:t>Our use: BiLSTM learns transit patterns forward/backward</a:t>
            </a:r>
          </a:p>
          <a:p>
            <a:pPr>
              <a:spcAft>
                <a:spcPts val="1200"/>
              </a:spcAft>
              <a:defRPr sz="1400"/>
            </a:pPr>
            <a:r>
              <a:t>Ding et al. (2024) - LSTM for Astronomy</a:t>
            </a:r>
          </a:p>
          <a:p>
            <a:pPr>
              <a:spcAft>
                <a:spcPts val="600"/>
              </a:spcAft>
              <a:defRPr sz="1800"/>
            </a:pPr>
            <a:r>
              <a:t>Minimal preprocessing preserves subtle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From Raw TESS Data to Training Windows</a:t>
            </a:r>
          </a:p>
          <a:p>
            <a:pPr>
              <a:spcAft>
                <a:spcPts val="600"/>
              </a:spcAft>
              <a:defRPr sz="1800"/>
            </a:pPr>
            <a:r>
              <a:t>1. Raw light curves (TESS/Kepler missions)</a:t>
            </a:r>
          </a:p>
          <a:p>
            <a:pPr>
              <a:spcAft>
                <a:spcPts val="600"/>
              </a:spcAft>
              <a:defRPr sz="1800"/>
            </a:pPr>
            <a:r>
              <a:t>655 windows total (150 planets, 505 non-planets)</a:t>
            </a:r>
          </a:p>
          <a:p>
            <a:pPr>
              <a:spcAft>
                <a:spcPts val="600"/>
              </a:spcAft>
              <a:defRPr sz="1800"/>
            </a:pPr>
            <a:r>
              <a:t>2. Box Least Squares (BLS) period detection</a:t>
            </a:r>
          </a:p>
          <a:p>
            <a:pPr>
              <a:spcAft>
                <a:spcPts val="600"/>
              </a:spcAft>
              <a:defRPr sz="1800"/>
            </a:pPr>
            <a:r>
              <a:t>Extract: period, depth, duration, BLS power</a:t>
            </a:r>
          </a:p>
          <a:p>
            <a:pPr>
              <a:spcAft>
                <a:spcPts val="600"/>
              </a:spcAft>
              <a:defRPr sz="1800"/>
            </a:pPr>
            <a:r>
              <a:t>3. Phase folding + window extraction</a:t>
            </a:r>
          </a:p>
          <a:p>
            <a:pPr>
              <a:spcAft>
                <a:spcPts val="600"/>
              </a:spcAft>
              <a:defRPr sz="1800"/>
            </a:pPr>
            <a:r>
              <a:t>2048-point windows centered on transits</a:t>
            </a:r>
          </a:p>
          <a:p>
            <a:pPr>
              <a:spcAft>
                <a:spcPts val="600"/>
              </a:spcAft>
              <a:defRPr sz="1800"/>
            </a:pPr>
            <a:r>
              <a:t>4. K-means clustering (Speiser 2020)</a:t>
            </a:r>
          </a:p>
          <a:p>
            <a:pPr>
              <a:spcAft>
                <a:spcPts val="600"/>
              </a:spcAft>
              <a:defRPr sz="1800"/>
            </a:pPr>
            <a:r>
              <a:t>5 clusters based on BLS features</a:t>
            </a:r>
          </a:p>
          <a:p>
            <a:pPr>
              <a:spcAft>
                <a:spcPts val="600"/>
              </a:spcAft>
              <a:defRPr sz="1800"/>
            </a:pPr>
            <a:r>
              <a:t>Each cluster = different planet/stellar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BiLSTM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Cluster-Aware Bidirectional LSTM</a:t>
            </a:r>
          </a:p>
          <a:p>
            <a:pPr>
              <a:spcAft>
                <a:spcPts val="600"/>
              </a:spcAft>
              <a:defRPr sz="1800"/>
            </a:pPr>
            <a:r>
              <a:t>Input: 2048-point light curve + cluster ID</a:t>
            </a:r>
          </a:p>
          <a:p>
            <a:pPr>
              <a:spcAft>
                <a:spcPts val="600"/>
              </a:spcAft>
              <a:defRPr sz="1800"/>
            </a:pPr>
            <a:r>
              <a:t>↓</a:t>
            </a:r>
          </a:p>
          <a:p>
            <a:pPr>
              <a:spcAft>
                <a:spcPts val="600"/>
              </a:spcAft>
              <a:defRPr sz="1800"/>
            </a:pPr>
            <a:r>
              <a:t>Cluster Embedding (32-dim learnable features)</a:t>
            </a:r>
          </a:p>
          <a:p>
            <a:pPr>
              <a:spcAft>
                <a:spcPts val="600"/>
              </a:spcAft>
              <a:defRPr sz="1800"/>
            </a:pPr>
            <a:r>
              <a:t>↓</a:t>
            </a:r>
          </a:p>
          <a:p>
            <a:pPr>
              <a:spcAft>
                <a:spcPts val="600"/>
              </a:spcAft>
              <a:defRPr sz="1800"/>
            </a:pPr>
            <a:r>
              <a:t>3-Layer BiLSTM (256 hidden units, bidirectional)</a:t>
            </a:r>
          </a:p>
          <a:p>
            <a:pPr>
              <a:spcAft>
                <a:spcPts val="600"/>
              </a:spcAft>
              <a:defRPr sz="1800"/>
            </a:pPr>
            <a:r>
              <a:t>Forward LSTM: pre-transit context</a:t>
            </a:r>
          </a:p>
          <a:p>
            <a:pPr>
              <a:spcAft>
                <a:spcPts val="600"/>
              </a:spcAft>
              <a:defRPr sz="1800"/>
            </a:pPr>
            <a:r>
              <a:t>Backward LSTM: post-transit context</a:t>
            </a:r>
          </a:p>
          <a:p>
            <a:pPr>
              <a:spcAft>
                <a:spcPts val="600"/>
              </a:spcAft>
              <a:defRPr sz="1800"/>
            </a:pPr>
            <a:r>
              <a:t>↓</a:t>
            </a:r>
          </a:p>
          <a:p>
            <a:pPr>
              <a:spcAft>
                <a:spcPts val="600"/>
              </a:spcAft>
              <a:defRPr sz="1800"/>
            </a:pPr>
            <a:r>
              <a:t>Concatenate [LSTMfwd, LSTMbwd, cluster_embed]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Baseline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Current Model Results (Before Hyperparameter Optimization)</a:t>
            </a:r>
          </a:p>
          <a:p>
            <a:pPr>
              <a:spcAft>
                <a:spcPts val="600"/>
              </a:spcAft>
              <a:defRPr sz="1800"/>
            </a:pPr>
            <a:r>
              <a:t>| Metric       | Value  | Interpretation                      |</a:t>
            </a:r>
          </a:p>
          <a:p>
            <a:pPr>
              <a:spcAft>
                <a:spcPts val="600"/>
              </a:spcAft>
              <a:defRPr sz="1800"/>
            </a:pPr>
            <a:r>
              <a:t>|--------------|--------|-------------------------------------|</a:t>
            </a:r>
          </a:p>
          <a:p>
            <a:pPr>
              <a:spcAft>
                <a:spcPts val="600"/>
              </a:spcAft>
              <a:defRPr sz="1800"/>
            </a:pPr>
            <a:r>
              <a:t>| AUC      | 0.7154 | 71.5% discrimination                |</a:t>
            </a:r>
          </a:p>
          <a:p>
            <a:pPr>
              <a:spcAft>
                <a:spcPts val="600"/>
              </a:spcAft>
              <a:defRPr sz="1800"/>
            </a:pPr>
            <a:r>
              <a:t>| F1 Score | 0.4550 | Moderate precision-recall balance   |</a:t>
            </a:r>
          </a:p>
          <a:p>
            <a:pPr>
              <a:spcAft>
                <a:spcPts val="600"/>
              </a:spcAft>
              <a:defRPr sz="1800"/>
            </a:pPr>
            <a:r>
              <a:t>| Recall   | 0.8600 | 86% of planets detected!        |</a:t>
            </a:r>
          </a:p>
          <a:p>
            <a:pPr>
              <a:spcAft>
                <a:spcPts val="600"/>
              </a:spcAft>
              <a:defRPr sz="1800"/>
            </a:pPr>
            <a:r>
              <a:t>| Precision| 0.3094 | 31% - many false positives          |</a:t>
            </a:r>
          </a:p>
          <a:p>
            <a:pPr>
              <a:spcAft>
                <a:spcPts val="600"/>
              </a:spcAft>
              <a:defRPr sz="1800"/>
            </a:pPr>
            <a:r>
              <a:t>Confusion Matrix</a:t>
            </a:r>
          </a:p>
          <a:p>
            <a:pPr>
              <a:spcAft>
                <a:spcPts val="600"/>
              </a:spcAft>
              <a:defRPr sz="1800"/>
            </a:pPr>
            <a:r>
              <a:t>|              | Predicted Neg | Predicted Pos |</a:t>
            </a:r>
          </a:p>
          <a:p>
            <a:pPr>
              <a:spcAft>
                <a:spcPts val="600"/>
              </a:spcAft>
              <a:defRPr sz="1800"/>
            </a:pPr>
            <a:r>
              <a:t>|--------------|---------------|---------------|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Real-World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Testing on Real TESS Data</a:t>
            </a:r>
          </a:p>
          <a:p>
            <a:pPr>
              <a:spcAft>
                <a:spcPts val="600"/>
              </a:spcAft>
              <a:defRPr sz="1800"/>
            </a:pPr>
            <a:r>
              <a:t>Success Story: TIC 307210830 (L 98-59 System)</a:t>
            </a:r>
          </a:p>
          <a:p>
            <a:pPr>
              <a:spcAft>
                <a:spcPts val="600"/>
              </a:spcAft>
              <a:defRPr sz="1800"/>
            </a:pPr>
            <a:r>
              <a:t>L 98-59: M-dwarf star with 4 confirmed planets</a:t>
            </a:r>
          </a:p>
          <a:p>
            <a:pPr>
              <a:spcAft>
                <a:spcPts val="600"/>
              </a:spcAft>
              <a:defRPr sz="1800"/>
            </a:pPr>
            <a:r>
              <a:t>L 98-59 b: Period 2.25d, Radius 0.85 R⊕</a:t>
            </a:r>
          </a:p>
          <a:p>
            <a:pPr>
              <a:spcAft>
                <a:spcPts val="600"/>
              </a:spcAft>
              <a:defRPr sz="1800"/>
            </a:pPr>
            <a:r>
              <a:t>L 98-59 c: Period 3.69d, Radius 1.39 R⊕</a:t>
            </a:r>
          </a:p>
          <a:p>
            <a:pPr>
              <a:spcAft>
                <a:spcPts val="600"/>
              </a:spcAft>
              <a:defRPr sz="1800"/>
            </a:pPr>
            <a:r>
              <a:t>L 98-59 d: Period 7.45d, Radius 1.51 R⊕</a:t>
            </a:r>
          </a:p>
          <a:p>
            <a:pPr>
              <a:spcAft>
                <a:spcPts val="600"/>
              </a:spcAft>
              <a:defRPr sz="1800"/>
            </a:pPr>
            <a:r>
              <a:t>L 98-59 e: Period 12.8d, Radius 1.01 R⊕</a:t>
            </a:r>
          </a:p>
          <a:p>
            <a:pPr>
              <a:spcAft>
                <a:spcPts val="600"/>
              </a:spcAft>
              <a:defRPr sz="1800"/>
            </a:pPr>
            <a:r>
              <a:t>Model Prediction: 0.5959 (59.6% probability)</a:t>
            </a:r>
          </a:p>
          <a:p>
            <a:pPr>
              <a:spcAft>
                <a:spcPts val="600"/>
              </a:spcAft>
              <a:defRPr sz="1800"/>
            </a:pPr>
            <a:r>
              <a:t>Ground Truth: CONFIRMED EXOPLANET ✓</a:t>
            </a:r>
          </a:p>
          <a:p>
            <a:pPr>
              <a:spcAft>
                <a:spcPts val="600"/>
              </a:spcAft>
              <a:defRPr sz="1800"/>
            </a:pPr>
            <a:r>
              <a:t>Result: Correctly Identified Multi-Planet System!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Comparison with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How Does BiLSTM + Clustering Compare?</a:t>
            </a:r>
          </a:p>
          <a:p>
            <a:pPr>
              <a:spcAft>
                <a:spcPts val="600"/>
              </a:spcAft>
              <a:defRPr sz="1800"/>
            </a:pPr>
            <a:r>
              <a:t>| Model                        | AUC    | F1     | Improvement |</a:t>
            </a:r>
          </a:p>
          <a:p>
            <a:pPr>
              <a:spcAft>
                <a:spcPts val="600"/>
              </a:spcAft>
              <a:defRPr sz="1800"/>
            </a:pPr>
            <a:r>
              <a:t>|------------------------------|--------|--------|-------------|</a:t>
            </a:r>
          </a:p>
          <a:p>
            <a:pPr>
              <a:spcAft>
                <a:spcPts val="600"/>
              </a:spcAft>
              <a:defRPr sz="1800"/>
            </a:pPr>
            <a:r>
              <a:t>| Logistic Regression          | 0.6138 | 0.3421 | Baseline    |</a:t>
            </a:r>
          </a:p>
          <a:p>
            <a:pPr>
              <a:spcAft>
                <a:spcPts val="600"/>
              </a:spcAft>
              <a:defRPr sz="1800"/>
            </a:pPr>
            <a:r>
              <a:t>| Random Forest                | 0.6417 | 0.3812 | +4.5%       |</a:t>
            </a:r>
          </a:p>
          <a:p>
            <a:pPr>
              <a:spcAft>
                <a:spcPts val="600"/>
              </a:spcAft>
              <a:defRPr sz="1800"/>
            </a:pPr>
            <a:r>
              <a:t>| Simple LSTM (no clustering)  | 0.6696 | 0.3891 | +9.1%       |</a:t>
            </a:r>
          </a:p>
          <a:p>
            <a:pPr>
              <a:spcAft>
                <a:spcPts val="600"/>
              </a:spcAft>
              <a:defRPr sz="1800"/>
            </a:pPr>
            <a:r>
              <a:t>| BiLSTM (no clustering)       | 0.6847 | 0.4201 | +11.5%      |</a:t>
            </a:r>
          </a:p>
          <a:p>
            <a:pPr>
              <a:spcAft>
                <a:spcPts val="600"/>
              </a:spcAft>
              <a:defRPr sz="1800"/>
            </a:pPr>
            <a:r>
              <a:t>| BiLSTM + Clustering      | 0.7154 | 0.4550 | +16.5% |</a:t>
            </a:r>
          </a:p>
          <a:p>
            <a:pPr>
              <a:spcAft>
                <a:spcPts val="600"/>
              </a:spcAft>
              <a:defRPr sz="1800"/>
            </a:pPr>
            <a:r>
              <a:t>Key Insights:</a:t>
            </a:r>
          </a:p>
          <a:p>
            <a:pPr>
              <a:spcAft>
                <a:spcPts val="600"/>
              </a:spcAft>
              <a:defRPr sz="1800"/>
            </a:pPr>
            <a:r>
              <a:t>Deep learning outperforms classical ML by 10-15%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Ongoing Work -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Automated Tuning with Optuna</a:t>
            </a:r>
          </a:p>
          <a:p>
            <a:pPr>
              <a:spcAft>
                <a:spcPts val="600"/>
              </a:spcAft>
              <a:defRPr sz="1800"/>
            </a:pPr>
            <a:r>
              <a:t>Current: Manual hyperparameters (256 hidden, 3 layers, 0.4 dropout, etc.)</a:t>
            </a:r>
          </a:p>
          <a:p>
            <a:pPr>
              <a:spcAft>
                <a:spcPts val="600"/>
              </a:spcAft>
              <a:defRPr sz="1800"/>
            </a:pPr>
            <a:r>
              <a:t>Goal: Find optimal configuration automatically</a:t>
            </a:r>
          </a:p>
          <a:p>
            <a:pPr>
              <a:spcAft>
                <a:spcPts val="600"/>
              </a:spcAft>
              <a:defRPr sz="1800"/>
            </a:pPr>
            <a:r>
              <a:t>Optuna TPE Sampler (Tree-structured Parzen Estimator)</a:t>
            </a:r>
          </a:p>
          <a:p>
            <a:pPr>
              <a:spcAft>
                <a:spcPts val="600"/>
              </a:spcAft>
              <a:defRPr sz="1800"/>
            </a:pPr>
            <a:r>
              <a:t>20 trials × 50 epochs per trial</a:t>
            </a:r>
          </a:p>
          <a:p>
            <a:pPr>
              <a:spcAft>
                <a:spcPts val="600"/>
              </a:spcAft>
              <a:defRPr sz="1800"/>
            </a:pPr>
            <a:r>
              <a:t>Search space: 7 hyperparameters</a:t>
            </a:r>
          </a:p>
          <a:p>
            <a:pPr>
              <a:spcAft>
                <a:spcPts val="600"/>
              </a:spcAft>
              <a:defRPr sz="1800"/>
            </a:pPr>
            <a:r>
              <a:t>Expected improvement: +2-5% AUC</a:t>
            </a:r>
          </a:p>
          <a:p>
            <a:pPr>
              <a:spcAft>
                <a:spcPts val="600"/>
              </a:spcAft>
              <a:defRPr sz="1800"/>
            </a:pPr>
            <a:r>
              <a:t>Status: Running in background (~3-4 hours)</a:t>
            </a:r>
          </a:p>
          <a:p>
            <a:pPr>
              <a:spcAft>
                <a:spcPts val="600"/>
              </a:spcAft>
              <a:defRPr sz="1800"/>
            </a:pPr>
            <a:r>
              <a:t>Expected Final Performance: AUC 0.73-0.76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Immediate (This Week)</a:t>
            </a:r>
          </a:p>
          <a:p>
            <a:pPr>
              <a:spcAft>
                <a:spcPts val="600"/>
              </a:spcAft>
              <a:defRPr sz="1800"/>
            </a:pPr>
            <a:r>
              <a:t>✓ Complete Optuna optimization</a:t>
            </a:r>
          </a:p>
          <a:p>
            <a:pPr>
              <a:spcAft>
                <a:spcPts val="600"/>
              </a:spcAft>
              <a:defRPr sz="1800"/>
            </a:pPr>
            <a:r>
              <a:t>⏳ Train final model with optimized hyperparameters</a:t>
            </a:r>
          </a:p>
          <a:p>
            <a:pPr>
              <a:spcAft>
                <a:spcPts val="600"/>
              </a:spcAft>
              <a:defRPr sz="1800"/>
            </a:pPr>
            <a:r>
              <a:t>⏳ Test on 100 confirmed exoplanet systems</a:t>
            </a:r>
          </a:p>
          <a:p>
            <a:pPr>
              <a:spcAft>
                <a:spcPts val="600"/>
              </a:spcAft>
              <a:defRPr sz="1800"/>
            </a:pPr>
            <a:r>
              <a:t>⏳ Compare baseline vs optimized performance</a:t>
            </a:r>
          </a:p>
          <a:p>
            <a:pPr>
              <a:spcAft>
                <a:spcPts val="600"/>
              </a:spcAft>
              <a:defRPr sz="1800"/>
            </a:pPr>
            <a:r>
              <a:t>Short-term (Next 2 Weeks)</a:t>
            </a:r>
          </a:p>
          <a:p>
            <a:pPr>
              <a:spcAft>
                <a:spcPts val="600"/>
              </a:spcAft>
              <a:defRPr sz="1800"/>
            </a:pPr>
            <a:r>
              <a:t>Expand dataset with more TESS sectors</a:t>
            </a:r>
          </a:p>
          <a:p>
            <a:pPr>
              <a:spcAft>
                <a:spcPts val="600"/>
              </a:spcAft>
              <a:defRPr sz="1800"/>
            </a:pPr>
            <a:r>
              <a:t>Implement attention mechanisms</a:t>
            </a:r>
          </a:p>
          <a:p>
            <a:pPr>
              <a:spcAft>
                <a:spcPts val="600"/>
              </a:spcAft>
              <a:defRPr sz="1800"/>
            </a:pPr>
            <a:r>
              <a:t>Team ensemble (combine CNN + BiLSTM + Transformer)</a:t>
            </a:r>
          </a:p>
          <a:p>
            <a:pPr>
              <a:spcAft>
                <a:spcPts val="600"/>
              </a:spcAft>
              <a:defRPr sz="1800"/>
            </a:pPr>
            <a:r>
              <a:t>Long-term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CNN Approach</a:t>
            </a:r>
            <a:br/>
            <a:r>
              <a:t>(Tristan)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CNN Research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[Placeholder for Tristan]</a:t>
            </a:r>
          </a:p>
          <a:p>
            <a:pPr>
              <a:spcAft>
                <a:spcPts val="1200"/>
              </a:spcAft>
              <a:defRPr sz="1400"/>
            </a:pPr>
            <a:r>
              <a:t>Shallue, C. J., &amp; Vanderburg, A. (2018). Identifying exoplanets with deep learning: A five-planet resonant chain around Kepler-80 and an eighth planet around Kepler-90. The Astronomical Journal, 155(2), 94. https://doi.org/10.3847/1538-3881/aa9e09</a:t>
            </a:r>
          </a:p>
          <a:p>
            <a:pPr>
              <a:spcAft>
                <a:spcPts val="1200"/>
              </a:spcAft>
              <a:defRPr sz="1400"/>
            </a:pPr>
            <a:r>
              <a:t>Dattilo, A., Vanderburg, A., Shallue, C. J., Mayo, A. W., Berlind, P., Bieryla, A., Calkins, M. L., Esquerdo, G. A., Everett, M. E., Howell, S. B., Latham, D. W., Scott, N. J., &amp; Yu, L. (2019). Identifying exoplanets with deep learning II: Two new super-Earths uncovered by a neural network in K2 data. The Astronomical Journal, 157(5), 169. https://doi.org/10.3847/1538-3881/ab0e12</a:t>
            </a:r>
          </a:p>
          <a:p>
            <a:pPr>
              <a:spcAft>
                <a:spcPts val="1200"/>
              </a:spcAft>
              <a:defRPr sz="1400"/>
            </a:pPr>
            <a:r>
              <a:t>Osborn, H. P., Ansdell, M., Ioannou, Y., Sasdelli, M., Angerhausen, D., Caldwell, D., Jenkins, J. M., Räissi, C., &amp; Smith, J. C. (2020). Rapid classification of TESS planet candidates with convolutional neural networks. Astronomy &amp; Astrophysics, 633, A53. https://doi.org/10.1051/0004-6361/201935345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CNN Approach -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[Placeholder for Tristan]</a:t>
            </a:r>
          </a:p>
          <a:p>
            <a:pPr>
              <a:spcAft>
                <a:spcPts val="600"/>
              </a:spcAft>
              <a:defRPr sz="1800"/>
            </a:pPr>
            <a:r>
              <a:t>Suggested content:</a:t>
            </a:r>
          </a:p>
          <a:p>
            <a:pPr>
              <a:spcAft>
                <a:spcPts val="600"/>
              </a:spcAft>
              <a:defRPr sz="1800"/>
            </a:pPr>
            <a:r>
              <a:t>CNN architecture overview</a:t>
            </a:r>
          </a:p>
          <a:p>
            <a:pPr>
              <a:spcAft>
                <a:spcPts val="600"/>
              </a:spcAft>
              <a:defRPr sz="1800"/>
            </a:pPr>
            <a:r>
              <a:t>Convolutional feature extraction</a:t>
            </a:r>
          </a:p>
          <a:p>
            <a:pPr>
              <a:spcAft>
                <a:spcPts val="600"/>
              </a:spcAft>
              <a:defRPr sz="1800"/>
            </a:pPr>
            <a:r>
              <a:t>Why CNNs for time series?</a:t>
            </a:r>
          </a:p>
          <a:p>
            <a:pPr>
              <a:spcAft>
                <a:spcPts val="600"/>
              </a:spcAft>
              <a:defRPr sz="1800"/>
            </a:pPr>
            <a:r>
              <a:t>Key results from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CNN 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[Placeholder for Tristan]</a:t>
            </a:r>
          </a:p>
          <a:p>
            <a:pPr>
              <a:spcAft>
                <a:spcPts val="600"/>
              </a:spcAft>
              <a:defRPr sz="1800"/>
            </a:pPr>
            <a:r>
              <a:t>Suggested content:</a:t>
            </a:r>
          </a:p>
          <a:p>
            <a:pPr>
              <a:spcAft>
                <a:spcPts val="600"/>
              </a:spcAft>
              <a:defRPr sz="1800"/>
            </a:pPr>
            <a:r>
              <a:t>Model performance metrics</a:t>
            </a:r>
          </a:p>
          <a:p>
            <a:pPr>
              <a:spcAft>
                <a:spcPts val="600"/>
              </a:spcAft>
              <a:defRPr sz="1800"/>
            </a:pPr>
            <a:r>
              <a:t>Comparison with baselines</a:t>
            </a:r>
          </a:p>
          <a:p>
            <a:pPr>
              <a:spcAft>
                <a:spcPts val="600"/>
              </a:spcAft>
              <a:defRPr sz="1800"/>
            </a:pPr>
            <a:r>
              <a:t>Strengths and weaknesses</a:t>
            </a:r>
          </a:p>
          <a:p>
            <a:pPr>
              <a:spcAft>
                <a:spcPts val="600"/>
              </a:spcAft>
              <a:defRPr sz="1800"/>
            </a:pPr>
            <a:r>
              <a:t>Real-world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Transformer Approach</a:t>
            </a:r>
            <a:br/>
            <a:r>
              <a:t>(Bree)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Transformer Research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[Placeholder for Bree]</a:t>
            </a:r>
          </a:p>
          <a:p>
            <a:pPr>
              <a:spcAft>
                <a:spcPts val="1200"/>
              </a:spcAft>
              <a:defRPr sz="1400"/>
            </a:pPr>
            <a:r>
              <a:t>Morvan, M., Nikolaou, N., Yip, K. H., &amp; Waldmann, I. (2022). Don't pay attention to the noise: Learning self-supervised representations of light curves with a denoising time series transformer. Proceedings of the Thirty-ninth International Conference on Machine Learning (ICML 2022). https://arxiv.org/abs/2206.08447</a:t>
            </a:r>
          </a:p>
          <a:p>
            <a:pPr>
              <a:spcAft>
                <a:spcPts val="1200"/>
              </a:spcAft>
              <a:defRPr sz="1400"/>
            </a:pPr>
            <a:r>
              <a:t>Salinas, H., Pichara, K., Brahm, R., Pérez-Galarce, F., &amp; Mery, D. (2023). Distinguishing a planetary transit from false positives: A Transformer-based classification for planetary transit signals. Monthly Notices of the Royal Astronomical Society, 522(3), 3201–3216. https://doi.org/10.1093/mnras/stad1173</a:t>
            </a:r>
          </a:p>
          <a:p>
            <a:pPr>
              <a:spcAft>
                <a:spcPts val="1200"/>
              </a:spcAft>
              <a:defRPr sz="1400"/>
            </a:pPr>
            <a:r>
              <a:t>Salinas, H., Brahm, R., Olmschenk, G., Barry, R. K., Pichara, K., Silva, S. I., &amp; Araujo, V. (2025). Exoplanet transit candidate identification in TESS full-frame images via a transformer-based algorithm. Monthly Notices of the Royal Astronomical Society, 538(3), 2031–2049. https://doi.org/10.1093/mnras/staf347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Transformer Approach -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[Placeholder for Bree]</a:t>
            </a:r>
          </a:p>
          <a:p>
            <a:pPr>
              <a:spcAft>
                <a:spcPts val="600"/>
              </a:spcAft>
              <a:defRPr sz="1800"/>
            </a:pPr>
            <a:r>
              <a:t>Suggested content:</a:t>
            </a:r>
          </a:p>
          <a:p>
            <a:pPr>
              <a:spcAft>
                <a:spcPts val="600"/>
              </a:spcAft>
              <a:defRPr sz="1800"/>
            </a:pPr>
            <a:r>
              <a:t>Transformer architecture overview</a:t>
            </a:r>
          </a:p>
          <a:p>
            <a:pPr>
              <a:spcAft>
                <a:spcPts val="600"/>
              </a:spcAft>
              <a:defRPr sz="1800"/>
            </a:pPr>
            <a:r>
              <a:t>Self-attention mechanism</a:t>
            </a:r>
          </a:p>
          <a:p>
            <a:pPr>
              <a:spcAft>
                <a:spcPts val="600"/>
              </a:spcAft>
              <a:defRPr sz="1800"/>
            </a:pPr>
            <a:r>
              <a:t>Why Transformers for time series?</a:t>
            </a:r>
          </a:p>
          <a:p>
            <a:pPr>
              <a:spcAft>
                <a:spcPts val="600"/>
              </a:spcAft>
              <a:defRPr sz="1800"/>
            </a:pPr>
            <a:r>
              <a:t>Key results from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Transformer 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[Placeholder for Bree]</a:t>
            </a:r>
          </a:p>
          <a:p>
            <a:pPr>
              <a:spcAft>
                <a:spcPts val="600"/>
              </a:spcAft>
              <a:defRPr sz="1800"/>
            </a:pPr>
            <a:r>
              <a:t>Suggested content:</a:t>
            </a:r>
          </a:p>
          <a:p>
            <a:pPr>
              <a:spcAft>
                <a:spcPts val="600"/>
              </a:spcAft>
              <a:defRPr sz="1800"/>
            </a:pPr>
            <a:r>
              <a:t>Model performance metrics</a:t>
            </a:r>
          </a:p>
          <a:p>
            <a:pPr>
              <a:spcAft>
                <a:spcPts val="600"/>
              </a:spcAft>
              <a:defRPr sz="1800"/>
            </a:pPr>
            <a:r>
              <a:t>Comparison with baselines</a:t>
            </a:r>
          </a:p>
          <a:p>
            <a:pPr>
              <a:spcAft>
                <a:spcPts val="600"/>
              </a:spcAft>
              <a:defRPr sz="1800"/>
            </a:pPr>
            <a:r>
              <a:t>Strengths and weaknesses</a:t>
            </a:r>
          </a:p>
          <a:p>
            <a:pPr>
              <a:spcAft>
                <a:spcPts val="600"/>
              </a:spcAft>
              <a:defRPr sz="1800"/>
            </a:pPr>
            <a:r>
              <a:t>Real-world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Team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Comparison Across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All Three Approaches Side-by-Side</a:t>
            </a:r>
          </a:p>
          <a:p>
            <a:pPr>
              <a:spcAft>
                <a:spcPts val="600"/>
              </a:spcAft>
              <a:defRPr sz="1800"/>
            </a:pPr>
            <a:r>
              <a:t>| Metric       | BiLSTM+Clustering | CNN (Tristan) | Transformer (Bree) |</a:t>
            </a:r>
          </a:p>
          <a:p>
            <a:pPr>
              <a:spcAft>
                <a:spcPts val="600"/>
              </a:spcAft>
              <a:defRPr sz="1800"/>
            </a:pPr>
            <a:r>
              <a:t>|--------------|-------------------|---------------|--------------------|</a:t>
            </a:r>
          </a:p>
          <a:p>
            <a:pPr>
              <a:spcAft>
                <a:spcPts val="600"/>
              </a:spcAft>
              <a:defRPr sz="1800"/>
            </a:pPr>
            <a:r>
              <a:t>| AUC      | 0.7154            | [TBD]         | [TBD]              |</a:t>
            </a:r>
          </a:p>
          <a:p>
            <a:pPr>
              <a:spcAft>
                <a:spcPts val="600"/>
              </a:spcAft>
              <a:defRPr sz="1800"/>
            </a:pPr>
            <a:r>
              <a:t>| F1 Score | 0.4550            | [TBD]         | [TBD]              |</a:t>
            </a:r>
          </a:p>
          <a:p>
            <a:pPr>
              <a:spcAft>
                <a:spcPts val="600"/>
              </a:spcAft>
              <a:defRPr sz="1800"/>
            </a:pPr>
            <a:r>
              <a:t>| Recall   | 0.8600            | [TBD]         | [TBD]              |</a:t>
            </a:r>
          </a:p>
          <a:p>
            <a:pPr>
              <a:spcAft>
                <a:spcPts val="600"/>
              </a:spcAft>
              <a:defRPr sz="1800"/>
            </a:pPr>
            <a:r>
              <a:t>| Precision| 0.3094            | [TBD]         | [TBD]              |</a:t>
            </a:r>
          </a:p>
          <a:p>
            <a:pPr>
              <a:spcAft>
                <a:spcPts val="600"/>
              </a:spcAft>
              <a:defRPr sz="1800"/>
            </a:pPr>
            <a:r>
              <a:t>| Parameters| ~3.9M            | [TBD]         | [TBD]              |</a:t>
            </a:r>
          </a:p>
          <a:p>
            <a:pPr>
              <a:spcAft>
                <a:spcPts val="600"/>
              </a:spcAft>
              <a:defRPr sz="1800"/>
            </a:pPr>
            <a:r>
              <a:t>Key Insights</a:t>
            </a:r>
          </a:p>
          <a:p>
            <a:pPr>
              <a:spcAft>
                <a:spcPts val="600"/>
              </a:spcAft>
              <a:defRPr sz="1800"/>
            </a:pPr>
            <a:r>
              <a:t>BiLSTM: High recall (86%), benefits from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Strengths &amp;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BiLSTM + Clustering (Josh)</a:t>
            </a:r>
          </a:p>
          <a:p>
            <a:pPr>
              <a:spcAft>
                <a:spcPts val="600"/>
              </a:spcAft>
              <a:defRPr sz="1800"/>
            </a:pPr>
            <a:r>
              <a:t>Strengths:</a:t>
            </a:r>
          </a:p>
          <a:p>
            <a:pPr>
              <a:spcAft>
                <a:spcPts val="600"/>
              </a:spcAft>
              <a:defRPr sz="1800"/>
            </a:pPr>
            <a:r>
              <a:t>Captures temporal dependencies well</a:t>
            </a:r>
          </a:p>
          <a:p>
            <a:pPr>
              <a:spcAft>
                <a:spcPts val="600"/>
              </a:spcAft>
              <a:defRPr sz="1800"/>
            </a:pPr>
            <a:r>
              <a:t>Bidirectional context</a:t>
            </a:r>
          </a:p>
          <a:p>
            <a:pPr>
              <a:spcAft>
                <a:spcPts val="600"/>
              </a:spcAft>
              <a:defRPr sz="1800"/>
            </a:pPr>
            <a:r>
              <a:t>Clustering enables specialization</a:t>
            </a:r>
          </a:p>
          <a:p>
            <a:pPr>
              <a:spcAft>
                <a:spcPts val="600"/>
              </a:spcAft>
              <a:defRPr sz="1800"/>
            </a:pPr>
            <a:r>
              <a:t>High recall (don't miss planets!)</a:t>
            </a:r>
          </a:p>
          <a:p>
            <a:pPr>
              <a:spcAft>
                <a:spcPts val="600"/>
              </a:spcAft>
              <a:defRPr sz="1800"/>
            </a:pPr>
            <a:r>
              <a:t>Weaknesses:</a:t>
            </a:r>
          </a:p>
          <a:p>
            <a:pPr>
              <a:spcAft>
                <a:spcPts val="600"/>
              </a:spcAft>
              <a:defRPr sz="1800"/>
            </a:pPr>
            <a:r>
              <a:t>Lower precision (many false positives)</a:t>
            </a:r>
          </a:p>
          <a:p>
            <a:pPr>
              <a:spcAft>
                <a:spcPts val="600"/>
              </a:spcAft>
              <a:defRPr sz="1800"/>
            </a:pPr>
            <a:r>
              <a:t>Sequential processing (slower)</a:t>
            </a:r>
          </a:p>
          <a:p>
            <a:pPr>
              <a:spcAft>
                <a:spcPts val="600"/>
              </a:spcAft>
              <a:defRPr sz="1800"/>
            </a:pPr>
            <a:r>
              <a:t>Requires careful hyperparameter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Future Work &amp;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Combining All Three Approaches</a:t>
            </a:r>
          </a:p>
          <a:p>
            <a:pPr>
              <a:spcAft>
                <a:spcPts val="600"/>
              </a:spcAft>
              <a:defRPr sz="1800"/>
            </a:pPr>
            <a:r>
              <a:t>Ensemble Options:</a:t>
            </a:r>
          </a:p>
          <a:p>
            <a:pPr>
              <a:spcAft>
                <a:spcPts val="600"/>
              </a:spcAft>
              <a:defRPr sz="1800"/>
            </a:pPr>
            <a:r>
              <a:t>1. Voting ensemble - average predictions</a:t>
            </a:r>
          </a:p>
          <a:p>
            <a:pPr>
              <a:spcAft>
                <a:spcPts val="600"/>
              </a:spcAft>
              <a:defRPr sz="1800"/>
            </a:pPr>
            <a:r>
              <a:t>2. Stacking ensemble - meta-learner</a:t>
            </a:r>
          </a:p>
          <a:p>
            <a:pPr>
              <a:spcAft>
                <a:spcPts val="600"/>
              </a:spcAft>
              <a:defRPr sz="1800"/>
            </a:pPr>
            <a:r>
              <a:t>3. Weighted ensemble - optimize weights</a:t>
            </a:r>
          </a:p>
          <a:p>
            <a:pPr>
              <a:spcAft>
                <a:spcPts val="600"/>
              </a:spcAft>
              <a:defRPr sz="1800"/>
            </a:pPr>
            <a:r>
              <a:t>Expected improvement: +2-5% AUC</a:t>
            </a:r>
          </a:p>
          <a:p>
            <a:pPr>
              <a:spcAft>
                <a:spcPts val="600"/>
              </a:spcAft>
              <a:defRPr sz="1800"/>
            </a:pPr>
            <a:r>
              <a:t>Next Steps:</a:t>
            </a:r>
          </a:p>
          <a:p>
            <a:pPr>
              <a:spcAft>
                <a:spcPts val="600"/>
              </a:spcAft>
              <a:defRPr sz="1800"/>
            </a:pPr>
            <a:r>
              <a:t>Cross-validation on same test set</a:t>
            </a:r>
          </a:p>
          <a:p>
            <a:pPr>
              <a:spcAft>
                <a:spcPts val="600"/>
              </a:spcAft>
              <a:defRPr sz="1800"/>
            </a:pPr>
            <a:r>
              <a:t>Ensemble methods</a:t>
            </a:r>
          </a:p>
          <a:p>
            <a:pPr>
              <a:spcAft>
                <a:spcPts val="600"/>
              </a:spcAft>
              <a:defRPr sz="1800"/>
            </a:pPr>
            <a:r>
              <a:t>Production deployment for TESS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Thank You!</a:t>
            </a:r>
          </a:p>
          <a:p>
            <a:pPr>
              <a:spcAft>
                <a:spcPts val="600"/>
              </a:spcAft>
              <a:defRPr sz="1800"/>
            </a:pPr>
            <a:r>
              <a:t>Team Contributions:</a:t>
            </a:r>
          </a:p>
          <a:p>
            <a:pPr>
              <a:spcAft>
                <a:spcPts val="600"/>
              </a:spcAft>
              <a:defRPr sz="1800"/>
            </a:pPr>
            <a:r>
              <a:t>Josh Manchester: BiLSTM + Clustering (AUC 0.7154)</a:t>
            </a:r>
          </a:p>
          <a:p>
            <a:pPr>
              <a:spcAft>
                <a:spcPts val="600"/>
              </a:spcAft>
              <a:defRPr sz="1800"/>
            </a:pPr>
            <a:r>
              <a:t>Tristan Moffett: CNN approach</a:t>
            </a:r>
          </a:p>
          <a:p>
            <a:pPr>
              <a:spcAft>
                <a:spcPts val="600"/>
              </a:spcAft>
              <a:defRPr sz="1800"/>
            </a:pPr>
            <a:r>
              <a:t>Brianne Leatherman: Transformer approach</a:t>
            </a:r>
          </a:p>
          <a:p>
            <a:pPr>
              <a:spcAft>
                <a:spcPts val="600"/>
              </a:spcAft>
              <a:defRPr sz="1800"/>
            </a:pPr>
            <a:r>
              <a:t>Key Achievement: Successfully validated on real TESS confirmed exoplanet (L 98-59)</a:t>
            </a:r>
          </a:p>
          <a:p>
            <a:pPr>
              <a:spcAft>
                <a:spcPts val="600"/>
              </a:spcAft>
              <a:defRPr sz="1800"/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UCCS - University of Colorado Colorado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4922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University of 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